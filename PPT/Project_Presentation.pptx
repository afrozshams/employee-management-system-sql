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31" r:id="rId2"/>
    <p:sldId id="256" r:id="rId3"/>
    <p:sldId id="260" r:id="rId4"/>
    <p:sldId id="264" r:id="rId5"/>
    <p:sldId id="262" r:id="rId6"/>
    <p:sldId id="263" r:id="rId7"/>
    <p:sldId id="258" r:id="rId8"/>
    <p:sldId id="261" r:id="rId9"/>
    <p:sldId id="265" r:id="rId10"/>
    <p:sldId id="257" r:id="rId11"/>
    <p:sldId id="266" r:id="rId12"/>
    <p:sldId id="269" r:id="rId13"/>
    <p:sldId id="270" r:id="rId14"/>
    <p:sldId id="333" r:id="rId15"/>
    <p:sldId id="334" r:id="rId16"/>
    <p:sldId id="332" r:id="rId17"/>
    <p:sldId id="272" r:id="rId18"/>
    <p:sldId id="351" r:id="rId19"/>
    <p:sldId id="335" r:id="rId20"/>
    <p:sldId id="336" r:id="rId21"/>
    <p:sldId id="337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279" r:id="rId35"/>
    <p:sldId id="277" r:id="rId36"/>
    <p:sldId id="280" r:id="rId37"/>
    <p:sldId id="271" r:id="rId38"/>
    <p:sldId id="33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DB7"/>
    <a:srgbClr val="97C5FF"/>
    <a:srgbClr val="FDB7B9"/>
    <a:srgbClr val="FBF1E9"/>
    <a:srgbClr val="FEE6E7"/>
    <a:srgbClr val="FED6D7"/>
    <a:srgbClr val="F8E5D7"/>
    <a:srgbClr val="61BFBE"/>
    <a:srgbClr val="F2D1B8"/>
    <a:srgbClr val="A4A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37A30-CD24-470D-941A-03779500A873}" v="1361" dt="2026-04-09T18:30:28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99BE0-266D-4DE1-ADE9-250ACB1F483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59639-9E5A-48D8-993B-F5FDDD70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5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0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5E8F-0289-DE70-D39E-ACD9CDF5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C915E-DBE5-F589-E13F-03B360895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2B02A-D685-5A75-5687-37DB2325A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4D679-5AD0-AE38-2A30-B7CA381F0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81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CA1C-5249-3273-51E4-68C0249A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AB241-A134-7791-F290-BEFFDC729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53EEB-7838-D258-5408-532B0FC69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0E18-F533-7C1D-E261-CE4EE53C8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0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78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54F7-37E2-A602-9D49-4ABD4E90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A904B-F67F-578B-2394-C3336F328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FB7C8-6B83-BEDE-7274-15660DE5E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7DB88-D17F-6FD7-98E5-4FE736FAB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92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2607-28F7-8193-50D6-92C10854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AA26E-FFC5-AC2B-7554-61E1BA09A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293B0-40CE-C680-0694-5747D1376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C3BA-7389-36F0-4C52-BA8F8361A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6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E93F-EE76-00D1-278A-8B7912B2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93D80-A8F9-4386-7FE1-9824D63EA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B7366-40DC-A6C8-73BB-3E39DFC96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4EA11-8573-A3DB-735F-511700EDD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59639-9E5A-48D8-993B-F5FDDD70D7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10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8CD2-B5AC-7C51-5EBB-69D89323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3F855-3E91-3395-0BAF-7F3B11953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5642-C828-270B-48EA-11C790E86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10E93-E710-BC3B-023A-4071EE8A6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4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20F0-C4E4-2CB8-5E6B-6FFEC6C5D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10E7F-CF1B-DEA4-32FE-C4FC0E3CA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35810-2C9C-8F01-6AFA-F9A7C338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E591-8A47-F60E-5828-89EB62EA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734D1-4354-997C-B7A9-202054BC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2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75A0-3714-B2A4-0640-A0EC89B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D0EA6-DF73-2AF9-B831-9FE16486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3042-AE41-1664-E826-A8B4AB76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10155-5F63-772E-65D9-4246B0C4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E068-8F29-A1E7-E2CB-CFD6C6E9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5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99A2-FE67-7B77-E30B-366F4818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3AF7D-5395-A533-A669-40B19BB2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96F6-F252-86E5-E2ED-B6A737D5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C7F3-04FD-9352-570D-3498755C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1C499-103A-B808-8EB1-5B241818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7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4F6A-E042-A467-C75B-A35036FB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0B96-3A44-29E5-00A7-2560EE7F8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E2201-3D85-56B9-0953-FEF4B82B8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90019-4B92-624D-51B6-36442B31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A0A2D-54B0-993D-0B1A-E6497181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CDDEF-53A5-65E5-B453-AB78CFA4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5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A2F-01E5-BA9D-ED97-53B0538D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EEEF3-ADDA-BED4-8E00-34F0A5E3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6DA0-62D3-503F-B5AA-6CDE80539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6D329-75C5-363B-D3D9-6D0D45AAE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7FA6F-435D-8F74-14AA-5DA641562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5189E-25A4-C69C-27B0-49D342D8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8DD2C-B1FB-29DB-E3D7-5FEFD8A7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120A8-B130-2BF5-49E4-C2441E7E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7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FCB3-1B19-E25B-2DC3-709BCDBB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50709-2691-C376-F4E3-9203E925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5A0E4-372A-47CE-7E4A-56C0725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D1099-862E-DA7F-93F6-EE4C5613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1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F8BEC-4A71-963D-CEA0-86D75BA8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045D-DD58-D3D7-042F-19C0017E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A7E74-6B70-8470-C874-322D5C0B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F888-A041-5892-3779-ED98E347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C5DB-F369-3C08-D713-B46EEB02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2E86-6DEF-8B28-B83C-7FB19F53D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A7A9B-8F20-A619-3EEE-AD251E6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A27E0-776F-5C3B-F7CB-0F641AB5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6C13-E660-5B39-2459-2EFB3920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3962-9E70-A61B-9259-C98A3236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AE623-BBD2-0D3C-C825-FA4003D11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E6EC9-FA08-3592-90E3-B6ED89FF6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0B857-254F-9AD1-6EFC-4AFF6CAB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E2C38-4A3E-5150-6402-5168B606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7544F-75C2-4C6B-410C-E78F400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3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665C-CE0A-5151-3919-6869EE5A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8C5DD-6A05-5BF6-F41F-614B49896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63661-ED4B-36EC-F00F-1DB02B33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6C677-57E3-BB2F-852A-3E97929F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82A08-1F23-E80F-D3D3-3FBEE799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6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341D0-0FAA-45E9-DB9E-2D4832CFE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05613-F045-2407-5972-813F3E952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72A0-25AD-673B-F20A-638AD6A7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EDDD2-2372-C985-E872-E822B9F9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6E22-85C9-B222-53BD-A5CCC18A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95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0363C-C295-F41D-B267-5DE2F8D6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9FE05-EE3D-2CEE-E2B2-AC387543A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27187-863A-9E5B-F9DF-38F2211D9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3F871-8150-420A-B72D-6A391AA799D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A068-C8CC-3B53-6C46-D47C40767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1FE0-15C7-5C26-04CA-B2AC80462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D39A-3109-4193-99E9-565DBE279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9.svg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04.svg"/><Relationship Id="rId4" Type="http://schemas.openxmlformats.org/officeDocument/2006/relationships/image" Target="../media/image10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1AA066C5-F18F-C72A-9168-BC0591D28AA3}"/>
              </a:ext>
            </a:extLst>
          </p:cNvPr>
          <p:cNvGrpSpPr/>
          <p:nvPr/>
        </p:nvGrpSpPr>
        <p:grpSpPr>
          <a:xfrm>
            <a:off x="12451725" y="1928119"/>
            <a:ext cx="2154703" cy="3001762"/>
            <a:chOff x="8048699" y="1981387"/>
            <a:chExt cx="2154703" cy="300176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54744FF1-495D-A1F8-0369-8C8956ACB377}"/>
                </a:ext>
              </a:extLst>
            </p:cNvPr>
            <p:cNvSpPr/>
            <p:nvPr/>
          </p:nvSpPr>
          <p:spPr>
            <a:xfrm>
              <a:off x="8048699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7687954-590C-5AC5-9DFB-B058BF58CC64}"/>
                </a:ext>
              </a:extLst>
            </p:cNvPr>
            <p:cNvGrpSpPr/>
            <p:nvPr/>
          </p:nvGrpSpPr>
          <p:grpSpPr>
            <a:xfrm>
              <a:off x="8721022" y="3755491"/>
              <a:ext cx="992243" cy="344881"/>
              <a:chOff x="2549636" y="3767454"/>
              <a:chExt cx="992243" cy="344881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F7101A80-767E-DB53-3BB0-6BBDCBC6212D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F5F4D8-510F-28DE-6F0E-A38DFEBF6472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- 03</a:t>
                </a:r>
              </a:p>
            </p:txBody>
          </p:sp>
        </p:grp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6F17873-0912-E69F-1687-E32134CD249F}"/>
                </a:ext>
              </a:extLst>
            </p:cNvPr>
            <p:cNvSpPr/>
            <p:nvPr/>
          </p:nvSpPr>
          <p:spPr>
            <a:xfrm>
              <a:off x="8494779" y="3992174"/>
              <a:ext cx="1494759" cy="309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5098D9-2A7E-7E71-67E8-FFD9F3120D81}"/>
                </a:ext>
              </a:extLst>
            </p:cNvPr>
            <p:cNvSpPr txBox="1"/>
            <p:nvPr/>
          </p:nvSpPr>
          <p:spPr>
            <a:xfrm>
              <a:off x="8573490" y="4006466"/>
              <a:ext cx="13718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VINAY KUMAR 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098CDB3-23D4-0925-1546-017FEBF647C6}"/>
                </a:ext>
              </a:extLst>
            </p:cNvPr>
            <p:cNvGrpSpPr/>
            <p:nvPr/>
          </p:nvGrpSpPr>
          <p:grpSpPr>
            <a:xfrm>
              <a:off x="8460443" y="4425430"/>
              <a:ext cx="1629362" cy="297161"/>
              <a:chOff x="2265782" y="4415905"/>
              <a:chExt cx="1629362" cy="297161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7CC566F-1ADD-F9F0-F664-6DACBFEC46DD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FE59652-F6DA-1618-1CE5-A7281D41DB3B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606E043-342D-D107-7F08-B27F3A08E743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B.Tech</a:t>
                  </a:r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 CSE/AI/ML</a:t>
                  </a: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BB4ED89-EB70-C7FD-FCB0-1D51CB1F202E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B3EE56D-D2AB-D4CA-9459-3C9884A14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4" t="4493" r="5181" b="22319"/>
            <a:stretch>
              <a:fillRect/>
            </a:stretch>
          </p:blipFill>
          <p:spPr>
            <a:xfrm>
              <a:off x="8659574" y="2365631"/>
              <a:ext cx="1161288" cy="118757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B5E8FB-0D14-46F5-5044-F9AD73D9D6F8}"/>
              </a:ext>
            </a:extLst>
          </p:cNvPr>
          <p:cNvGrpSpPr/>
          <p:nvPr/>
        </p:nvGrpSpPr>
        <p:grpSpPr>
          <a:xfrm>
            <a:off x="5018647" y="7181849"/>
            <a:ext cx="2154703" cy="3001762"/>
            <a:chOff x="5018647" y="1981387"/>
            <a:chExt cx="2154703" cy="30017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358F282-C8CA-5504-92E0-EFBCAFE01625}"/>
                </a:ext>
              </a:extLst>
            </p:cNvPr>
            <p:cNvGrpSpPr/>
            <p:nvPr/>
          </p:nvGrpSpPr>
          <p:grpSpPr>
            <a:xfrm>
              <a:off x="5018647" y="1981387"/>
              <a:ext cx="2154703" cy="3001762"/>
              <a:chOff x="5018647" y="1981387"/>
              <a:chExt cx="2154703" cy="3001762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93E0D96-A18E-E262-9F9E-3066E3EB5E30}"/>
                  </a:ext>
                </a:extLst>
              </p:cNvPr>
              <p:cNvSpPr/>
              <p:nvPr/>
            </p:nvSpPr>
            <p:spPr>
              <a:xfrm>
                <a:off x="5018647" y="1981387"/>
                <a:ext cx="2154703" cy="3001762"/>
              </a:xfrm>
              <a:prstGeom prst="roundRect">
                <a:avLst>
                  <a:gd name="adj" fmla="val 7843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1000">
                    <a:srgbClr val="CAF1DE"/>
                  </a:gs>
                  <a:gs pos="83000">
                    <a:srgbClr val="CAF1DE"/>
                  </a:gs>
                  <a:gs pos="100000">
                    <a:srgbClr val="CAF1DE"/>
                  </a:gs>
                </a:gsLst>
                <a:lin ang="5400000" scaled="1"/>
              </a:gradFill>
              <a:ln>
                <a:noFill/>
              </a:ln>
              <a:effectLst>
                <a:outerShdw blurRad="292100" dist="38100" dir="2700000" algn="tl" rotWithShape="0">
                  <a:prstClr val="black">
                    <a:alpha val="15000"/>
                  </a:prstClr>
                </a:outerShdw>
              </a:effectLst>
              <a:scene3d>
                <a:camera prst="perspectiveFront"/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AE37BFA-7F68-D0E1-E91E-0F426366AF7A}"/>
                  </a:ext>
                </a:extLst>
              </p:cNvPr>
              <p:cNvGrpSpPr/>
              <p:nvPr/>
            </p:nvGrpSpPr>
            <p:grpSpPr>
              <a:xfrm>
                <a:off x="5584774" y="3720319"/>
                <a:ext cx="992243" cy="344881"/>
                <a:chOff x="2549636" y="3767454"/>
                <a:chExt cx="992243" cy="344881"/>
              </a:xfrm>
            </p:grpSpPr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1D0751ED-E63C-4E88-5DE6-85794D21B603}"/>
                    </a:ext>
                  </a:extLst>
                </p:cNvPr>
                <p:cNvSpPr/>
                <p:nvPr/>
              </p:nvSpPr>
              <p:spPr>
                <a:xfrm>
                  <a:off x="2549636" y="3802626"/>
                  <a:ext cx="992243" cy="309709"/>
                </a:xfrm>
                <a:prstGeom prst="roundRect">
                  <a:avLst>
                    <a:gd name="adj" fmla="val 13575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130DCF9-81D3-3310-2784-0CF77306EBC6}"/>
                    </a:ext>
                  </a:extLst>
                </p:cNvPr>
                <p:cNvSpPr txBox="1"/>
                <p:nvPr/>
              </p:nvSpPr>
              <p:spPr>
                <a:xfrm>
                  <a:off x="2634897" y="3767454"/>
                  <a:ext cx="8281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2060"/>
                      </a:solidFill>
                      <a:latin typeface="Aparajita" panose="02020603050405020304" pitchFamily="18" charset="0"/>
                      <a:cs typeface="Aparajita" panose="02020603050405020304" pitchFamily="18" charset="0"/>
                    </a:rPr>
                    <a:t>Member - 02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02A5EC6-9D0E-3D23-EA64-EA730A0DCC8B}"/>
                  </a:ext>
                </a:extLst>
              </p:cNvPr>
              <p:cNvGrpSpPr/>
              <p:nvPr/>
            </p:nvGrpSpPr>
            <p:grpSpPr>
              <a:xfrm>
                <a:off x="5358531" y="3957002"/>
                <a:ext cx="1494759" cy="309709"/>
                <a:chOff x="2342247" y="3994710"/>
                <a:chExt cx="1437226" cy="309709"/>
              </a:xfrm>
              <a:solidFill>
                <a:srgbClr val="49CF8F"/>
              </a:solidFill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5D09ACA1-86A5-64C9-8189-F4AA23DA560B}"/>
                    </a:ext>
                  </a:extLst>
                </p:cNvPr>
                <p:cNvSpPr/>
                <p:nvPr/>
              </p:nvSpPr>
              <p:spPr>
                <a:xfrm>
                  <a:off x="2342247" y="3994710"/>
                  <a:ext cx="1437226" cy="309709"/>
                </a:xfrm>
                <a:prstGeom prst="roundRect">
                  <a:avLst/>
                </a:prstGeom>
                <a:grp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14A49A4-649C-616F-040F-06F191AEDF1A}"/>
                    </a:ext>
                  </a:extLst>
                </p:cNvPr>
                <p:cNvSpPr txBox="1"/>
                <p:nvPr/>
              </p:nvSpPr>
              <p:spPr>
                <a:xfrm>
                  <a:off x="2387566" y="4009002"/>
                  <a:ext cx="1353130" cy="261610"/>
                </a:xfrm>
                <a:prstGeom prst="rect">
                  <a:avLst/>
                </a:prstGeom>
                <a:grp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solidFill>
                        <a:schemeClr val="bg1"/>
                      </a:solidFill>
                      <a:latin typeface="Eras Bold ITC" panose="020B0907030504020204" pitchFamily="34" charset="0"/>
                    </a:rPr>
                    <a:t>MOHD RAHMAN</a:t>
                  </a: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9810E36D-2C85-04E0-70CF-A8E010691396}"/>
                  </a:ext>
                </a:extLst>
              </p:cNvPr>
              <p:cNvGrpSpPr/>
              <p:nvPr/>
            </p:nvGrpSpPr>
            <p:grpSpPr>
              <a:xfrm>
                <a:off x="5358531" y="4415905"/>
                <a:ext cx="1629362" cy="297161"/>
                <a:chOff x="2265782" y="4415905"/>
                <a:chExt cx="1629362" cy="297161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7C553021-EB63-39AB-2B9E-C5E957018833}"/>
                    </a:ext>
                  </a:extLst>
                </p:cNvPr>
                <p:cNvGrpSpPr/>
                <p:nvPr/>
              </p:nvGrpSpPr>
              <p:grpSpPr>
                <a:xfrm>
                  <a:off x="2274886" y="4415905"/>
                  <a:ext cx="1620258" cy="295275"/>
                  <a:chOff x="2274886" y="4415905"/>
                  <a:chExt cx="1620258" cy="295275"/>
                </a:xfrm>
              </p:grpSpPr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4752AEE8-5B9E-590A-40DA-BEBFDB7DDE44}"/>
                      </a:ext>
                    </a:extLst>
                  </p:cNvPr>
                  <p:cNvSpPr/>
                  <p:nvPr/>
                </p:nvSpPr>
                <p:spPr>
                  <a:xfrm>
                    <a:off x="2274886" y="4415905"/>
                    <a:ext cx="1571947" cy="2952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4AD2A091-214D-94CB-2AB8-575FAF87A1B1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197" y="4425430"/>
                    <a:ext cx="157194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0000"/>
                        </a:solidFill>
                        <a:latin typeface="Eras Bold ITC" panose="020B0907030504020204" pitchFamily="34" charset="0"/>
                      </a:rPr>
                      <a:t>MBA Bus. Analyst</a:t>
                    </a:r>
                  </a:p>
                </p:txBody>
              </p:sp>
            </p:grp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73FCD0D-C29E-D5D8-0789-F779EB0EE0AF}"/>
                    </a:ext>
                  </a:extLst>
                </p:cNvPr>
                <p:cNvSpPr/>
                <p:nvPr/>
              </p:nvSpPr>
              <p:spPr>
                <a:xfrm>
                  <a:off x="2265782" y="4417791"/>
                  <a:ext cx="91440" cy="2952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5246D49-0CB9-B433-F6A0-BFA7492D9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88" t="9061" r="17771" b="51327"/>
            <a:stretch>
              <a:fillRect/>
            </a:stretch>
          </p:blipFill>
          <p:spPr>
            <a:xfrm>
              <a:off x="5584774" y="2489246"/>
              <a:ext cx="1045995" cy="106336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6C600B-A317-2EBA-5C03-B6C06575B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14" b="47536"/>
          <a:stretch>
            <a:fillRect/>
          </a:stretch>
        </p:blipFill>
        <p:spPr>
          <a:xfrm>
            <a:off x="0" y="0"/>
            <a:ext cx="5655365" cy="35979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5D862-79D9-F60E-12D7-273DF2FD9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45" t="37971"/>
          <a:stretch>
            <a:fillRect/>
          </a:stretch>
        </p:blipFill>
        <p:spPr>
          <a:xfrm>
            <a:off x="6430616" y="2604052"/>
            <a:ext cx="5761383" cy="425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04A72-949F-BA16-525B-FBF854533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2" r="43587" b="9855"/>
          <a:stretch>
            <a:fillRect/>
          </a:stretch>
        </p:blipFill>
        <p:spPr>
          <a:xfrm>
            <a:off x="0" y="467138"/>
            <a:ext cx="6877878" cy="5715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33850A-E398-24C0-BBA0-CFF442B3A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2" t="32501" r="37051" b="31685"/>
          <a:stretch>
            <a:fillRect/>
          </a:stretch>
        </p:blipFill>
        <p:spPr>
          <a:xfrm>
            <a:off x="7936619" y="1048226"/>
            <a:ext cx="725611" cy="545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CCF45E-15E2-3A95-96B6-A7B279C19E6F}"/>
              </a:ext>
            </a:extLst>
          </p:cNvPr>
          <p:cNvSpPr txBox="1"/>
          <p:nvPr/>
        </p:nvSpPr>
        <p:spPr>
          <a:xfrm>
            <a:off x="8701988" y="958011"/>
            <a:ext cx="200245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INNOMATICS</a:t>
            </a:r>
          </a:p>
          <a:p>
            <a:r>
              <a:rPr lang="en-US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RESEARCH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C8A6B-13FF-105A-13B7-70BBC001DD08}"/>
              </a:ext>
            </a:extLst>
          </p:cNvPr>
          <p:cNvSpPr txBox="1"/>
          <p:nvPr/>
        </p:nvSpPr>
        <p:spPr>
          <a:xfrm>
            <a:off x="4664077" y="2885693"/>
            <a:ext cx="55831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Employee</a:t>
            </a:r>
          </a:p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management</a:t>
            </a:r>
            <a:endParaRPr lang="en-US" sz="5400" cap="all" dirty="0">
              <a:solidFill>
                <a:srgbClr val="165DB7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5400" b="1" cap="all" dirty="0">
                <a:solidFill>
                  <a:srgbClr val="165DB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system</a:t>
            </a:r>
            <a:endParaRPr lang="en-US" sz="5400" cap="all" dirty="0">
              <a:solidFill>
                <a:srgbClr val="165DB7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17BAA-CFDE-6BF4-8E26-3E25ADE1F5F3}"/>
              </a:ext>
            </a:extLst>
          </p:cNvPr>
          <p:cNvSpPr txBox="1"/>
          <p:nvPr/>
        </p:nvSpPr>
        <p:spPr>
          <a:xfrm>
            <a:off x="4697137" y="2594993"/>
            <a:ext cx="3418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pperplate Gothic Bold" panose="020E0705020206020404" pitchFamily="34" charset="0"/>
              </a:rPr>
              <a:t>SQL PROJECT ON</a:t>
            </a:r>
            <a:endParaRPr lang="en-US" sz="2000" dirty="0">
              <a:latin typeface="Copperplate Gothic Bold" panose="020E07050202060204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026842-A90B-CB0A-A64D-9A3A8598BB0C}"/>
              </a:ext>
            </a:extLst>
          </p:cNvPr>
          <p:cNvGrpSpPr/>
          <p:nvPr/>
        </p:nvGrpSpPr>
        <p:grpSpPr>
          <a:xfrm>
            <a:off x="-2414428" y="1981387"/>
            <a:ext cx="2154703" cy="3001762"/>
            <a:chOff x="1988597" y="1981387"/>
            <a:chExt cx="2154703" cy="300176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EF37C73-2D98-3BE1-91E5-818791924306}"/>
                </a:ext>
              </a:extLst>
            </p:cNvPr>
            <p:cNvSpPr/>
            <p:nvPr/>
          </p:nvSpPr>
          <p:spPr>
            <a:xfrm>
              <a:off x="1988597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E4B5B93-E3E2-697B-5761-B17FC0F2A505}"/>
                </a:ext>
              </a:extLst>
            </p:cNvPr>
            <p:cNvGrpSpPr/>
            <p:nvPr/>
          </p:nvGrpSpPr>
          <p:grpSpPr>
            <a:xfrm>
              <a:off x="2549636" y="3720319"/>
              <a:ext cx="992243" cy="344881"/>
              <a:chOff x="2549636" y="3767454"/>
              <a:chExt cx="992243" cy="344881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88B4EB85-F060-3635-757E-7B4F267BB64C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E610A11-3093-9544-181E-1A18D6322704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08A4427-357E-7248-8A41-CF559EB0A819}"/>
                </a:ext>
              </a:extLst>
            </p:cNvPr>
            <p:cNvGrpSpPr/>
            <p:nvPr/>
          </p:nvGrpSpPr>
          <p:grpSpPr>
            <a:xfrm>
              <a:off x="2342247" y="3947575"/>
              <a:ext cx="1437226" cy="309709"/>
              <a:chOff x="2342247" y="3994710"/>
              <a:chExt cx="1437226" cy="309709"/>
            </a:xfrm>
            <a:solidFill>
              <a:schemeClr val="accent1"/>
            </a:solidFill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A708F269-8FF8-F8F4-D7C6-22A0D2B594B1}"/>
                  </a:ext>
                </a:extLst>
              </p:cNvPr>
              <p:cNvSpPr/>
              <p:nvPr/>
            </p:nvSpPr>
            <p:spPr>
              <a:xfrm>
                <a:off x="2342247" y="3994710"/>
                <a:ext cx="1437226" cy="309709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97A026-2358-DF3A-B8D4-5B73BA5304FD}"/>
                  </a:ext>
                </a:extLst>
              </p:cNvPr>
              <p:cNvSpPr txBox="1"/>
              <p:nvPr/>
            </p:nvSpPr>
            <p:spPr>
              <a:xfrm>
                <a:off x="2446234" y="4009002"/>
                <a:ext cx="1249144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AFROZ SHAMS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AF7A7B7-BD44-CCE8-2C54-2C8A45899017}"/>
                </a:ext>
              </a:extLst>
            </p:cNvPr>
            <p:cNvGrpSpPr/>
            <p:nvPr/>
          </p:nvGrpSpPr>
          <p:grpSpPr>
            <a:xfrm>
              <a:off x="2265782" y="4415905"/>
              <a:ext cx="1629362" cy="297161"/>
              <a:chOff x="2265782" y="4415905"/>
              <a:chExt cx="1629362" cy="29716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422FD2F2-EE2E-D144-ED09-2AE815474DC6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400D153-2717-91BA-CEC0-CD1460ABA9F4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5893082-EC40-6067-D268-45AB509F07B8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BSc. Biochemistry</a:t>
                  </a: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914E021-8B42-4265-452D-F196210E60C9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1682330-6EB3-B559-6FF9-70231ADFD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3" t="1739" r="223" b="26232"/>
            <a:stretch>
              <a:fillRect/>
            </a:stretch>
          </p:blipFill>
          <p:spPr>
            <a:xfrm>
              <a:off x="2453394" y="2357137"/>
              <a:ext cx="1159022" cy="120456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A542A6A-09F3-A92D-E36D-E398DAD592E5}"/>
              </a:ext>
            </a:extLst>
          </p:cNvPr>
          <p:cNvSpPr txBox="1"/>
          <p:nvPr/>
        </p:nvSpPr>
        <p:spPr>
          <a:xfrm>
            <a:off x="4078989" y="-1328153"/>
            <a:ext cx="5005375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8000" dirty="0">
                <a:solidFill>
                  <a:schemeClr val="accent4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Jumble" panose="02000503000000020004" pitchFamily="2" charset="0"/>
                <a:ea typeface="Segoe UI Black" panose="020B0A02040204020203" pitchFamily="34" charset="0"/>
              </a:rPr>
              <a:t>ABOUT US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EECE60-9400-4E6F-DEDA-244792655B1D}"/>
              </a:ext>
            </a:extLst>
          </p:cNvPr>
          <p:cNvSpPr txBox="1"/>
          <p:nvPr/>
        </p:nvSpPr>
        <p:spPr>
          <a:xfrm>
            <a:off x="1713656" y="10836726"/>
            <a:ext cx="8976525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latin typeface="+mj-lt"/>
              </a:rPr>
              <a:t>We are a team of passionate learners with </a:t>
            </a:r>
            <a:r>
              <a:rPr lang="en-US" sz="1200" b="1" dirty="0">
                <a:latin typeface="+mj-lt"/>
              </a:rPr>
              <a:t>diverse academic backgrounds</a:t>
            </a:r>
            <a:r>
              <a:rPr lang="en-US" sz="1200" dirty="0">
                <a:latin typeface="+mj-lt"/>
              </a:rPr>
              <a:t>, working together to build impactful data-driven projects.</a:t>
            </a:r>
          </a:p>
          <a:p>
            <a:pPr algn="ctr">
              <a:buNone/>
            </a:pPr>
            <a:r>
              <a:rPr lang="en-US" sz="1200" dirty="0">
                <a:latin typeface="+mj-lt"/>
              </a:rPr>
              <a:t>We combine </a:t>
            </a:r>
            <a:r>
              <a:rPr lang="en-US" sz="1200" b="1" dirty="0">
                <a:latin typeface="+mj-lt"/>
              </a:rPr>
              <a:t>our skills in SQL, analytics, and problem-solving </a:t>
            </a:r>
            <a:r>
              <a:rPr lang="en-US" sz="1200" dirty="0">
                <a:latin typeface="+mj-lt"/>
              </a:rPr>
              <a:t>to develop efficient and practical solutions. Our team has consistently performed well, earning </a:t>
            </a:r>
            <a:r>
              <a:rPr lang="en-US" sz="1200" b="1" dirty="0">
                <a:latin typeface="+mj-lt"/>
              </a:rPr>
              <a:t>Gold, Silver, and Bronze recognitions</a:t>
            </a:r>
            <a:r>
              <a:rPr lang="en-US" sz="1200" dirty="0">
                <a:latin typeface="+mj-lt"/>
              </a:rPr>
              <a:t> in previous projects. We aim to continuously improve our technical expertise and deliver high-quality, real-world solutions.</a:t>
            </a:r>
          </a:p>
        </p:txBody>
      </p:sp>
    </p:spTree>
    <p:extLst>
      <p:ext uri="{BB962C8B-B14F-4D97-AF65-F5344CB8AC3E}">
        <p14:creationId xmlns:p14="http://schemas.microsoft.com/office/powerpoint/2010/main" val="242229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1DE778FC-D15F-F339-F93F-8D3EAE5448F5}"/>
              </a:ext>
            </a:extLst>
          </p:cNvPr>
          <p:cNvSpPr txBox="1"/>
          <p:nvPr/>
        </p:nvSpPr>
        <p:spPr>
          <a:xfrm>
            <a:off x="4078990" y="480768"/>
            <a:ext cx="4250641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6000" dirty="0">
                <a:solidFill>
                  <a:schemeClr val="accent4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Jumble" panose="02000503000000020004" pitchFamily="2" charset="0"/>
                <a:ea typeface="Segoe UI Black" panose="020B0A02040204020203" pitchFamily="34" charset="0"/>
              </a:rPr>
              <a:t>ABOUT US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85EC02-4060-6D60-4945-AE17FC038838}"/>
              </a:ext>
            </a:extLst>
          </p:cNvPr>
          <p:cNvGrpSpPr/>
          <p:nvPr/>
        </p:nvGrpSpPr>
        <p:grpSpPr>
          <a:xfrm>
            <a:off x="1988597" y="1981387"/>
            <a:ext cx="2154703" cy="3001762"/>
            <a:chOff x="1988597" y="1981387"/>
            <a:chExt cx="2154703" cy="300176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34521A-4097-30A2-827C-7AD1DEBC4A99}"/>
                </a:ext>
              </a:extLst>
            </p:cNvPr>
            <p:cNvSpPr/>
            <p:nvPr/>
          </p:nvSpPr>
          <p:spPr>
            <a:xfrm>
              <a:off x="1988597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0195D08-B487-ABCB-E96A-92783324A944}"/>
                </a:ext>
              </a:extLst>
            </p:cNvPr>
            <p:cNvGrpSpPr/>
            <p:nvPr/>
          </p:nvGrpSpPr>
          <p:grpSpPr>
            <a:xfrm>
              <a:off x="2549636" y="3720319"/>
              <a:ext cx="992243" cy="344881"/>
              <a:chOff x="2549636" y="3767454"/>
              <a:chExt cx="992243" cy="344881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0EEEE9B-A8FA-3C69-BCE8-A04FDDC4E619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F64CD8-B160-BBCE-9D83-2ADFF4E9BA16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- 01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44FE8E-EEB0-C11F-5998-9ACEF795B90C}"/>
                </a:ext>
              </a:extLst>
            </p:cNvPr>
            <p:cNvGrpSpPr/>
            <p:nvPr/>
          </p:nvGrpSpPr>
          <p:grpSpPr>
            <a:xfrm>
              <a:off x="2342247" y="3947575"/>
              <a:ext cx="1437226" cy="309709"/>
              <a:chOff x="2342247" y="3994710"/>
              <a:chExt cx="1437226" cy="309709"/>
            </a:xfrm>
            <a:solidFill>
              <a:schemeClr val="accent1"/>
            </a:solidFill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6D5D71D-6C1D-7940-FA19-C1467DDEF294}"/>
                  </a:ext>
                </a:extLst>
              </p:cNvPr>
              <p:cNvSpPr/>
              <p:nvPr/>
            </p:nvSpPr>
            <p:spPr>
              <a:xfrm>
                <a:off x="2342247" y="3994710"/>
                <a:ext cx="1437226" cy="309709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54511E-BA78-6866-5BEE-D344FDFBADC5}"/>
                  </a:ext>
                </a:extLst>
              </p:cNvPr>
              <p:cNvSpPr txBox="1"/>
              <p:nvPr/>
            </p:nvSpPr>
            <p:spPr>
              <a:xfrm>
                <a:off x="2446234" y="4009002"/>
                <a:ext cx="1249144" cy="2616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AFROZ SHAMS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56E3D2E-B7DC-0E25-50D3-6CCD5B333278}"/>
                </a:ext>
              </a:extLst>
            </p:cNvPr>
            <p:cNvGrpSpPr/>
            <p:nvPr/>
          </p:nvGrpSpPr>
          <p:grpSpPr>
            <a:xfrm>
              <a:off x="2265782" y="4415905"/>
              <a:ext cx="1629362" cy="297161"/>
              <a:chOff x="2265782" y="4415905"/>
              <a:chExt cx="1629362" cy="29716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85B33FE-EB21-0A61-FEBE-C67F318FCF51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10A1AB6-2A5F-442F-0C15-4EE274A9A499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7A2B3B3-2CAB-F94D-5393-702A14A59B1E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BSc. Biochemistry</a:t>
                  </a:r>
                </a:p>
              </p:txBody>
            </p: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CD1CE3C-9331-0223-2596-9642738097D6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0A40AF-C1F9-6AB6-D177-6A45035C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3" t="1739" r="223" b="26232"/>
            <a:stretch>
              <a:fillRect/>
            </a:stretch>
          </p:blipFill>
          <p:spPr>
            <a:xfrm>
              <a:off x="2453394" y="2357137"/>
              <a:ext cx="1159022" cy="120456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862B7B-A040-70C0-FFAA-B421FC67ED51}"/>
              </a:ext>
            </a:extLst>
          </p:cNvPr>
          <p:cNvGrpSpPr/>
          <p:nvPr/>
        </p:nvGrpSpPr>
        <p:grpSpPr>
          <a:xfrm>
            <a:off x="8048699" y="1981387"/>
            <a:ext cx="2154703" cy="3001762"/>
            <a:chOff x="8048699" y="1981387"/>
            <a:chExt cx="2154703" cy="300176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AC9809-FE79-FE9B-E6E5-994F939D9727}"/>
                </a:ext>
              </a:extLst>
            </p:cNvPr>
            <p:cNvSpPr/>
            <p:nvPr/>
          </p:nvSpPr>
          <p:spPr>
            <a:xfrm>
              <a:off x="8048699" y="1981387"/>
              <a:ext cx="2154703" cy="3001762"/>
            </a:xfrm>
            <a:prstGeom prst="roundRect">
              <a:avLst>
                <a:gd name="adj" fmla="val 7843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1000">
                  <a:srgbClr val="FEF8DD"/>
                </a:gs>
                <a:gs pos="83000">
                  <a:srgbClr val="FEF8DD"/>
                </a:gs>
                <a:gs pos="100000">
                  <a:srgbClr val="FEF8DD"/>
                </a:gs>
              </a:gsLst>
              <a:lin ang="5400000" scaled="1"/>
            </a:gradFill>
            <a:ln>
              <a:noFill/>
            </a:ln>
            <a:effectLst>
              <a:outerShdw blurRad="292100" dist="38100" dir="2700000" algn="tl" rotWithShape="0">
                <a:prstClr val="black">
                  <a:alpha val="15000"/>
                </a:prstClr>
              </a:outerShdw>
            </a:effectLst>
            <a:scene3d>
              <a:camera prst="perspectiveFront"/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6DE99D9-21F4-4372-E14C-2DD83572AE45}"/>
                </a:ext>
              </a:extLst>
            </p:cNvPr>
            <p:cNvGrpSpPr/>
            <p:nvPr/>
          </p:nvGrpSpPr>
          <p:grpSpPr>
            <a:xfrm>
              <a:off x="8721022" y="3755491"/>
              <a:ext cx="992243" cy="344881"/>
              <a:chOff x="2549636" y="3767454"/>
              <a:chExt cx="992243" cy="344881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C69B6A6F-4E5C-7009-3D6D-A8652D0DF887}"/>
                  </a:ext>
                </a:extLst>
              </p:cNvPr>
              <p:cNvSpPr/>
              <p:nvPr/>
            </p:nvSpPr>
            <p:spPr>
              <a:xfrm>
                <a:off x="2549636" y="38026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FDD595-F724-5132-9E80-B6D50687C3E9}"/>
                  </a:ext>
                </a:extLst>
              </p:cNvPr>
              <p:cNvSpPr txBox="1"/>
              <p:nvPr/>
            </p:nvSpPr>
            <p:spPr>
              <a:xfrm>
                <a:off x="2634897" y="3767454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- 03</a:t>
                </a: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19E89EA-FB25-ECEB-925B-70A3B329AE90}"/>
                </a:ext>
              </a:extLst>
            </p:cNvPr>
            <p:cNvSpPr/>
            <p:nvPr/>
          </p:nvSpPr>
          <p:spPr>
            <a:xfrm>
              <a:off x="8494779" y="3992174"/>
              <a:ext cx="1494759" cy="3097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693556-76CB-56C8-FDB9-7A3AD2058E44}"/>
                </a:ext>
              </a:extLst>
            </p:cNvPr>
            <p:cNvSpPr txBox="1"/>
            <p:nvPr/>
          </p:nvSpPr>
          <p:spPr>
            <a:xfrm>
              <a:off x="8573490" y="4006466"/>
              <a:ext cx="13718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VINAY KUMAR 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1A802E0-2642-F36C-D46D-A0E300FDF684}"/>
                </a:ext>
              </a:extLst>
            </p:cNvPr>
            <p:cNvGrpSpPr/>
            <p:nvPr/>
          </p:nvGrpSpPr>
          <p:grpSpPr>
            <a:xfrm>
              <a:off x="8460443" y="4425430"/>
              <a:ext cx="1629362" cy="297161"/>
              <a:chOff x="2265782" y="4415905"/>
              <a:chExt cx="1629362" cy="297161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A20D6F7-7C08-DCFD-7610-F09EDE220470}"/>
                  </a:ext>
                </a:extLst>
              </p:cNvPr>
              <p:cNvGrpSpPr/>
              <p:nvPr/>
            </p:nvGrpSpPr>
            <p:grpSpPr>
              <a:xfrm>
                <a:off x="2274886" y="4415905"/>
                <a:ext cx="1620258" cy="295275"/>
                <a:chOff x="2274886" y="4415905"/>
                <a:chExt cx="1620258" cy="295275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60B9EC3-C53C-BE6A-433C-88BB91C19E2D}"/>
                    </a:ext>
                  </a:extLst>
                </p:cNvPr>
                <p:cNvSpPr/>
                <p:nvPr/>
              </p:nvSpPr>
              <p:spPr>
                <a:xfrm>
                  <a:off x="2274886" y="4415905"/>
                  <a:ext cx="1571947" cy="2952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2682250-33B3-515D-70C5-D53DB8FE0C21}"/>
                    </a:ext>
                  </a:extLst>
                </p:cNvPr>
                <p:cNvSpPr txBox="1"/>
                <p:nvPr/>
              </p:nvSpPr>
              <p:spPr>
                <a:xfrm>
                  <a:off x="2323197" y="4425430"/>
                  <a:ext cx="157194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B.Tech</a:t>
                  </a:r>
                  <a:r>
                    <a:rPr lang="en-US" sz="1200" dirty="0">
                      <a:solidFill>
                        <a:srgbClr val="FF0000"/>
                      </a:solidFill>
                      <a:latin typeface="Eras Bold ITC" panose="020B0907030504020204" pitchFamily="34" charset="0"/>
                    </a:rPr>
                    <a:t> CSE/AI/ML</a:t>
                  </a:r>
                </a:p>
              </p:txBody>
            </p:sp>
          </p:grp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2F60EA1-C301-D248-5581-306D026D75BE}"/>
                  </a:ext>
                </a:extLst>
              </p:cNvPr>
              <p:cNvSpPr/>
              <p:nvPr/>
            </p:nvSpPr>
            <p:spPr>
              <a:xfrm>
                <a:off x="2265782" y="4417791"/>
                <a:ext cx="91440" cy="29527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118E92E-7F19-D2CD-EC79-0F0E573AE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4" t="4493" r="5181" b="22319"/>
            <a:stretch>
              <a:fillRect/>
            </a:stretch>
          </p:blipFill>
          <p:spPr>
            <a:xfrm>
              <a:off x="8659574" y="2365631"/>
              <a:ext cx="1161288" cy="118757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FD44C7-78F7-BD7E-066A-3B3E59EF7DEF}"/>
              </a:ext>
            </a:extLst>
          </p:cNvPr>
          <p:cNvGrpSpPr/>
          <p:nvPr/>
        </p:nvGrpSpPr>
        <p:grpSpPr>
          <a:xfrm>
            <a:off x="5018647" y="1981387"/>
            <a:ext cx="2154703" cy="3001762"/>
            <a:chOff x="5018647" y="1981387"/>
            <a:chExt cx="2154703" cy="300176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28C50E-757C-BFDD-2A0C-EB1C9C2BC20A}"/>
                </a:ext>
              </a:extLst>
            </p:cNvPr>
            <p:cNvGrpSpPr/>
            <p:nvPr/>
          </p:nvGrpSpPr>
          <p:grpSpPr>
            <a:xfrm>
              <a:off x="5018647" y="1981387"/>
              <a:ext cx="2154703" cy="3001762"/>
              <a:chOff x="5018647" y="1981387"/>
              <a:chExt cx="2154703" cy="300176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25BCFD0-677F-4BC3-8A44-9E4E4FA06403}"/>
                  </a:ext>
                </a:extLst>
              </p:cNvPr>
              <p:cNvSpPr/>
              <p:nvPr/>
            </p:nvSpPr>
            <p:spPr>
              <a:xfrm>
                <a:off x="5018647" y="1981387"/>
                <a:ext cx="2154703" cy="3001762"/>
              </a:xfrm>
              <a:prstGeom prst="roundRect">
                <a:avLst>
                  <a:gd name="adj" fmla="val 7843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1000">
                    <a:srgbClr val="CAF1DE"/>
                  </a:gs>
                  <a:gs pos="83000">
                    <a:srgbClr val="CAF1DE"/>
                  </a:gs>
                  <a:gs pos="100000">
                    <a:srgbClr val="CAF1DE"/>
                  </a:gs>
                </a:gsLst>
                <a:lin ang="5400000" scaled="1"/>
              </a:gradFill>
              <a:ln>
                <a:noFill/>
              </a:ln>
              <a:effectLst>
                <a:outerShdw blurRad="292100" dist="38100" dir="2700000" algn="tl" rotWithShape="0">
                  <a:prstClr val="black">
                    <a:alpha val="15000"/>
                  </a:prstClr>
                </a:outerShdw>
              </a:effectLst>
              <a:scene3d>
                <a:camera prst="perspectiveFront"/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BCF0F22-D979-39A7-8AD5-929FBC790AAB}"/>
                  </a:ext>
                </a:extLst>
              </p:cNvPr>
              <p:cNvGrpSpPr/>
              <p:nvPr/>
            </p:nvGrpSpPr>
            <p:grpSpPr>
              <a:xfrm>
                <a:off x="5584774" y="3720319"/>
                <a:ext cx="992243" cy="344881"/>
                <a:chOff x="2549636" y="3767454"/>
                <a:chExt cx="992243" cy="344881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9B826A89-7B78-C4E8-6359-25419D32D1F1}"/>
                    </a:ext>
                  </a:extLst>
                </p:cNvPr>
                <p:cNvSpPr/>
                <p:nvPr/>
              </p:nvSpPr>
              <p:spPr>
                <a:xfrm>
                  <a:off x="2549636" y="3802626"/>
                  <a:ext cx="992243" cy="309709"/>
                </a:xfrm>
                <a:prstGeom prst="roundRect">
                  <a:avLst>
                    <a:gd name="adj" fmla="val 13575"/>
                  </a:avLst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D2771A1-2779-07AC-A841-FD0001998360}"/>
                    </a:ext>
                  </a:extLst>
                </p:cNvPr>
                <p:cNvSpPr txBox="1"/>
                <p:nvPr/>
              </p:nvSpPr>
              <p:spPr>
                <a:xfrm>
                  <a:off x="2634897" y="3767454"/>
                  <a:ext cx="8281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2060"/>
                      </a:solidFill>
                      <a:latin typeface="Aparajita" panose="02020603050405020304" pitchFamily="18" charset="0"/>
                      <a:cs typeface="Aparajita" panose="02020603050405020304" pitchFamily="18" charset="0"/>
                    </a:rPr>
                    <a:t>Member - 02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51C95D9-D51C-EA81-C1B1-6C849A4E9690}"/>
                  </a:ext>
                </a:extLst>
              </p:cNvPr>
              <p:cNvGrpSpPr/>
              <p:nvPr/>
            </p:nvGrpSpPr>
            <p:grpSpPr>
              <a:xfrm>
                <a:off x="5358531" y="3957002"/>
                <a:ext cx="1494759" cy="309709"/>
                <a:chOff x="2342247" y="3994710"/>
                <a:chExt cx="1437226" cy="309709"/>
              </a:xfrm>
              <a:solidFill>
                <a:srgbClr val="49CF8F"/>
              </a:solidFill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47DF07F8-F557-2AE0-CD46-FE7D5633B637}"/>
                    </a:ext>
                  </a:extLst>
                </p:cNvPr>
                <p:cNvSpPr/>
                <p:nvPr/>
              </p:nvSpPr>
              <p:spPr>
                <a:xfrm>
                  <a:off x="2342247" y="3994710"/>
                  <a:ext cx="1437226" cy="309709"/>
                </a:xfrm>
                <a:prstGeom prst="roundRect">
                  <a:avLst/>
                </a:prstGeom>
                <a:grp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  <a:scene3d>
                  <a:camera prst="orthographicFront">
                    <a:rot lat="0" lon="0" rev="0"/>
                  </a:camera>
                  <a:lightRig rig="soft" dir="t">
                    <a:rot lat="0" lon="0" rev="0"/>
                  </a:lightRig>
                </a:scene3d>
                <a:sp3d contourW="44450" prstMaterial="matte">
                  <a:bevelT w="63500" h="63500" prst="artDeco"/>
                  <a:contourClr>
                    <a:srgbClr val="FFFFFF"/>
                  </a:contour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8FCDA5B-9C59-E5CC-FAE0-3ADC2BC4B872}"/>
                    </a:ext>
                  </a:extLst>
                </p:cNvPr>
                <p:cNvSpPr txBox="1"/>
                <p:nvPr/>
              </p:nvSpPr>
              <p:spPr>
                <a:xfrm>
                  <a:off x="2387566" y="4009002"/>
                  <a:ext cx="1353130" cy="261610"/>
                </a:xfrm>
                <a:prstGeom prst="rect">
                  <a:avLst/>
                </a:prstGeom>
                <a:grp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solidFill>
                        <a:schemeClr val="bg1"/>
                      </a:solidFill>
                      <a:latin typeface="Eras Bold ITC" panose="020B0907030504020204" pitchFamily="34" charset="0"/>
                    </a:rPr>
                    <a:t>MOHD RAHMAN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46DF1ED-F288-9EC7-5408-B4222FA2F8AB}"/>
                  </a:ext>
                </a:extLst>
              </p:cNvPr>
              <p:cNvGrpSpPr/>
              <p:nvPr/>
            </p:nvGrpSpPr>
            <p:grpSpPr>
              <a:xfrm>
                <a:off x="5358531" y="4415905"/>
                <a:ext cx="1629362" cy="297161"/>
                <a:chOff x="2265782" y="4415905"/>
                <a:chExt cx="1629362" cy="297161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AB1508FF-49E0-7C98-C334-1FF238285532}"/>
                    </a:ext>
                  </a:extLst>
                </p:cNvPr>
                <p:cNvGrpSpPr/>
                <p:nvPr/>
              </p:nvGrpSpPr>
              <p:grpSpPr>
                <a:xfrm>
                  <a:off x="2274886" y="4415905"/>
                  <a:ext cx="1620258" cy="295275"/>
                  <a:chOff x="2274886" y="4415905"/>
                  <a:chExt cx="1620258" cy="295275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4CF2D758-17B0-741E-9FDD-360DB97EE120}"/>
                      </a:ext>
                    </a:extLst>
                  </p:cNvPr>
                  <p:cNvSpPr/>
                  <p:nvPr/>
                </p:nvSpPr>
                <p:spPr>
                  <a:xfrm>
                    <a:off x="2274886" y="4415905"/>
                    <a:ext cx="1571947" cy="2952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D1E9D994-C71C-5FBB-45AC-F487EA26F763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197" y="4425430"/>
                    <a:ext cx="157194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0000"/>
                        </a:solidFill>
                        <a:latin typeface="Eras Bold ITC" panose="020B0907030504020204" pitchFamily="34" charset="0"/>
                      </a:rPr>
                      <a:t>MBA Bus. Analyst</a:t>
                    </a:r>
                  </a:p>
                </p:txBody>
              </p:sp>
            </p:grp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5658CCF-8942-7C2A-51DB-130C4516178B}"/>
                    </a:ext>
                  </a:extLst>
                </p:cNvPr>
                <p:cNvSpPr/>
                <p:nvPr/>
              </p:nvSpPr>
              <p:spPr>
                <a:xfrm>
                  <a:off x="2265782" y="4417791"/>
                  <a:ext cx="91440" cy="2952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8363AE-47D8-B08D-BD73-60A3798B8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88" t="9061" r="17771" b="51327"/>
            <a:stretch>
              <a:fillRect/>
            </a:stretch>
          </p:blipFill>
          <p:spPr>
            <a:xfrm>
              <a:off x="5584774" y="2489246"/>
              <a:ext cx="1045995" cy="106336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14B980-AF57-361B-2DA6-3643B62C4CEC}"/>
              </a:ext>
            </a:extLst>
          </p:cNvPr>
          <p:cNvSpPr txBox="1"/>
          <p:nvPr/>
        </p:nvSpPr>
        <p:spPr>
          <a:xfrm>
            <a:off x="1713656" y="5491008"/>
            <a:ext cx="8976525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latin typeface="+mj-lt"/>
              </a:rPr>
              <a:t>We are a team of passionate learners with </a:t>
            </a:r>
            <a:r>
              <a:rPr lang="en-US" sz="1200" b="1" dirty="0">
                <a:latin typeface="+mj-lt"/>
              </a:rPr>
              <a:t>diverse academic backgrounds</a:t>
            </a:r>
            <a:r>
              <a:rPr lang="en-US" sz="1200" dirty="0">
                <a:latin typeface="+mj-lt"/>
              </a:rPr>
              <a:t>, working together to build impactful data-driven projects.</a:t>
            </a:r>
          </a:p>
          <a:p>
            <a:pPr algn="ctr">
              <a:buNone/>
            </a:pPr>
            <a:r>
              <a:rPr lang="en-US" sz="1200" dirty="0">
                <a:latin typeface="+mj-lt"/>
              </a:rPr>
              <a:t>We combine </a:t>
            </a:r>
            <a:r>
              <a:rPr lang="en-US" sz="1200" b="1" dirty="0">
                <a:latin typeface="+mj-lt"/>
              </a:rPr>
              <a:t>our skills in SQL, analytics, and problem-solving </a:t>
            </a:r>
            <a:r>
              <a:rPr lang="en-US" sz="1200" dirty="0">
                <a:latin typeface="+mj-lt"/>
              </a:rPr>
              <a:t>to develop efficient and practical solutions. Our team has consistently performed well, earning </a:t>
            </a:r>
            <a:r>
              <a:rPr lang="en-US" sz="1200" b="1" dirty="0">
                <a:latin typeface="+mj-lt"/>
              </a:rPr>
              <a:t>Gold, Silver, and Bronze recognitions</a:t>
            </a:r>
            <a:r>
              <a:rPr lang="en-US" sz="1200" dirty="0">
                <a:latin typeface="+mj-lt"/>
              </a:rPr>
              <a:t> in previous projects. We aim to continuously improve our technical expertise and deliver high-quality, real-world solutions.</a:t>
            </a:r>
          </a:p>
        </p:txBody>
      </p:sp>
    </p:spTree>
    <p:extLst>
      <p:ext uri="{BB962C8B-B14F-4D97-AF65-F5344CB8AC3E}">
        <p14:creationId xmlns:p14="http://schemas.microsoft.com/office/powerpoint/2010/main" val="3745610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43F1-2661-BC1E-8C70-1712D7C6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688FFF2-0453-2C9B-40FD-326BDD26EA49}"/>
              </a:ext>
            </a:extLst>
          </p:cNvPr>
          <p:cNvGrpSpPr/>
          <p:nvPr/>
        </p:nvGrpSpPr>
        <p:grpSpPr>
          <a:xfrm>
            <a:off x="887509" y="1936381"/>
            <a:ext cx="2805830" cy="1454315"/>
            <a:chOff x="887509" y="1936381"/>
            <a:chExt cx="2805830" cy="1454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1EE3F-74A3-716F-5594-7B1A74B30060}"/>
                </a:ext>
              </a:extLst>
            </p:cNvPr>
            <p:cNvSpPr txBox="1"/>
            <p:nvPr/>
          </p:nvSpPr>
          <p:spPr>
            <a:xfrm>
              <a:off x="1873626" y="1936381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  <a:latin typeface="Arial Black" panose="020B0A04020102020204" pitchFamily="34" charset="0"/>
                </a:rPr>
                <a:t>01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C4D1D2-C746-1926-17B0-F44046CB4545}"/>
                </a:ext>
              </a:extLst>
            </p:cNvPr>
            <p:cNvSpPr txBox="1"/>
            <p:nvPr/>
          </p:nvSpPr>
          <p:spPr>
            <a:xfrm>
              <a:off x="887509" y="2652032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Segoe UI Semibold" panose="020B0702040204020203" pitchFamily="34" charset="0"/>
                </a:rPr>
                <a:t>This project is an</a:t>
              </a:r>
            </a:p>
            <a:p>
              <a:pPr algn="ctr"/>
              <a:r>
                <a:rPr lang="en-US" sz="1400" b="1" dirty="0">
                  <a:cs typeface="Segoe UI Semibold" panose="020B0702040204020203" pitchFamily="34" charset="0"/>
                </a:rPr>
                <a:t>Employee Management System developed using SQL</a:t>
              </a:r>
              <a:r>
                <a:rPr lang="en-US" sz="1400" dirty="0">
                  <a:cs typeface="Segoe UI Semibold" panose="020B0702040204020203" pitchFamily="34" charset="0"/>
                </a:rPr>
                <a:t>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02327A9-7656-C142-6122-8AF5284E00DA}"/>
              </a:ext>
            </a:extLst>
          </p:cNvPr>
          <p:cNvGrpSpPr/>
          <p:nvPr/>
        </p:nvGrpSpPr>
        <p:grpSpPr>
          <a:xfrm>
            <a:off x="8417860" y="4383743"/>
            <a:ext cx="2805830" cy="1445350"/>
            <a:chOff x="8417860" y="4383743"/>
            <a:chExt cx="2805830" cy="14453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5AD487-A83C-7634-FF43-D982EA8CCD84}"/>
                </a:ext>
              </a:extLst>
            </p:cNvPr>
            <p:cNvSpPr txBox="1"/>
            <p:nvPr/>
          </p:nvSpPr>
          <p:spPr>
            <a:xfrm>
              <a:off x="9386047" y="4383743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  <a:latin typeface="Arial Black" panose="020B0A04020102020204" pitchFamily="34" charset="0"/>
                </a:rPr>
                <a:t>04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7763FE-C62F-B13F-6297-8A0FFAA6E762}"/>
                </a:ext>
              </a:extLst>
            </p:cNvPr>
            <p:cNvSpPr txBox="1"/>
            <p:nvPr/>
          </p:nvSpPr>
          <p:spPr>
            <a:xfrm>
              <a:off x="8417860" y="5090429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All data is connected through a </a:t>
              </a:r>
              <a:r>
                <a:rPr lang="en-US" sz="1400" b="1" dirty="0"/>
                <a:t>relational database structure</a:t>
              </a:r>
            </a:p>
            <a:p>
              <a:pPr algn="ctr"/>
              <a:r>
                <a:rPr lang="en-US" sz="1400" dirty="0"/>
                <a:t>for easy access and management.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F31DB8-184B-F07A-9C7C-F304D00C0C73}"/>
              </a:ext>
            </a:extLst>
          </p:cNvPr>
          <p:cNvGrpSpPr/>
          <p:nvPr/>
        </p:nvGrpSpPr>
        <p:grpSpPr>
          <a:xfrm>
            <a:off x="8506719" y="1968882"/>
            <a:ext cx="2805830" cy="1445350"/>
            <a:chOff x="8506719" y="1968882"/>
            <a:chExt cx="2805830" cy="14453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6A430-2D32-4B0C-BFFE-D7A10E816FCC}"/>
                </a:ext>
              </a:extLst>
            </p:cNvPr>
            <p:cNvSpPr txBox="1"/>
            <p:nvPr/>
          </p:nvSpPr>
          <p:spPr>
            <a:xfrm>
              <a:off x="9474906" y="1968882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02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31E2C9-A2AF-74BB-7DE3-346E740CC530}"/>
                </a:ext>
              </a:extLst>
            </p:cNvPr>
            <p:cNvSpPr txBox="1"/>
            <p:nvPr/>
          </p:nvSpPr>
          <p:spPr>
            <a:xfrm>
              <a:off x="8506719" y="2675568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It is designed to</a:t>
              </a:r>
            </a:p>
            <a:p>
              <a:pPr algn="ctr"/>
              <a:r>
                <a:rPr lang="en-US" sz="1400" b="1" dirty="0"/>
                <a:t>store and manage employee-related data</a:t>
              </a:r>
              <a:r>
                <a:rPr lang="en-US" sz="1400" dirty="0"/>
                <a:t> in a database.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23AAC19-7985-0FFC-379F-26F0A0F11865}"/>
              </a:ext>
            </a:extLst>
          </p:cNvPr>
          <p:cNvGrpSpPr/>
          <p:nvPr/>
        </p:nvGrpSpPr>
        <p:grpSpPr>
          <a:xfrm>
            <a:off x="1013868" y="4428569"/>
            <a:ext cx="2805830" cy="1445350"/>
            <a:chOff x="1013868" y="4428569"/>
            <a:chExt cx="2805830" cy="144535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6F576F-2F30-DC23-BE2F-46776DE601CE}"/>
                </a:ext>
              </a:extLst>
            </p:cNvPr>
            <p:cNvSpPr txBox="1"/>
            <p:nvPr/>
          </p:nvSpPr>
          <p:spPr>
            <a:xfrm>
              <a:off x="1982055" y="4428569"/>
              <a:ext cx="1057835" cy="76944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03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6F2C2D-A422-F57E-0EF2-467BF46073F2}"/>
                </a:ext>
              </a:extLst>
            </p:cNvPr>
            <p:cNvSpPr txBox="1"/>
            <p:nvPr/>
          </p:nvSpPr>
          <p:spPr>
            <a:xfrm>
              <a:off x="1013868" y="5135255"/>
              <a:ext cx="28058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It includes information about </a:t>
              </a:r>
              <a:r>
                <a:rPr lang="en-US" sz="1400" b="1" dirty="0"/>
                <a:t>employees, departments, salary, leaves, and payroll</a:t>
              </a:r>
              <a:r>
                <a:rPr lang="en-US" sz="1400" dirty="0"/>
                <a:t>.</a:t>
              </a:r>
              <a:endParaRPr lang="en-US" sz="1400" dirty="0">
                <a:cs typeface="Segoe UI Semibold" panose="020B0702040204020203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10BC17-F461-8389-4153-0D4538622372}"/>
              </a:ext>
            </a:extLst>
          </p:cNvPr>
          <p:cNvGrpSpPr/>
          <p:nvPr/>
        </p:nvGrpSpPr>
        <p:grpSpPr>
          <a:xfrm>
            <a:off x="4273325" y="1652299"/>
            <a:ext cx="1660362" cy="2254262"/>
            <a:chOff x="4273325" y="1652299"/>
            <a:chExt cx="1660362" cy="2254262"/>
          </a:xfrm>
        </p:grpSpPr>
        <p:sp>
          <p:nvSpPr>
            <p:cNvPr id="2" name="Arrow: Pentagon 1">
              <a:extLst>
                <a:ext uri="{FF2B5EF4-FFF2-40B4-BE49-F238E27FC236}">
                  <a16:creationId xmlns:a16="http://schemas.microsoft.com/office/drawing/2014/main" id="{7A1916F3-BE61-2833-8457-D7A65A361122}"/>
                </a:ext>
              </a:extLst>
            </p:cNvPr>
            <p:cNvSpPr/>
            <p:nvPr/>
          </p:nvSpPr>
          <p:spPr>
            <a:xfrm rot="2700000">
              <a:off x="3997517" y="1970391"/>
              <a:ext cx="2254262" cy="1618078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dist="38100" dir="2700000" algn="tl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779CE3-AAAF-CB9A-B2B5-3838A300ED42}"/>
                </a:ext>
              </a:extLst>
            </p:cNvPr>
            <p:cNvSpPr txBox="1"/>
            <p:nvPr/>
          </p:nvSpPr>
          <p:spPr>
            <a:xfrm>
              <a:off x="4273325" y="2146651"/>
              <a:ext cx="1156447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i="1" dirty="0">
                  <a:solidFill>
                    <a:schemeClr val="bg1"/>
                  </a:solidFill>
                </a:rPr>
                <a:t>System</a:t>
              </a:r>
            </a:p>
            <a:p>
              <a:pPr algn="ctr">
                <a:lnSpc>
                  <a:spcPct val="80000"/>
                </a:lnSpc>
              </a:pPr>
              <a:r>
                <a:rPr lang="en-US" b="1" i="1" dirty="0">
                  <a:solidFill>
                    <a:schemeClr val="bg1"/>
                  </a:solidFill>
                </a:rPr>
                <a:t>Overview</a:t>
              </a:r>
            </a:p>
          </p:txBody>
        </p:sp>
        <p:pic>
          <p:nvPicPr>
            <p:cNvPr id="30" name="Graphic 29" descr="Atom with solid fill">
              <a:extLst>
                <a:ext uri="{FF2B5EF4-FFF2-40B4-BE49-F238E27FC236}">
                  <a16:creationId xmlns:a16="http://schemas.microsoft.com/office/drawing/2014/main" id="{5039D2BE-6CA9-D5E5-0AE7-5ADB620D89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2893" y="2696037"/>
              <a:ext cx="802996" cy="802996"/>
            </a:xfrm>
            <a:prstGeom prst="rect">
              <a:avLst/>
            </a:prstGeom>
            <a:effectLst/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29F025-6F53-95DC-4E26-10D270704AA7}"/>
              </a:ext>
            </a:extLst>
          </p:cNvPr>
          <p:cNvGrpSpPr/>
          <p:nvPr/>
        </p:nvGrpSpPr>
        <p:grpSpPr>
          <a:xfrm>
            <a:off x="4106319" y="3475774"/>
            <a:ext cx="1835297" cy="2254262"/>
            <a:chOff x="4106319" y="3475774"/>
            <a:chExt cx="1835297" cy="2254262"/>
          </a:xfrm>
        </p:grpSpPr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59F90E88-1C4D-07F1-A9E0-148B6C966C92}"/>
                </a:ext>
              </a:extLst>
            </p:cNvPr>
            <p:cNvSpPr/>
            <p:nvPr/>
          </p:nvSpPr>
          <p:spPr>
            <a:xfrm rot="18857224">
              <a:off x="4005446" y="3793866"/>
              <a:ext cx="2254262" cy="1618078"/>
            </a:xfrm>
            <a:prstGeom prst="homePlat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3737-A418-0BB9-0CBC-22CF36FCE1FF}"/>
                </a:ext>
              </a:extLst>
            </p:cNvPr>
            <p:cNvSpPr txBox="1"/>
            <p:nvPr/>
          </p:nvSpPr>
          <p:spPr>
            <a:xfrm>
              <a:off x="4106319" y="4789723"/>
              <a:ext cx="1490458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 Coverage</a:t>
              </a:r>
            </a:p>
          </p:txBody>
        </p:sp>
        <p:pic>
          <p:nvPicPr>
            <p:cNvPr id="36" name="Graphic 35" descr="Internet with solid fill">
              <a:extLst>
                <a:ext uri="{FF2B5EF4-FFF2-40B4-BE49-F238E27FC236}">
                  <a16:creationId xmlns:a16="http://schemas.microsoft.com/office/drawing/2014/main" id="{BCCDC4F3-48CF-DC61-EA8F-F4D7869610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29208" y="3889219"/>
              <a:ext cx="802669" cy="8026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C9F4C6-AA71-558A-C71A-E20C9FB81830}"/>
              </a:ext>
            </a:extLst>
          </p:cNvPr>
          <p:cNvGrpSpPr/>
          <p:nvPr/>
        </p:nvGrpSpPr>
        <p:grpSpPr>
          <a:xfrm>
            <a:off x="6258313" y="3475774"/>
            <a:ext cx="1630948" cy="2254262"/>
            <a:chOff x="6258313" y="3475774"/>
            <a:chExt cx="1630948" cy="2254262"/>
          </a:xfrm>
        </p:grpSpPr>
        <p:sp>
          <p:nvSpPr>
            <p:cNvPr id="5" name="Arrow: Pentagon 4">
              <a:extLst>
                <a:ext uri="{FF2B5EF4-FFF2-40B4-BE49-F238E27FC236}">
                  <a16:creationId xmlns:a16="http://schemas.microsoft.com/office/drawing/2014/main" id="{63BBB27D-1BC8-9015-BEB7-BC81AEAF6C93}"/>
                </a:ext>
              </a:extLst>
            </p:cNvPr>
            <p:cNvSpPr/>
            <p:nvPr/>
          </p:nvSpPr>
          <p:spPr>
            <a:xfrm rot="13500000">
              <a:off x="5940221" y="3793866"/>
              <a:ext cx="2254262" cy="1618078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dist="38100" dir="6600000" algn="tl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A8219A-B95F-60FC-75F7-1ADD5F551BB9}"/>
                </a:ext>
              </a:extLst>
            </p:cNvPr>
            <p:cNvSpPr txBox="1"/>
            <p:nvPr/>
          </p:nvSpPr>
          <p:spPr>
            <a:xfrm>
              <a:off x="6732814" y="4769229"/>
              <a:ext cx="1156447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Database Structure</a:t>
              </a:r>
            </a:p>
          </p:txBody>
        </p:sp>
        <p:pic>
          <p:nvPicPr>
            <p:cNvPr id="38" name="Graphic 37" descr="Network with solid fill">
              <a:extLst>
                <a:ext uri="{FF2B5EF4-FFF2-40B4-BE49-F238E27FC236}">
                  <a16:creationId xmlns:a16="http://schemas.microsoft.com/office/drawing/2014/main" id="{0D6C8C85-A105-B0B8-FCF3-E0DAD87DB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14625" y="3846060"/>
              <a:ext cx="845828" cy="845828"/>
            </a:xfrm>
            <a:prstGeom prst="rect">
              <a:avLst/>
            </a:prstGeom>
            <a:effectLst/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375A3F1-58DC-0EB3-06D0-40317090451E}"/>
              </a:ext>
            </a:extLst>
          </p:cNvPr>
          <p:cNvGrpSpPr/>
          <p:nvPr/>
        </p:nvGrpSpPr>
        <p:grpSpPr>
          <a:xfrm>
            <a:off x="6253337" y="1647921"/>
            <a:ext cx="1787486" cy="2254262"/>
            <a:chOff x="6253337" y="1647921"/>
            <a:chExt cx="1787486" cy="2254262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1505117F-816F-794B-ADB2-7D84C28DE296}"/>
                </a:ext>
              </a:extLst>
            </p:cNvPr>
            <p:cNvSpPr/>
            <p:nvPr/>
          </p:nvSpPr>
          <p:spPr>
            <a:xfrm rot="8029574">
              <a:off x="5935245" y="1966013"/>
              <a:ext cx="2254262" cy="1618078"/>
            </a:xfrm>
            <a:prstGeom prst="homePlat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6F9558-B6F4-FE16-41F4-B3704D55A19D}"/>
                </a:ext>
              </a:extLst>
            </p:cNvPr>
            <p:cNvSpPr txBox="1"/>
            <p:nvPr/>
          </p:nvSpPr>
          <p:spPr>
            <a:xfrm>
              <a:off x="6550365" y="2092292"/>
              <a:ext cx="1490458" cy="541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b="1">
                  <a:solidFill>
                    <a:schemeClr val="bg1"/>
                  </a:solidFill>
                </a:defRPr>
              </a:lvl1pPr>
            </a:lstStyle>
            <a:p>
              <a:r>
                <a:rPr lang="en-US" i="1" dirty="0"/>
                <a:t>Data Management</a:t>
              </a:r>
            </a:p>
          </p:txBody>
        </p:sp>
        <p:pic>
          <p:nvPicPr>
            <p:cNvPr id="40" name="Graphic 39" descr="Newspaper with solid fill">
              <a:extLst>
                <a:ext uri="{FF2B5EF4-FFF2-40B4-BE49-F238E27FC236}">
                  <a16:creationId xmlns:a16="http://schemas.microsoft.com/office/drawing/2014/main" id="{6B707F03-CB17-E384-6386-8C68561A16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9085" y="2721958"/>
              <a:ext cx="741368" cy="741368"/>
            </a:xfrm>
            <a:prstGeom prst="rect">
              <a:avLst/>
            </a:prstGeom>
            <a:effectLst/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74D775E-E850-A8CC-B52E-9A3B1DF06E90}"/>
              </a:ext>
            </a:extLst>
          </p:cNvPr>
          <p:cNvSpPr txBox="1"/>
          <p:nvPr/>
        </p:nvSpPr>
        <p:spPr>
          <a:xfrm>
            <a:off x="3888719" y="230254"/>
            <a:ext cx="4414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gradFill>
                  <a:gsLst>
                    <a:gs pos="0">
                      <a:srgbClr val="FF0000"/>
                    </a:gs>
                    <a:gs pos="48000">
                      <a:srgbClr val="FF0000">
                        <a:alpha val="52000"/>
                      </a:srgbClr>
                    </a:gs>
                    <a:gs pos="100000">
                      <a:srgbClr val="FF0000">
                        <a:alpha val="25000"/>
                      </a:srgbClr>
                    </a:gs>
                  </a:gsLst>
                  <a:lin ang="16200000" scaled="1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6750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click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7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8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1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2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5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6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9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7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8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1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2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5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6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3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14" presetClass="entr" presetSubtype="1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3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E591-2762-D397-5BD6-DB6AE35722A6}"/>
              </a:ext>
            </a:extLst>
          </p:cNvPr>
          <p:cNvSpPr txBox="1"/>
          <p:nvPr/>
        </p:nvSpPr>
        <p:spPr>
          <a:xfrm>
            <a:off x="5097262" y="3044279"/>
            <a:ext cx="1997476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Eras Bold ITC" panose="020B0907030504020204" pitchFamily="34" charset="0"/>
              </a:rPr>
              <a:t>PROBLEM</a:t>
            </a:r>
          </a:p>
          <a:p>
            <a:pPr algn="ctr"/>
            <a:r>
              <a:rPr lang="en-US" sz="2200" dirty="0">
                <a:latin typeface="Eras Bold ITC" panose="020B0907030504020204" pitchFamily="34" charset="0"/>
              </a:rPr>
              <a:t>STATEMENT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8942BC-4543-980B-52F3-B6C82ADE7067}"/>
              </a:ext>
            </a:extLst>
          </p:cNvPr>
          <p:cNvGrpSpPr/>
          <p:nvPr/>
        </p:nvGrpSpPr>
        <p:grpSpPr>
          <a:xfrm>
            <a:off x="868531" y="724450"/>
            <a:ext cx="3179690" cy="1569660"/>
            <a:chOff x="779751" y="643124"/>
            <a:chExt cx="3179690" cy="15696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FB4BB1-1811-DA05-1AB3-490DC53C228F}"/>
                </a:ext>
              </a:extLst>
            </p:cNvPr>
            <p:cNvSpPr txBox="1"/>
            <p:nvPr/>
          </p:nvSpPr>
          <p:spPr>
            <a:xfrm>
              <a:off x="1308826" y="856682"/>
              <a:ext cx="23043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Data Fragmentation</a:t>
              </a:r>
              <a:endParaRPr lang="en-US" b="1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485E72-0BA6-BA73-5DCB-258B8C0FF44C}"/>
                </a:ext>
              </a:extLst>
            </p:cNvPr>
            <p:cNvSpPr txBox="1"/>
            <p:nvPr/>
          </p:nvSpPr>
          <p:spPr>
            <a:xfrm>
              <a:off x="1286919" y="1154026"/>
              <a:ext cx="267252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</a:rPr>
                <a:t>Organizations face </a:t>
              </a:r>
              <a:r>
                <a:rPr lang="en-US" sz="1400" b="1" dirty="0">
                  <a:latin typeface="+mj-lt"/>
                </a:rPr>
                <a:t>difficulty in managing employee data </a:t>
              </a:r>
              <a:r>
                <a:rPr lang="en-US" sz="1400" dirty="0">
                  <a:latin typeface="+mj-lt"/>
                </a:rPr>
                <a:t>across multiple systems, leading to inefficiency and inconsistency.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071085-4D42-F16A-2143-3F9FFD71B526}"/>
                </a:ext>
              </a:extLst>
            </p:cNvPr>
            <p:cNvSpPr txBox="1"/>
            <p:nvPr/>
          </p:nvSpPr>
          <p:spPr>
            <a:xfrm>
              <a:off x="779751" y="643124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dirty="0">
                  <a:latin typeface="Aparajita" panose="02020603050405020304" pitchFamily="18" charset="0"/>
                  <a:cs typeface="Aparajita" panose="02020603050405020304" pitchFamily="18" charset="0"/>
                </a:rPr>
                <a:t>1</a:t>
              </a:r>
              <a:endParaRPr lang="en-US" sz="9600" b="1" dirty="0">
                <a:latin typeface="Aparajita" panose="02020603050405020304" pitchFamily="18" charset="0"/>
                <a:cs typeface="Aparajita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11F42C-8228-D8F7-EC66-7D53CB4937A6}"/>
              </a:ext>
            </a:extLst>
          </p:cNvPr>
          <p:cNvGrpSpPr/>
          <p:nvPr/>
        </p:nvGrpSpPr>
        <p:grpSpPr>
          <a:xfrm>
            <a:off x="8184799" y="724450"/>
            <a:ext cx="3147554" cy="1569660"/>
            <a:chOff x="8096019" y="645973"/>
            <a:chExt cx="3147554" cy="15696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0B5C89-974E-E192-4E4C-2F9B31888F52}"/>
                </a:ext>
              </a:extLst>
            </p:cNvPr>
            <p:cNvSpPr txBox="1"/>
            <p:nvPr/>
          </p:nvSpPr>
          <p:spPr>
            <a:xfrm>
              <a:off x="8096019" y="923957"/>
              <a:ext cx="27879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 dirty="0">
                  <a:latin typeface="+mj-lt"/>
                </a:rPr>
                <a:t>Lack Of Centralized Tracking</a:t>
              </a:r>
              <a:endParaRPr lang="en-US" b="1" u="sng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01B9CC-BAC8-1E50-6D88-2020C5799EBE}"/>
                </a:ext>
              </a:extLst>
            </p:cNvPr>
            <p:cNvSpPr txBox="1"/>
            <p:nvPr/>
          </p:nvSpPr>
          <p:spPr>
            <a:xfrm>
              <a:off x="8211428" y="1226014"/>
              <a:ext cx="267252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>
                  <a:latin typeface="+mj-lt"/>
                </a:rPr>
                <a:t>It is difficult to track </a:t>
              </a:r>
              <a:r>
                <a:rPr lang="en-US" sz="1400" b="1" dirty="0">
                  <a:latin typeface="+mj-lt"/>
                </a:rPr>
                <a:t>employee roles, salaries, leaves</a:t>
              </a:r>
              <a:r>
                <a:rPr lang="en-US" sz="1400" dirty="0">
                  <a:latin typeface="+mj-lt"/>
                </a:rPr>
                <a:t>, and performance effectively.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FC14C0-196D-07F9-0D2E-7917F21CED38}"/>
                </a:ext>
              </a:extLst>
            </p:cNvPr>
            <p:cNvSpPr txBox="1"/>
            <p:nvPr/>
          </p:nvSpPr>
          <p:spPr>
            <a:xfrm>
              <a:off x="10789896" y="645973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8F6B1C-E96B-1DB6-13A1-EF5808466F4A}"/>
              </a:ext>
            </a:extLst>
          </p:cNvPr>
          <p:cNvGrpSpPr/>
          <p:nvPr/>
        </p:nvGrpSpPr>
        <p:grpSpPr>
          <a:xfrm>
            <a:off x="8291742" y="4263334"/>
            <a:ext cx="3308414" cy="1569660"/>
            <a:chOff x="8371644" y="4118014"/>
            <a:chExt cx="3308414" cy="15696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DF2008-0966-E237-9412-33BDC253171C}"/>
                </a:ext>
              </a:extLst>
            </p:cNvPr>
            <p:cNvSpPr txBox="1"/>
            <p:nvPr/>
          </p:nvSpPr>
          <p:spPr>
            <a:xfrm>
              <a:off x="8371644" y="4395998"/>
              <a:ext cx="29487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b="1" dirty="0">
                  <a:latin typeface="+mj-lt"/>
                </a:rPr>
                <a:t>Need for Centralized System</a:t>
              </a:r>
              <a:endParaRPr lang="en-US" b="1" u="sng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E3BD04-36BA-387E-BD65-91EB819180F0}"/>
                </a:ext>
              </a:extLst>
            </p:cNvPr>
            <p:cNvSpPr txBox="1"/>
            <p:nvPr/>
          </p:nvSpPr>
          <p:spPr>
            <a:xfrm>
              <a:off x="8637973" y="4698055"/>
              <a:ext cx="268246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400" dirty="0">
                  <a:latin typeface="+mj-lt"/>
                </a:rPr>
                <a:t>A system is required </a:t>
              </a:r>
              <a:r>
                <a:rPr lang="en-US" sz="1400" b="1" dirty="0">
                  <a:latin typeface="+mj-lt"/>
                </a:rPr>
                <a:t>to store, manage, and analyze employee </a:t>
              </a:r>
              <a:r>
                <a:rPr lang="en-US" sz="1400" dirty="0">
                  <a:latin typeface="+mj-lt"/>
                </a:rPr>
                <a:t>data efficiently.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5C7CB9-9E41-BDB3-F14C-D6C91A812CB2}"/>
                </a:ext>
              </a:extLst>
            </p:cNvPr>
            <p:cNvSpPr txBox="1"/>
            <p:nvPr/>
          </p:nvSpPr>
          <p:spPr>
            <a:xfrm>
              <a:off x="11226381" y="4118014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4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3017BC-83CA-4E6B-52B2-D08DEB6EE16E}"/>
              </a:ext>
            </a:extLst>
          </p:cNvPr>
          <p:cNvGrpSpPr/>
          <p:nvPr/>
        </p:nvGrpSpPr>
        <p:grpSpPr>
          <a:xfrm>
            <a:off x="721756" y="4263334"/>
            <a:ext cx="3179690" cy="1569660"/>
            <a:chOff x="801658" y="4408655"/>
            <a:chExt cx="3179690" cy="156966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741DEE-2B09-D2C5-B501-FD2A8A5B7022}"/>
                </a:ext>
              </a:extLst>
            </p:cNvPr>
            <p:cNvSpPr txBox="1"/>
            <p:nvPr/>
          </p:nvSpPr>
          <p:spPr>
            <a:xfrm>
              <a:off x="1330733" y="4622213"/>
              <a:ext cx="23043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Data Redundancy</a:t>
              </a:r>
              <a:endParaRPr lang="en-US" b="1" dirty="0">
                <a:latin typeface="+mj-lt"/>
                <a:cs typeface="Segoe UI Semibold" panose="020B07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62F2B5-EB6F-361E-4273-4EEEB09017A0}"/>
                </a:ext>
              </a:extLst>
            </p:cNvPr>
            <p:cNvSpPr txBox="1"/>
            <p:nvPr/>
          </p:nvSpPr>
          <p:spPr>
            <a:xfrm>
              <a:off x="1308826" y="4919557"/>
              <a:ext cx="267252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</a:rPr>
                <a:t>Without proper relationships and constraints, duplicate and inconsistent data can occur.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ECA1EF-A687-74E1-ABF3-23E96360D911}"/>
                </a:ext>
              </a:extLst>
            </p:cNvPr>
            <p:cNvSpPr txBox="1"/>
            <p:nvPr/>
          </p:nvSpPr>
          <p:spPr>
            <a:xfrm>
              <a:off x="801658" y="4408655"/>
              <a:ext cx="453677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atin typeface="Aparajita" panose="02020603050405020304" pitchFamily="18" charset="0"/>
                  <a:cs typeface="Aparajita" panose="02020603050405020304" pitchFamily="18" charset="0"/>
                </a:rPr>
                <a:t>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1EA7D3-F8FD-4750-7AEC-525FC2A381E8}"/>
              </a:ext>
            </a:extLst>
          </p:cNvPr>
          <p:cNvGrpSpPr/>
          <p:nvPr/>
        </p:nvGrpSpPr>
        <p:grpSpPr>
          <a:xfrm>
            <a:off x="3193159" y="1543605"/>
            <a:ext cx="3332994" cy="1309599"/>
            <a:chOff x="3193159" y="1543605"/>
            <a:chExt cx="3332994" cy="130959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9F28F66-211B-0A54-F21A-F23C6575DEFB}"/>
                </a:ext>
              </a:extLst>
            </p:cNvPr>
            <p:cNvSpPr/>
            <p:nvPr/>
          </p:nvSpPr>
          <p:spPr>
            <a:xfrm rot="2709086">
              <a:off x="4204856" y="531908"/>
              <a:ext cx="1309599" cy="3332994"/>
            </a:xfrm>
            <a:custGeom>
              <a:avLst/>
              <a:gdLst>
                <a:gd name="csX0" fmla="*/ 669004 w 1309599"/>
                <a:gd name="csY0" fmla="*/ 0 h 3332994"/>
                <a:gd name="csX1" fmla="*/ 1309599 w 1309599"/>
                <a:gd name="csY1" fmla="*/ 637217 h 3332994"/>
                <a:gd name="csX2" fmla="*/ 1309599 w 1309599"/>
                <a:gd name="csY2" fmla="*/ 2702322 h 3332994"/>
                <a:gd name="csX3" fmla="*/ 682251 w 1309599"/>
                <a:gd name="csY3" fmla="*/ 3332994 h 3332994"/>
                <a:gd name="csX4" fmla="*/ 541305 w 1309599"/>
                <a:gd name="csY4" fmla="*/ 3177868 h 3332994"/>
                <a:gd name="csX5" fmla="*/ 534715 w 1309599"/>
                <a:gd name="csY5" fmla="*/ 149350 h 3332994"/>
                <a:gd name="csX6" fmla="*/ 669004 w 1309599"/>
                <a:gd name="csY6" fmla="*/ 0 h 3332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09599" h="3332994">
                  <a:moveTo>
                    <a:pt x="669004" y="0"/>
                  </a:moveTo>
                  <a:lnTo>
                    <a:pt x="1309599" y="637217"/>
                  </a:lnTo>
                  <a:lnTo>
                    <a:pt x="1309599" y="2702322"/>
                  </a:lnTo>
                  <a:lnTo>
                    <a:pt x="682251" y="3332994"/>
                  </a:lnTo>
                  <a:lnTo>
                    <a:pt x="541305" y="3177868"/>
                  </a:lnTo>
                  <a:cubicBezTo>
                    <a:pt x="-177948" y="2300589"/>
                    <a:pt x="-180711" y="1031091"/>
                    <a:pt x="534715" y="149350"/>
                  </a:cubicBezTo>
                  <a:lnTo>
                    <a:pt x="669004" y="0"/>
                  </a:lnTo>
                  <a:close/>
                </a:path>
              </a:pathLst>
            </a:custGeom>
            <a:solidFill>
              <a:srgbClr val="BBDED7"/>
            </a:solidFill>
            <a:ln>
              <a:noFill/>
            </a:ln>
            <a:effectLst>
              <a:outerShdw blurRad="292100" sx="95000" sy="95000" algn="ctr" rotWithShape="0">
                <a:schemeClr val="tx1">
                  <a:alpha val="3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0" name="Graphic 19" descr="Help with solid fill">
              <a:extLst>
                <a:ext uri="{FF2B5EF4-FFF2-40B4-BE49-F238E27FC236}">
                  <a16:creationId xmlns:a16="http://schemas.microsoft.com/office/drawing/2014/main" id="{65C3F633-4D46-9B24-AF99-93D51D6B80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79252" y="1788935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D02987-B222-205F-A919-2A6E0DA0F68B}"/>
              </a:ext>
            </a:extLst>
          </p:cNvPr>
          <p:cNvGrpSpPr/>
          <p:nvPr/>
        </p:nvGrpSpPr>
        <p:grpSpPr>
          <a:xfrm>
            <a:off x="5674547" y="4022648"/>
            <a:ext cx="3317049" cy="1294188"/>
            <a:chOff x="5674547" y="4022648"/>
            <a:chExt cx="3317049" cy="1294188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48CFF97-184F-2558-4F31-4877E83CE6ED}"/>
                </a:ext>
              </a:extLst>
            </p:cNvPr>
            <p:cNvSpPr/>
            <p:nvPr/>
          </p:nvSpPr>
          <p:spPr>
            <a:xfrm rot="2709086">
              <a:off x="6685978" y="3011217"/>
              <a:ext cx="1294188" cy="3317049"/>
            </a:xfrm>
            <a:custGeom>
              <a:avLst/>
              <a:gdLst>
                <a:gd name="csX0" fmla="*/ 0 w 1294188"/>
                <a:gd name="csY0" fmla="*/ 628528 h 3317049"/>
                <a:gd name="csX1" fmla="*/ 625215 w 1294188"/>
                <a:gd name="csY1" fmla="*/ 0 h 3317049"/>
                <a:gd name="csX2" fmla="*/ 752884 w 1294188"/>
                <a:gd name="csY2" fmla="*/ 140512 h 3317049"/>
                <a:gd name="csX3" fmla="*/ 759473 w 1294188"/>
                <a:gd name="csY3" fmla="*/ 3169030 h 3317049"/>
                <a:gd name="csX4" fmla="*/ 626381 w 1294188"/>
                <a:gd name="csY4" fmla="*/ 3317049 h 3317049"/>
                <a:gd name="csX5" fmla="*/ 1 w 1294188"/>
                <a:gd name="csY5" fmla="*/ 2693971 h 3317049"/>
                <a:gd name="csX6" fmla="*/ 0 w 1294188"/>
                <a:gd name="csY6" fmla="*/ 628528 h 3317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94188" h="3317049">
                  <a:moveTo>
                    <a:pt x="0" y="628528"/>
                  </a:moveTo>
                  <a:lnTo>
                    <a:pt x="625215" y="0"/>
                  </a:lnTo>
                  <a:lnTo>
                    <a:pt x="752884" y="140512"/>
                  </a:lnTo>
                  <a:cubicBezTo>
                    <a:pt x="1472136" y="1017792"/>
                    <a:pt x="1474899" y="2287289"/>
                    <a:pt x="759473" y="3169030"/>
                  </a:cubicBezTo>
                  <a:lnTo>
                    <a:pt x="626381" y="3317049"/>
                  </a:lnTo>
                  <a:lnTo>
                    <a:pt x="1" y="2693971"/>
                  </a:lnTo>
                  <a:lnTo>
                    <a:pt x="0" y="628528"/>
                  </a:lnTo>
                  <a:close/>
                </a:path>
              </a:pathLst>
            </a:custGeom>
            <a:solidFill>
              <a:srgbClr val="61BFBE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Help with solid fill">
              <a:extLst>
                <a:ext uri="{FF2B5EF4-FFF2-40B4-BE49-F238E27FC236}">
                  <a16:creationId xmlns:a16="http://schemas.microsoft.com/office/drawing/2014/main" id="{ADB622B7-38DB-909E-F122-328463C217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34831" y="4204358"/>
              <a:ext cx="914400" cy="9144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A8CB49-BFD5-A71F-338A-FB6ED9CEC8DC}"/>
              </a:ext>
            </a:extLst>
          </p:cNvPr>
          <p:cNvGrpSpPr/>
          <p:nvPr/>
        </p:nvGrpSpPr>
        <p:grpSpPr>
          <a:xfrm>
            <a:off x="6687608" y="529182"/>
            <a:ext cx="1298453" cy="3331693"/>
            <a:chOff x="6687608" y="529182"/>
            <a:chExt cx="1298453" cy="333169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9C7BE-D16E-62E2-4B08-34DF07D3A7A6}"/>
                </a:ext>
              </a:extLst>
            </p:cNvPr>
            <p:cNvSpPr/>
            <p:nvPr/>
          </p:nvSpPr>
          <p:spPr>
            <a:xfrm rot="2709086">
              <a:off x="5670988" y="1545802"/>
              <a:ext cx="3331693" cy="1298453"/>
            </a:xfrm>
            <a:custGeom>
              <a:avLst/>
              <a:gdLst>
                <a:gd name="csX0" fmla="*/ 0 w 3331693"/>
                <a:gd name="csY0" fmla="*/ 676600 h 1298453"/>
                <a:gd name="csX1" fmla="*/ 147314 w 3331693"/>
                <a:gd name="csY1" fmla="*/ 542727 h 1298453"/>
                <a:gd name="csX2" fmla="*/ 3175824 w 3331693"/>
                <a:gd name="csY2" fmla="*/ 533308 h 1298453"/>
                <a:gd name="csX3" fmla="*/ 3331693 w 3331693"/>
                <a:gd name="csY3" fmla="*/ 673432 h 1298453"/>
                <a:gd name="csX4" fmla="*/ 2709967 w 3331693"/>
                <a:gd name="csY4" fmla="*/ 1298453 h 1298453"/>
                <a:gd name="csX5" fmla="*/ 625149 w 3331693"/>
                <a:gd name="csY5" fmla="*/ 1298453 h 1298453"/>
                <a:gd name="csX6" fmla="*/ 0 w 3331693"/>
                <a:gd name="csY6" fmla="*/ 676600 h 1298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31693" h="1298453">
                  <a:moveTo>
                    <a:pt x="0" y="676600"/>
                  </a:moveTo>
                  <a:lnTo>
                    <a:pt x="147314" y="542727"/>
                  </a:lnTo>
                  <a:cubicBezTo>
                    <a:pt x="1025261" y="-177350"/>
                    <a:pt x="2294755" y="-181298"/>
                    <a:pt x="3175824" y="533308"/>
                  </a:cubicBezTo>
                  <a:lnTo>
                    <a:pt x="3331693" y="673432"/>
                  </a:lnTo>
                  <a:lnTo>
                    <a:pt x="2709967" y="1298453"/>
                  </a:lnTo>
                  <a:lnTo>
                    <a:pt x="625149" y="1298453"/>
                  </a:lnTo>
                  <a:lnTo>
                    <a:pt x="0" y="676600"/>
                  </a:lnTo>
                  <a:close/>
                </a:path>
              </a:pathLst>
            </a:custGeom>
            <a:solidFill>
              <a:srgbClr val="F2D1B8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4" name="Graphic 23" descr="Questions with solid fill">
              <a:extLst>
                <a:ext uri="{FF2B5EF4-FFF2-40B4-BE49-F238E27FC236}">
                  <a16:creationId xmlns:a16="http://schemas.microsoft.com/office/drawing/2014/main" id="{1344E5E3-4678-817D-B672-F50F47107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6798" y="1725345"/>
              <a:ext cx="914400" cy="914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265511-6E8B-17BC-390A-CB7B2B06AE06}"/>
              </a:ext>
            </a:extLst>
          </p:cNvPr>
          <p:cNvGrpSpPr/>
          <p:nvPr/>
        </p:nvGrpSpPr>
        <p:grpSpPr>
          <a:xfrm>
            <a:off x="4210579" y="3007044"/>
            <a:ext cx="1305358" cy="3318334"/>
            <a:chOff x="4210579" y="3007044"/>
            <a:chExt cx="1305358" cy="331833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7AB7C25-982D-897D-CFCE-073B807F0FDE}"/>
                </a:ext>
              </a:extLst>
            </p:cNvPr>
            <p:cNvSpPr/>
            <p:nvPr/>
          </p:nvSpPr>
          <p:spPr>
            <a:xfrm rot="2709086">
              <a:off x="3204091" y="4013532"/>
              <a:ext cx="3318334" cy="1305358"/>
            </a:xfrm>
            <a:custGeom>
              <a:avLst/>
              <a:gdLst>
                <a:gd name="csX0" fmla="*/ 0 w 3318334"/>
                <a:gd name="csY0" fmla="*/ 645127 h 1305358"/>
                <a:gd name="csX1" fmla="*/ 641725 w 3318334"/>
                <a:gd name="csY1" fmla="*/ 0 h 1305358"/>
                <a:gd name="csX2" fmla="*/ 2687453 w 3318334"/>
                <a:gd name="csY2" fmla="*/ 0 h 1305358"/>
                <a:gd name="csX3" fmla="*/ 3318334 w 3318334"/>
                <a:gd name="csY3" fmla="*/ 627554 h 1305358"/>
                <a:gd name="csX4" fmla="*/ 3169696 w 3318334"/>
                <a:gd name="csY4" fmla="*/ 762631 h 1305358"/>
                <a:gd name="csX5" fmla="*/ 141185 w 3318334"/>
                <a:gd name="csY5" fmla="*/ 772051 h 1305358"/>
                <a:gd name="csX6" fmla="*/ 0 w 3318334"/>
                <a:gd name="csY6" fmla="*/ 645127 h 1305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18334" h="1305358">
                  <a:moveTo>
                    <a:pt x="0" y="645127"/>
                  </a:moveTo>
                  <a:lnTo>
                    <a:pt x="641725" y="0"/>
                  </a:lnTo>
                  <a:lnTo>
                    <a:pt x="2687453" y="0"/>
                  </a:lnTo>
                  <a:lnTo>
                    <a:pt x="3318334" y="627554"/>
                  </a:lnTo>
                  <a:lnTo>
                    <a:pt x="3169696" y="762631"/>
                  </a:lnTo>
                  <a:cubicBezTo>
                    <a:pt x="2291748" y="1482708"/>
                    <a:pt x="1022254" y="1486656"/>
                    <a:pt x="141185" y="772051"/>
                  </a:cubicBezTo>
                  <a:lnTo>
                    <a:pt x="0" y="645127"/>
                  </a:lnTo>
                  <a:close/>
                </a:path>
              </a:pathLst>
            </a:custGeom>
            <a:solidFill>
              <a:srgbClr val="FDB7B9"/>
            </a:solidFill>
            <a:ln>
              <a:noFill/>
            </a:ln>
            <a:effectLst>
              <a:outerShdw blurRad="292100" sx="95000" sy="950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6" name="Graphic 25" descr="Questions with solid fill">
              <a:extLst>
                <a:ext uri="{FF2B5EF4-FFF2-40B4-BE49-F238E27FC236}">
                  <a16:creationId xmlns:a16="http://schemas.microsoft.com/office/drawing/2014/main" id="{06E00049-1912-58C5-4A36-84ABABD6E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456" y="422916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5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7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8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1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2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9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20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3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4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2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2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 p14:presetBounceEnd="7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35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36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8" accel="7000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B4D260-516E-140C-8879-D469168FF772}"/>
              </a:ext>
            </a:extLst>
          </p:cNvPr>
          <p:cNvSpPr/>
          <p:nvPr/>
        </p:nvSpPr>
        <p:spPr>
          <a:xfrm>
            <a:off x="4911358" y="2295085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BFB63C7-3E3E-7967-6D50-9DCB3F37F00B}"/>
              </a:ext>
            </a:extLst>
          </p:cNvPr>
          <p:cNvSpPr/>
          <p:nvPr/>
        </p:nvSpPr>
        <p:spPr>
          <a:xfrm rot="16200000">
            <a:off x="4959887" y="2246650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F547A7F-3BD4-C1B2-E1BA-3EDBBFCE5D65}"/>
              </a:ext>
            </a:extLst>
          </p:cNvPr>
          <p:cNvSpPr/>
          <p:nvPr/>
        </p:nvSpPr>
        <p:spPr>
          <a:xfrm rot="10800000">
            <a:off x="4911358" y="2295086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B4FD79-3CEF-930E-FAD2-2F1E448119FF}"/>
              </a:ext>
            </a:extLst>
          </p:cNvPr>
          <p:cNvSpPr/>
          <p:nvPr/>
        </p:nvSpPr>
        <p:spPr>
          <a:xfrm rot="5400000">
            <a:off x="4959887" y="2246650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AD867B-AAFF-B105-0B28-62FC2DBCD58D}"/>
              </a:ext>
            </a:extLst>
          </p:cNvPr>
          <p:cNvSpPr txBox="1"/>
          <p:nvPr/>
        </p:nvSpPr>
        <p:spPr>
          <a:xfrm>
            <a:off x="4452940" y="4860195"/>
            <a:ext cx="3555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gradFill flip="none" rotWithShape="1">
                  <a:gsLst>
                    <a:gs pos="0">
                      <a:schemeClr val="accent6">
                        <a:lumMod val="67000"/>
                      </a:schemeClr>
                    </a:gs>
                    <a:gs pos="48000">
                      <a:schemeClr val="accent6">
                        <a:lumMod val="97000"/>
                        <a:lumOff val="3000"/>
                      </a:schemeClr>
                    </a:gs>
                    <a:gs pos="100000">
                      <a:schemeClr val="accent6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203265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DAA1-3F5F-32D3-D0F5-7AB97AAB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43983FE-B434-9C59-D863-B66E0BB62164}"/>
              </a:ext>
            </a:extLst>
          </p:cNvPr>
          <p:cNvSpPr/>
          <p:nvPr/>
        </p:nvSpPr>
        <p:spPr>
          <a:xfrm>
            <a:off x="4912757" y="3790392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ED9FDE-8E9D-7013-7E85-1B06C57420ED}"/>
              </a:ext>
            </a:extLst>
          </p:cNvPr>
          <p:cNvSpPr/>
          <p:nvPr/>
        </p:nvSpPr>
        <p:spPr>
          <a:xfrm rot="16200000">
            <a:off x="6528066" y="2251778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3C4382-7FF1-2F72-59A0-FE06002A8D01}"/>
              </a:ext>
            </a:extLst>
          </p:cNvPr>
          <p:cNvSpPr/>
          <p:nvPr/>
        </p:nvSpPr>
        <p:spPr>
          <a:xfrm rot="10800000">
            <a:off x="4937940" y="799780"/>
            <a:ext cx="2369284" cy="226782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rgbClr val="7DDDAF"/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A1AB11-1785-EAA7-3702-EFBC0869DF98}"/>
              </a:ext>
            </a:extLst>
          </p:cNvPr>
          <p:cNvSpPr/>
          <p:nvPr/>
        </p:nvSpPr>
        <p:spPr>
          <a:xfrm rot="5400000">
            <a:off x="3391707" y="2254749"/>
            <a:ext cx="2272227" cy="2364698"/>
          </a:xfrm>
          <a:custGeom>
            <a:avLst/>
            <a:gdLst>
              <a:gd name="csX0" fmla="*/ 833718 w 1667436"/>
              <a:gd name="csY0" fmla="*/ 831209 h 1664208"/>
              <a:gd name="csX1" fmla="*/ 1427183 w 1667436"/>
              <a:gd name="csY1" fmla="*/ 831209 h 1664208"/>
              <a:gd name="csX2" fmla="*/ 1427093 w 1667436"/>
              <a:gd name="csY2" fmla="*/ 832104 h 1664208"/>
              <a:gd name="csX3" fmla="*/ 833718 w 1667436"/>
              <a:gd name="csY3" fmla="*/ 832104 h 1664208"/>
              <a:gd name="csX4" fmla="*/ 833718 w 1667436"/>
              <a:gd name="csY4" fmla="*/ 0 h 1664208"/>
              <a:gd name="csX5" fmla="*/ 833718 w 1667436"/>
              <a:gd name="csY5" fmla="*/ 831209 h 1664208"/>
              <a:gd name="csX6" fmla="*/ 832823 w 1667436"/>
              <a:gd name="csY6" fmla="*/ 831209 h 1664208"/>
              <a:gd name="csX7" fmla="*/ 832823 w 1667436"/>
              <a:gd name="csY7" fmla="*/ 236849 h 1664208"/>
              <a:gd name="csX8" fmla="*/ 238463 w 1667436"/>
              <a:gd name="csY8" fmla="*/ 831209 h 1664208"/>
              <a:gd name="csX9" fmla="*/ 832823 w 1667436"/>
              <a:gd name="csY9" fmla="*/ 1425569 h 1664208"/>
              <a:gd name="csX10" fmla="*/ 1415108 w 1667436"/>
              <a:gd name="csY10" fmla="*/ 950993 h 1664208"/>
              <a:gd name="csX11" fmla="*/ 1427093 w 1667436"/>
              <a:gd name="csY11" fmla="*/ 832104 h 1664208"/>
              <a:gd name="csX12" fmla="*/ 1667436 w 1667436"/>
              <a:gd name="csY12" fmla="*/ 832104 h 1664208"/>
              <a:gd name="csX13" fmla="*/ 833718 w 1667436"/>
              <a:gd name="csY13" fmla="*/ 1664208 h 1664208"/>
              <a:gd name="csX14" fmla="*/ 0 w 1667436"/>
              <a:gd name="csY14" fmla="*/ 832104 h 1664208"/>
              <a:gd name="csX15" fmla="*/ 833718 w 1667436"/>
              <a:gd name="csY15" fmla="*/ 0 h 16642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67436" h="1664208">
                <a:moveTo>
                  <a:pt x="833718" y="831209"/>
                </a:moveTo>
                <a:lnTo>
                  <a:pt x="1427183" y="831209"/>
                </a:lnTo>
                <a:lnTo>
                  <a:pt x="1427093" y="832104"/>
                </a:lnTo>
                <a:lnTo>
                  <a:pt x="833718" y="832104"/>
                </a:lnTo>
                <a:close/>
                <a:moveTo>
                  <a:pt x="833718" y="0"/>
                </a:moveTo>
                <a:lnTo>
                  <a:pt x="833718" y="831209"/>
                </a:lnTo>
                <a:lnTo>
                  <a:pt x="832823" y="831209"/>
                </a:lnTo>
                <a:lnTo>
                  <a:pt x="832823" y="236849"/>
                </a:lnTo>
                <a:cubicBezTo>
                  <a:pt x="504567" y="236849"/>
                  <a:pt x="238463" y="502953"/>
                  <a:pt x="238463" y="831209"/>
                </a:cubicBezTo>
                <a:cubicBezTo>
                  <a:pt x="238463" y="1159465"/>
                  <a:pt x="504567" y="1425569"/>
                  <a:pt x="832823" y="1425569"/>
                </a:cubicBezTo>
                <a:cubicBezTo>
                  <a:pt x="1120047" y="1425569"/>
                  <a:pt x="1359686" y="1221833"/>
                  <a:pt x="1415108" y="950993"/>
                </a:cubicBezTo>
                <a:lnTo>
                  <a:pt x="1427093" y="832104"/>
                </a:lnTo>
                <a:lnTo>
                  <a:pt x="1667436" y="832104"/>
                </a:lnTo>
                <a:cubicBezTo>
                  <a:pt x="1667436" y="1291662"/>
                  <a:pt x="1294168" y="1664208"/>
                  <a:pt x="833718" y="1664208"/>
                </a:cubicBezTo>
                <a:cubicBezTo>
                  <a:pt x="373268" y="1664208"/>
                  <a:pt x="0" y="1291662"/>
                  <a:pt x="0" y="832104"/>
                </a:cubicBezTo>
                <a:cubicBezTo>
                  <a:pt x="0" y="372546"/>
                  <a:pt x="373268" y="0"/>
                  <a:pt x="833718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41300" sx="102000" sy="102000" algn="ctr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Graphic 12" descr="Connections with solid fill">
            <a:extLst>
              <a:ext uri="{FF2B5EF4-FFF2-40B4-BE49-F238E27FC236}">
                <a16:creationId xmlns:a16="http://schemas.microsoft.com/office/drawing/2014/main" id="{93FFA7F2-5CB6-24C7-2591-5A9ADD538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623" y="1508852"/>
            <a:ext cx="956756" cy="917562"/>
          </a:xfrm>
          <a:prstGeom prst="rect">
            <a:avLst/>
          </a:prstGeom>
        </p:spPr>
      </p:pic>
      <p:pic>
        <p:nvPicPr>
          <p:cNvPr id="15" name="Graphic 14" descr="Group brainstorm with solid fill">
            <a:extLst>
              <a:ext uri="{FF2B5EF4-FFF2-40B4-BE49-F238E27FC236}">
                <a16:creationId xmlns:a16="http://schemas.microsoft.com/office/drawing/2014/main" id="{22C5F390-56B1-6504-0A83-9B79117AF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6146" y="2897492"/>
            <a:ext cx="1003351" cy="962248"/>
          </a:xfrm>
          <a:prstGeom prst="rect">
            <a:avLst/>
          </a:prstGeom>
        </p:spPr>
      </p:pic>
      <p:pic>
        <p:nvPicPr>
          <p:cNvPr id="17" name="Graphic 16" descr="Head with gears with solid fill">
            <a:extLst>
              <a:ext uri="{FF2B5EF4-FFF2-40B4-BE49-F238E27FC236}">
                <a16:creationId xmlns:a16="http://schemas.microsoft.com/office/drawing/2014/main" id="{AEDFB8F9-4D03-B3A8-6654-557428B09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0281" y="3068788"/>
            <a:ext cx="825968" cy="792132"/>
          </a:xfrm>
          <a:prstGeom prst="rect">
            <a:avLst/>
          </a:prstGeom>
        </p:spPr>
      </p:pic>
      <p:pic>
        <p:nvPicPr>
          <p:cNvPr id="19" name="Graphic 18" descr="Lightbulb and gear with solid fill">
            <a:extLst>
              <a:ext uri="{FF2B5EF4-FFF2-40B4-BE49-F238E27FC236}">
                <a16:creationId xmlns:a16="http://schemas.microsoft.com/office/drawing/2014/main" id="{5CF2B79C-BFB4-EB98-9D35-9389B1986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8901" y="4489210"/>
            <a:ext cx="907361" cy="8701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9D9A30-B22A-DF35-07CF-0B419185EEAF}"/>
              </a:ext>
            </a:extLst>
          </p:cNvPr>
          <p:cNvSpPr txBox="1"/>
          <p:nvPr/>
        </p:nvSpPr>
        <p:spPr>
          <a:xfrm>
            <a:off x="2375651" y="767906"/>
            <a:ext cx="193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+mj-lt"/>
                <a:cs typeface="Segoe UI Semibold" panose="020B0702040204020203" pitchFamily="34" charset="0"/>
              </a:rPr>
              <a:t>Database Design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163A9-9A52-1B51-4E9E-70171B3FFEAD}"/>
              </a:ext>
            </a:extLst>
          </p:cNvPr>
          <p:cNvSpPr txBox="1"/>
          <p:nvPr/>
        </p:nvSpPr>
        <p:spPr>
          <a:xfrm>
            <a:off x="1792946" y="1056372"/>
            <a:ext cx="2515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+mj-lt"/>
              </a:rPr>
              <a:t>To design a structured relational database for managing employee data.</a:t>
            </a:r>
            <a:endParaRPr lang="en-US" sz="1400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144C3-CD26-DEDA-38CB-61EB49305126}"/>
              </a:ext>
            </a:extLst>
          </p:cNvPr>
          <p:cNvSpPr txBox="1"/>
          <p:nvPr/>
        </p:nvSpPr>
        <p:spPr>
          <a:xfrm>
            <a:off x="1255052" y="2877435"/>
            <a:ext cx="1746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>
                <a:latin typeface="+mj-lt"/>
              </a:rPr>
              <a:t>Data 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BEEC64-F05E-FBE6-4586-74F70677D6D2}"/>
              </a:ext>
            </a:extLst>
          </p:cNvPr>
          <p:cNvSpPr txBox="1"/>
          <p:nvPr/>
        </p:nvSpPr>
        <p:spPr>
          <a:xfrm>
            <a:off x="485921" y="3165901"/>
            <a:ext cx="2515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+mj-lt"/>
              </a:rPr>
              <a:t>To design a structured relational database for managing employee data.</a:t>
            </a:r>
            <a:endParaRPr lang="en-US" sz="1400" b="1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FA0FA-4FC9-C069-10ED-222BE3F9D70B}"/>
              </a:ext>
            </a:extLst>
          </p:cNvPr>
          <p:cNvSpPr txBox="1"/>
          <p:nvPr/>
        </p:nvSpPr>
        <p:spPr>
          <a:xfrm>
            <a:off x="9197401" y="3067608"/>
            <a:ext cx="204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algn="l"/>
            <a:r>
              <a:rPr lang="en-US" dirty="0">
                <a:latin typeface="+mj-lt"/>
              </a:rPr>
              <a:t>Decision Support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828A7D-EB41-0E09-EFB8-A34B7E4815FD}"/>
              </a:ext>
            </a:extLst>
          </p:cNvPr>
          <p:cNvSpPr txBox="1"/>
          <p:nvPr/>
        </p:nvSpPr>
        <p:spPr>
          <a:xfrm>
            <a:off x="9190273" y="3356074"/>
            <a:ext cx="27238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support better decision-making through employee, salary, and payroll analysis.</a:t>
            </a:r>
            <a:endParaRPr lang="en-US" sz="1400" b="1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0DE859-5D5D-E1AA-3FEA-42DA184EB153}"/>
              </a:ext>
            </a:extLst>
          </p:cNvPr>
          <p:cNvSpPr txBox="1"/>
          <p:nvPr/>
        </p:nvSpPr>
        <p:spPr>
          <a:xfrm>
            <a:off x="7910842" y="5147419"/>
            <a:ext cx="2044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algn="l"/>
            <a:r>
              <a:rPr lang="en-US" dirty="0">
                <a:latin typeface="+mj-lt"/>
              </a:rPr>
              <a:t>Data Analysis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6BF975-6F36-A6B5-AEC0-287A3F2C1CB3}"/>
              </a:ext>
            </a:extLst>
          </p:cNvPr>
          <p:cNvSpPr txBox="1"/>
          <p:nvPr/>
        </p:nvSpPr>
        <p:spPr>
          <a:xfrm>
            <a:off x="7903714" y="5435885"/>
            <a:ext cx="25760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 perform data analysis using SQL queries for meaningful insights.</a:t>
            </a:r>
            <a:endParaRPr lang="en-US" sz="1400" b="1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51DA1D-6310-E906-07BA-A41C8FA5437C}"/>
              </a:ext>
            </a:extLst>
          </p:cNvPr>
          <p:cNvSpPr txBox="1"/>
          <p:nvPr/>
        </p:nvSpPr>
        <p:spPr>
          <a:xfrm>
            <a:off x="598122" y="5469794"/>
            <a:ext cx="3555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gradFill>
                  <a:gsLst>
                    <a:gs pos="0">
                      <a:schemeClr val="accent2">
                        <a:lumMod val="75000"/>
                        <a:alpha val="45000"/>
                      </a:schemeClr>
                    </a:gs>
                    <a:gs pos="77000">
                      <a:schemeClr val="accent2">
                        <a:lumMod val="75000"/>
                      </a:schemeClr>
                    </a:gs>
                    <a:gs pos="88000">
                      <a:schemeClr val="accent2">
                        <a:lumMod val="75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66063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7E06F6E-9173-FBA6-E074-55540997584A}"/>
              </a:ext>
            </a:extLst>
          </p:cNvPr>
          <p:cNvSpPr txBox="1"/>
          <p:nvPr/>
        </p:nvSpPr>
        <p:spPr>
          <a:xfrm>
            <a:off x="3759719" y="695831"/>
            <a:ext cx="4693920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Eras Bold ITC" panose="020B0907030504020204" pitchFamily="34" charset="0"/>
              </a:rPr>
              <a:t>DATASET OVERVIEW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029076-F1B8-11DE-CFF9-F91263610673}"/>
              </a:ext>
            </a:extLst>
          </p:cNvPr>
          <p:cNvGrpSpPr/>
          <p:nvPr/>
        </p:nvGrpSpPr>
        <p:grpSpPr>
          <a:xfrm>
            <a:off x="4185921" y="2271287"/>
            <a:ext cx="3959529" cy="509243"/>
            <a:chOff x="4320871" y="1831564"/>
            <a:chExt cx="3959529" cy="50924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9553BF0-EDD8-320B-ACC2-68F2E5EB4DA9}"/>
                </a:ext>
              </a:extLst>
            </p:cNvPr>
            <p:cNvSpPr/>
            <p:nvPr/>
          </p:nvSpPr>
          <p:spPr>
            <a:xfrm>
              <a:off x="4320871" y="1831564"/>
              <a:ext cx="3883282" cy="5092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C88FF9-EAD7-E45E-904B-E5B8C6DA6C90}"/>
                </a:ext>
              </a:extLst>
            </p:cNvPr>
            <p:cNvSpPr txBox="1"/>
            <p:nvPr/>
          </p:nvSpPr>
          <p:spPr>
            <a:xfrm>
              <a:off x="4340909" y="1869280"/>
              <a:ext cx="39394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Perpetua" panose="02020502060401020303" pitchFamily="18" charset="0"/>
                </a:rPr>
                <a:t>Employee Management System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BB66E92-9CAB-C3FE-7772-7DC5C6CC1F18}"/>
              </a:ext>
            </a:extLst>
          </p:cNvPr>
          <p:cNvSpPr txBox="1"/>
          <p:nvPr/>
        </p:nvSpPr>
        <p:spPr>
          <a:xfrm>
            <a:off x="1696720" y="2349643"/>
            <a:ext cx="23091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Perpetua" panose="02020502060401020303" pitchFamily="18" charset="0"/>
              </a:rPr>
              <a:t>Name of Dataset :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A69625-50E0-BDBA-24A0-4B6FAF035B57}"/>
              </a:ext>
            </a:extLst>
          </p:cNvPr>
          <p:cNvSpPr/>
          <p:nvPr/>
        </p:nvSpPr>
        <p:spPr>
          <a:xfrm>
            <a:off x="8249920" y="2519680"/>
            <a:ext cx="457200" cy="0"/>
          </a:xfrm>
          <a:custGeom>
            <a:avLst/>
            <a:gdLst>
              <a:gd name="csX0" fmla="*/ 0 w 457200"/>
              <a:gd name="csY0" fmla="*/ 0 h 10160"/>
              <a:gd name="csX1" fmla="*/ 457200 w 457200"/>
              <a:gd name="csY1" fmla="*/ 10160 h 10160"/>
              <a:gd name="csX2" fmla="*/ 457200 w 457200"/>
              <a:gd name="csY2" fmla="*/ 10160 h 10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0160">
                <a:moveTo>
                  <a:pt x="0" y="0"/>
                </a:moveTo>
                <a:lnTo>
                  <a:pt x="457200" y="10160"/>
                </a:lnTo>
                <a:lnTo>
                  <a:pt x="457200" y="10160"/>
                </a:ln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ABE57-A31D-2451-2062-ED0FC3240779}"/>
              </a:ext>
            </a:extLst>
          </p:cNvPr>
          <p:cNvSpPr txBox="1"/>
          <p:nvPr/>
        </p:nvSpPr>
        <p:spPr>
          <a:xfrm>
            <a:off x="8811590" y="2150348"/>
            <a:ext cx="2133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Perpetua" panose="02020502060401020303" pitchFamily="18" charset="0"/>
              </a:rPr>
              <a:t>Provided by:</a:t>
            </a:r>
          </a:p>
          <a:p>
            <a:pPr algn="ctr"/>
            <a:r>
              <a:rPr lang="en-US" sz="1400" b="1" dirty="0" err="1">
                <a:solidFill>
                  <a:srgbClr val="FF0000"/>
                </a:solidFill>
                <a:latin typeface="Perpetua" panose="02020502060401020303" pitchFamily="18" charset="0"/>
              </a:rPr>
              <a:t>Innomatics</a:t>
            </a:r>
            <a:r>
              <a:rPr lang="en-US" sz="1400" b="1" dirty="0">
                <a:solidFill>
                  <a:srgbClr val="FF0000"/>
                </a:solidFill>
                <a:latin typeface="Perpetua" panose="02020502060401020303" pitchFamily="18" charset="0"/>
              </a:rPr>
              <a:t> Research Lab </a:t>
            </a:r>
          </a:p>
          <a:p>
            <a:pPr algn="ctr"/>
            <a:r>
              <a:rPr lang="en-US" sz="1400" b="1" dirty="0">
                <a:latin typeface="Perpetua" panose="02020502060401020303" pitchFamily="18" charset="0"/>
              </a:rPr>
              <a:t>in CSV extension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5D80BD-0AE8-194A-769A-FEE720F8755D}"/>
              </a:ext>
            </a:extLst>
          </p:cNvPr>
          <p:cNvGrpSpPr/>
          <p:nvPr/>
        </p:nvGrpSpPr>
        <p:grpSpPr>
          <a:xfrm>
            <a:off x="5013960" y="3799840"/>
            <a:ext cx="2194560" cy="2194560"/>
            <a:chOff x="5013960" y="3799840"/>
            <a:chExt cx="2194560" cy="219456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0F5B0E-683E-2049-D965-2DB517B08A74}"/>
                </a:ext>
              </a:extLst>
            </p:cNvPr>
            <p:cNvSpPr/>
            <p:nvPr/>
          </p:nvSpPr>
          <p:spPr>
            <a:xfrm>
              <a:off x="5013960" y="3799840"/>
              <a:ext cx="2194560" cy="219456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B499E5-5D3A-679E-4B25-020956E808D2}"/>
                </a:ext>
              </a:extLst>
            </p:cNvPr>
            <p:cNvSpPr txBox="1"/>
            <p:nvPr/>
          </p:nvSpPr>
          <p:spPr>
            <a:xfrm>
              <a:off x="5333916" y="4573954"/>
              <a:ext cx="1581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CONTAINS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6 CSV FILES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E0E851-7832-CA34-5924-C6737284B29A}"/>
              </a:ext>
            </a:extLst>
          </p:cNvPr>
          <p:cNvGrpSpPr/>
          <p:nvPr/>
        </p:nvGrpSpPr>
        <p:grpSpPr>
          <a:xfrm>
            <a:off x="2387600" y="3799840"/>
            <a:ext cx="2021840" cy="430887"/>
            <a:chOff x="2387600" y="3799840"/>
            <a:chExt cx="2021840" cy="430887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B430923-47F3-C84D-FDAE-9941576930F8}"/>
                </a:ext>
              </a:extLst>
            </p:cNvPr>
            <p:cNvSpPr/>
            <p:nvPr/>
          </p:nvSpPr>
          <p:spPr>
            <a:xfrm>
              <a:off x="2387600" y="3799840"/>
              <a:ext cx="198120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6E0228-838E-8D1B-9AA2-EFB1D8702227}"/>
                </a:ext>
              </a:extLst>
            </p:cNvPr>
            <p:cNvSpPr txBox="1"/>
            <p:nvPr/>
          </p:nvSpPr>
          <p:spPr>
            <a:xfrm>
              <a:off x="2428240" y="3810446"/>
              <a:ext cx="19812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JobDepartment.csv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E1E0E6A-C830-1231-89CD-94F323963302}"/>
              </a:ext>
            </a:extLst>
          </p:cNvPr>
          <p:cNvGrpSpPr/>
          <p:nvPr/>
        </p:nvGrpSpPr>
        <p:grpSpPr>
          <a:xfrm>
            <a:off x="7871128" y="3808927"/>
            <a:ext cx="1820072" cy="430887"/>
            <a:chOff x="7871128" y="3808927"/>
            <a:chExt cx="1820072" cy="430887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7EB7AED-FE0F-958F-9860-9BB09D265062}"/>
                </a:ext>
              </a:extLst>
            </p:cNvPr>
            <p:cNvSpPr/>
            <p:nvPr/>
          </p:nvSpPr>
          <p:spPr>
            <a:xfrm>
              <a:off x="7871128" y="3808927"/>
              <a:ext cx="1820072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F4DCF3-2725-0448-15EA-3A19F3F2ADDF}"/>
                </a:ext>
              </a:extLst>
            </p:cNvPr>
            <p:cNvSpPr txBox="1"/>
            <p:nvPr/>
          </p:nvSpPr>
          <p:spPr>
            <a:xfrm>
              <a:off x="7911768" y="3819533"/>
              <a:ext cx="167837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Qualification.csv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5579CDA-1D02-39CA-E61F-9D96E9B7791E}"/>
              </a:ext>
            </a:extLst>
          </p:cNvPr>
          <p:cNvGrpSpPr/>
          <p:nvPr/>
        </p:nvGrpSpPr>
        <p:grpSpPr>
          <a:xfrm>
            <a:off x="1836000" y="4681675"/>
            <a:ext cx="1709840" cy="430887"/>
            <a:chOff x="1836000" y="4681675"/>
            <a:chExt cx="1709840" cy="43088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056C21E-3957-5ECD-6B78-1B04FC613250}"/>
                </a:ext>
              </a:extLst>
            </p:cNvPr>
            <p:cNvSpPr/>
            <p:nvPr/>
          </p:nvSpPr>
          <p:spPr>
            <a:xfrm>
              <a:off x="1836000" y="4681675"/>
              <a:ext cx="170984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F9DEF50-55CD-85F3-0DC8-76C732F94CE0}"/>
                </a:ext>
              </a:extLst>
            </p:cNvPr>
            <p:cNvSpPr txBox="1"/>
            <p:nvPr/>
          </p:nvSpPr>
          <p:spPr>
            <a:xfrm>
              <a:off x="1993972" y="4692281"/>
              <a:ext cx="142690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00" dirty="0">
                  <a:latin typeface="Perpetua" panose="02020502060401020303" pitchFamily="18" charset="0"/>
                </a:rPr>
                <a:t>Employee.csv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D1A5BC-B0A4-0A6C-C139-E806005FCFF1}"/>
              </a:ext>
            </a:extLst>
          </p:cNvPr>
          <p:cNvGrpSpPr/>
          <p:nvPr/>
        </p:nvGrpSpPr>
        <p:grpSpPr>
          <a:xfrm>
            <a:off x="2967918" y="5665425"/>
            <a:ext cx="1383433" cy="430887"/>
            <a:chOff x="2967918" y="5665425"/>
            <a:chExt cx="1383433" cy="43088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ACEBE32-DFA6-F4F5-0454-2044BCD3EAB6}"/>
                </a:ext>
              </a:extLst>
            </p:cNvPr>
            <p:cNvSpPr/>
            <p:nvPr/>
          </p:nvSpPr>
          <p:spPr>
            <a:xfrm>
              <a:off x="2967918" y="5665425"/>
              <a:ext cx="1383433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8A37CC4-68FB-C740-39AE-4DCAC6AA8F56}"/>
                </a:ext>
              </a:extLst>
            </p:cNvPr>
            <p:cNvSpPr txBox="1"/>
            <p:nvPr/>
          </p:nvSpPr>
          <p:spPr>
            <a:xfrm>
              <a:off x="3144610" y="5676031"/>
              <a:ext cx="112498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Leaves.csv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9DC223-015A-CA0E-C716-B43281CEDDC5}"/>
              </a:ext>
            </a:extLst>
          </p:cNvPr>
          <p:cNvGrpSpPr/>
          <p:nvPr/>
        </p:nvGrpSpPr>
        <p:grpSpPr>
          <a:xfrm>
            <a:off x="7911768" y="5652947"/>
            <a:ext cx="1383432" cy="430887"/>
            <a:chOff x="7911768" y="5652947"/>
            <a:chExt cx="1383432" cy="430887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10BC5A4-E546-AA63-39B4-0409AC8C125B}"/>
                </a:ext>
              </a:extLst>
            </p:cNvPr>
            <p:cNvSpPr/>
            <p:nvPr/>
          </p:nvSpPr>
          <p:spPr>
            <a:xfrm>
              <a:off x="7911768" y="5652947"/>
              <a:ext cx="1383432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15DEF2C-6B21-82A0-EE2C-8C1975A6CA59}"/>
                </a:ext>
              </a:extLst>
            </p:cNvPr>
            <p:cNvSpPr txBox="1"/>
            <p:nvPr/>
          </p:nvSpPr>
          <p:spPr>
            <a:xfrm>
              <a:off x="8010008" y="5663553"/>
              <a:ext cx="1214074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Payroll.csv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5AE4AB-B1EA-C8DF-AC57-9646E259825F}"/>
              </a:ext>
            </a:extLst>
          </p:cNvPr>
          <p:cNvGrpSpPr/>
          <p:nvPr/>
        </p:nvGrpSpPr>
        <p:grpSpPr>
          <a:xfrm>
            <a:off x="8453639" y="4681675"/>
            <a:ext cx="1981200" cy="430887"/>
            <a:chOff x="2387600" y="3799840"/>
            <a:chExt cx="1981200" cy="430887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0F624A7B-FF5F-6AD5-0244-4AC819BF13D3}"/>
                </a:ext>
              </a:extLst>
            </p:cNvPr>
            <p:cNvSpPr/>
            <p:nvPr/>
          </p:nvSpPr>
          <p:spPr>
            <a:xfrm>
              <a:off x="2387600" y="3799840"/>
              <a:ext cx="1981200" cy="43088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2ACC15-9162-1338-4B16-2461EF253DEF}"/>
                </a:ext>
              </a:extLst>
            </p:cNvPr>
            <p:cNvSpPr txBox="1"/>
            <p:nvPr/>
          </p:nvSpPr>
          <p:spPr>
            <a:xfrm>
              <a:off x="2471440" y="3810446"/>
              <a:ext cx="181852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Perpetua" panose="02020502060401020303" pitchFamily="18" charset="0"/>
                </a:rPr>
                <a:t>Salary_Bonus.csv</a:t>
              </a:r>
            </a:p>
          </p:txBody>
        </p:sp>
      </p:grp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B637541-1279-C09B-B4A4-CEC783F727AE}"/>
              </a:ext>
            </a:extLst>
          </p:cNvPr>
          <p:cNvSpPr/>
          <p:nvPr/>
        </p:nvSpPr>
        <p:spPr>
          <a:xfrm>
            <a:off x="4461386" y="4015248"/>
            <a:ext cx="759542" cy="298655"/>
          </a:xfrm>
          <a:custGeom>
            <a:avLst/>
            <a:gdLst>
              <a:gd name="csX0" fmla="*/ 0 w 759542"/>
              <a:gd name="csY0" fmla="*/ 0 h 298655"/>
              <a:gd name="csX1" fmla="*/ 342900 w 759542"/>
              <a:gd name="csY1" fmla="*/ 0 h 298655"/>
              <a:gd name="csX2" fmla="*/ 759542 w 759542"/>
              <a:gd name="csY2" fmla="*/ 298655 h 298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59542" h="298655">
                <a:moveTo>
                  <a:pt x="0" y="0"/>
                </a:moveTo>
                <a:lnTo>
                  <a:pt x="342900" y="0"/>
                </a:lnTo>
                <a:lnTo>
                  <a:pt x="759542" y="298655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A51351A-5F4B-41B2-6F72-43D395AEB24A}"/>
              </a:ext>
            </a:extLst>
          </p:cNvPr>
          <p:cNvSpPr/>
          <p:nvPr/>
        </p:nvSpPr>
        <p:spPr>
          <a:xfrm>
            <a:off x="3631789" y="4907526"/>
            <a:ext cx="1426907" cy="3687"/>
          </a:xfrm>
          <a:custGeom>
            <a:avLst/>
            <a:gdLst>
              <a:gd name="csX0" fmla="*/ 0 w 1426907"/>
              <a:gd name="csY0" fmla="*/ 0 h 3687"/>
              <a:gd name="csX1" fmla="*/ 1426907 w 1426907"/>
              <a:gd name="csY1" fmla="*/ 3687 h 3687"/>
              <a:gd name="csX2" fmla="*/ 1426907 w 1426907"/>
              <a:gd name="csY2" fmla="*/ 3687 h 3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26907" h="3687">
                <a:moveTo>
                  <a:pt x="0" y="0"/>
                </a:moveTo>
                <a:lnTo>
                  <a:pt x="1426907" y="3687"/>
                </a:lnTo>
                <a:lnTo>
                  <a:pt x="1426907" y="3687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A2593B3-8FD5-90FB-748C-E91E16AD8312}"/>
              </a:ext>
            </a:extLst>
          </p:cNvPr>
          <p:cNvSpPr/>
          <p:nvPr/>
        </p:nvSpPr>
        <p:spPr>
          <a:xfrm>
            <a:off x="4435576" y="5589639"/>
            <a:ext cx="866468" cy="309716"/>
          </a:xfrm>
          <a:custGeom>
            <a:avLst/>
            <a:gdLst>
              <a:gd name="csX0" fmla="*/ 0 w 866468"/>
              <a:gd name="csY0" fmla="*/ 306029 h 309716"/>
              <a:gd name="csX1" fmla="*/ 342900 w 866468"/>
              <a:gd name="csY1" fmla="*/ 309716 h 309716"/>
              <a:gd name="csX2" fmla="*/ 866468 w 866468"/>
              <a:gd name="csY2" fmla="*/ 0 h 309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6468" h="309716">
                <a:moveTo>
                  <a:pt x="0" y="306029"/>
                </a:moveTo>
                <a:lnTo>
                  <a:pt x="342900" y="309716"/>
                </a:lnTo>
                <a:lnTo>
                  <a:pt x="866468" y="0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98F8C20-EC68-1F3E-9409-A9EA6EB98EC5}"/>
              </a:ext>
            </a:extLst>
          </p:cNvPr>
          <p:cNvSpPr/>
          <p:nvPr/>
        </p:nvSpPr>
        <p:spPr>
          <a:xfrm>
            <a:off x="7023920" y="4033684"/>
            <a:ext cx="763229" cy="309716"/>
          </a:xfrm>
          <a:custGeom>
            <a:avLst/>
            <a:gdLst>
              <a:gd name="csX0" fmla="*/ 0 w 763229"/>
              <a:gd name="csY0" fmla="*/ 309716 h 309716"/>
              <a:gd name="csX1" fmla="*/ 283907 w 763229"/>
              <a:gd name="csY1" fmla="*/ 11061 h 309716"/>
              <a:gd name="csX2" fmla="*/ 763229 w 763229"/>
              <a:gd name="csY2" fmla="*/ 0 h 309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3229" h="309716">
                <a:moveTo>
                  <a:pt x="0" y="309716"/>
                </a:moveTo>
                <a:lnTo>
                  <a:pt x="283907" y="11061"/>
                </a:lnTo>
                <a:lnTo>
                  <a:pt x="763229" y="0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44E3DE5-1662-9155-CE15-7D9C8E994481}"/>
              </a:ext>
            </a:extLst>
          </p:cNvPr>
          <p:cNvSpPr/>
          <p:nvPr/>
        </p:nvSpPr>
        <p:spPr>
          <a:xfrm>
            <a:off x="7164030" y="4896464"/>
            <a:ext cx="1213055" cy="0"/>
          </a:xfrm>
          <a:custGeom>
            <a:avLst/>
            <a:gdLst>
              <a:gd name="csX0" fmla="*/ 0 w 1213055"/>
              <a:gd name="csY0" fmla="*/ 0 h 18436"/>
              <a:gd name="csX1" fmla="*/ 1213055 w 1213055"/>
              <a:gd name="csY1" fmla="*/ 18436 h 18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13055" h="18436">
                <a:moveTo>
                  <a:pt x="0" y="0"/>
                </a:moveTo>
                <a:lnTo>
                  <a:pt x="1213055" y="18436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089DAE3-671E-D5E8-9D97-644261CB2A6A}"/>
              </a:ext>
            </a:extLst>
          </p:cNvPr>
          <p:cNvSpPr/>
          <p:nvPr/>
        </p:nvSpPr>
        <p:spPr>
          <a:xfrm>
            <a:off x="6891185" y="5630197"/>
            <a:ext cx="925461" cy="250722"/>
          </a:xfrm>
          <a:custGeom>
            <a:avLst/>
            <a:gdLst>
              <a:gd name="csX0" fmla="*/ 0 w 925461"/>
              <a:gd name="csY0" fmla="*/ 0 h 250722"/>
              <a:gd name="csX1" fmla="*/ 464574 w 925461"/>
              <a:gd name="csY1" fmla="*/ 250722 h 250722"/>
              <a:gd name="csX2" fmla="*/ 925461 w 925461"/>
              <a:gd name="csY2" fmla="*/ 250722 h 25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25461" h="250722">
                <a:moveTo>
                  <a:pt x="0" y="0"/>
                </a:moveTo>
                <a:lnTo>
                  <a:pt x="464574" y="250722"/>
                </a:lnTo>
                <a:lnTo>
                  <a:pt x="925461" y="250722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7714ADF-234F-25F6-34D5-BE08ED3B6449}"/>
              </a:ext>
            </a:extLst>
          </p:cNvPr>
          <p:cNvSpPr/>
          <p:nvPr/>
        </p:nvSpPr>
        <p:spPr>
          <a:xfrm flipH="1">
            <a:off x="6095881" y="2779200"/>
            <a:ext cx="0" cy="1029727"/>
          </a:xfrm>
          <a:custGeom>
            <a:avLst/>
            <a:gdLst>
              <a:gd name="csX0" fmla="*/ 0 w 0"/>
              <a:gd name="csY0" fmla="*/ 0 h 1008000"/>
              <a:gd name="csX1" fmla="*/ 0 w 0"/>
              <a:gd name="csY1" fmla="*/ 1008000 h 100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008000">
                <a:moveTo>
                  <a:pt x="0" y="0"/>
                </a:moveTo>
                <a:lnTo>
                  <a:pt x="0" y="100800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5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/>
      <p:bldP spid="27" grpId="0" animBg="1"/>
      <p:bldP spid="28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051955-DDBB-A7F1-B6EF-27F273ED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77" y="1210234"/>
            <a:ext cx="4663844" cy="2575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489AC-99B5-32AD-08EA-018C421943E7}"/>
              </a:ext>
            </a:extLst>
          </p:cNvPr>
          <p:cNvSpPr txBox="1"/>
          <p:nvPr/>
        </p:nvSpPr>
        <p:spPr>
          <a:xfrm>
            <a:off x="3362885" y="3802491"/>
            <a:ext cx="5466229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WORKBENCH</a:t>
            </a:r>
          </a:p>
          <a:p>
            <a:pPr algn="ctr"/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INTERFACE OVERVIEW</a:t>
            </a:r>
          </a:p>
        </p:txBody>
      </p:sp>
    </p:spTree>
    <p:extLst>
      <p:ext uri="{BB962C8B-B14F-4D97-AF65-F5344CB8AC3E}">
        <p14:creationId xmlns:p14="http://schemas.microsoft.com/office/powerpoint/2010/main" val="286347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3FEA28-213E-41B9-B027-C2091325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78BE02-93F9-13A4-7A07-68ECD11E12C7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90C4B-1737-2027-653E-3AF90F14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8CC61-4EED-B9F6-FD33-CB670A4899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453050-46C1-868B-17F9-0306FAF5D5AC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18057C1-72AE-8C74-4573-F5A372794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494" y="1100371"/>
            <a:ext cx="8315755" cy="3776430"/>
          </a:xfrm>
          <a:prstGeom prst="rect">
            <a:avLst/>
          </a:prstGeom>
          <a:ln w="1905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8D760-ADD4-AC72-8482-3C16AA500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495" y="2937199"/>
            <a:ext cx="8315754" cy="2053901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B21287-BFCB-A2C7-8F6F-1EAA71893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494" y="5026976"/>
            <a:ext cx="10506506" cy="1507174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227574-440E-DB35-FA7E-53F26E37007A}"/>
              </a:ext>
            </a:extLst>
          </p:cNvPr>
          <p:cNvSpPr/>
          <p:nvPr/>
        </p:nvSpPr>
        <p:spPr>
          <a:xfrm>
            <a:off x="1676615" y="1091493"/>
            <a:ext cx="8324634" cy="3776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533707-C45B-CBD4-664D-C0C280D03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" t="13473" r="86520" b="40833"/>
          <a:stretch>
            <a:fillRect/>
          </a:stretch>
        </p:blipFill>
        <p:spPr>
          <a:xfrm>
            <a:off x="42137" y="923925"/>
            <a:ext cx="1601255" cy="31337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572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05327-D553-C9EC-E4F5-A691672E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9BA1A-D231-2C18-00C3-BB91C786FB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5F1310-F169-2B6D-282D-C3E0F1004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494" y="1100371"/>
            <a:ext cx="8315755" cy="3776430"/>
          </a:xfrm>
          <a:prstGeom prst="rect">
            <a:avLst/>
          </a:prstGeom>
          <a:ln w="19050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00CF3F-C2CB-FD8A-908D-3CDC13980935}"/>
              </a:ext>
            </a:extLst>
          </p:cNvPr>
          <p:cNvSpPr/>
          <p:nvPr/>
        </p:nvSpPr>
        <p:spPr>
          <a:xfrm>
            <a:off x="0" y="6534151"/>
            <a:ext cx="12192000" cy="323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87FEF7-1336-90E0-4E12-028E18B04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495" y="2937199"/>
            <a:ext cx="8315754" cy="2053901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1D47275-61B2-2E22-934B-FC72D0763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494" y="5026976"/>
            <a:ext cx="10506506" cy="1507174"/>
          </a:xfrm>
          <a:prstGeom prst="rect">
            <a:avLst/>
          </a:prstGeom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85C44F-E06B-D1E2-5234-6567A9E8A3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" t="13473" r="86520" b="40833"/>
          <a:stretch>
            <a:fillRect/>
          </a:stretch>
        </p:blipFill>
        <p:spPr>
          <a:xfrm>
            <a:off x="42137" y="923925"/>
            <a:ext cx="1601255" cy="3133726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162522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CFC436F9-3EBD-896C-B56E-D3C925CD05F3}"/>
              </a:ext>
            </a:extLst>
          </p:cNvPr>
          <p:cNvGrpSpPr/>
          <p:nvPr/>
        </p:nvGrpSpPr>
        <p:grpSpPr>
          <a:xfrm>
            <a:off x="845364" y="517047"/>
            <a:ext cx="2847235" cy="2385952"/>
            <a:chOff x="845364" y="517047"/>
            <a:chExt cx="2847235" cy="238595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0AF766-87C6-7098-709D-646FC5AF70EC}"/>
                </a:ext>
              </a:extLst>
            </p:cNvPr>
            <p:cNvSpPr/>
            <p:nvPr/>
          </p:nvSpPr>
          <p:spPr>
            <a:xfrm>
              <a:off x="929972" y="517047"/>
              <a:ext cx="2674361" cy="2385952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45ABEEE-A9BB-734D-CF89-6E9D19858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2213"/>
            <a:stretch>
              <a:fillRect/>
            </a:stretch>
          </p:blipFill>
          <p:spPr>
            <a:xfrm>
              <a:off x="1082945" y="1299107"/>
              <a:ext cx="2463471" cy="1369520"/>
            </a:xfrm>
            <a:prstGeom prst="rect">
              <a:avLst/>
            </a:prstGeom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B5D8E2-5227-42EF-4983-EE468870BFAE}"/>
                </a:ext>
              </a:extLst>
            </p:cNvPr>
            <p:cNvSpPr/>
            <p:nvPr/>
          </p:nvSpPr>
          <p:spPr>
            <a:xfrm>
              <a:off x="929972" y="517047"/>
              <a:ext cx="2674361" cy="555948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9FC043-86F5-2866-F793-890479ABE0DF}"/>
                </a:ext>
              </a:extLst>
            </p:cNvPr>
            <p:cNvSpPr txBox="1"/>
            <p:nvPr/>
          </p:nvSpPr>
          <p:spPr>
            <a:xfrm>
              <a:off x="845364" y="589379"/>
              <a:ext cx="284723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Eras Bold ITC" panose="020B0907030504020204" pitchFamily="34" charset="0"/>
                </a:rPr>
                <a:t>T-01: </a:t>
              </a:r>
              <a:r>
                <a:rPr lang="en-US" sz="1500" dirty="0" err="1">
                  <a:latin typeface="Eras Bold ITC" panose="020B0907030504020204" pitchFamily="34" charset="0"/>
                </a:rPr>
                <a:t>JobDepartment</a:t>
              </a:r>
              <a:endParaRPr lang="en-US" sz="1500" dirty="0">
                <a:latin typeface="Eras Bold ITC" panose="020B0907030504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3F9FEA-3F96-A2D4-ED9B-FA8F8D7F209C}"/>
              </a:ext>
            </a:extLst>
          </p:cNvPr>
          <p:cNvGrpSpPr/>
          <p:nvPr/>
        </p:nvGrpSpPr>
        <p:grpSpPr>
          <a:xfrm>
            <a:off x="4675502" y="218397"/>
            <a:ext cx="2791330" cy="2303130"/>
            <a:chOff x="4542339" y="218397"/>
            <a:chExt cx="3110912" cy="252262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731818D-99F9-2333-7E03-B090C23C5257}"/>
                </a:ext>
              </a:extLst>
            </p:cNvPr>
            <p:cNvSpPr/>
            <p:nvPr/>
          </p:nvSpPr>
          <p:spPr>
            <a:xfrm>
              <a:off x="4542339" y="218397"/>
              <a:ext cx="3110911" cy="2522623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7167F68-32C7-ECED-F52A-A0E009030315}"/>
                </a:ext>
              </a:extLst>
            </p:cNvPr>
            <p:cNvSpPr/>
            <p:nvPr/>
          </p:nvSpPr>
          <p:spPr>
            <a:xfrm>
              <a:off x="4542341" y="218397"/>
              <a:ext cx="3110910" cy="523782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864188-F5E1-68B6-01B6-082F8BC8C077}"/>
                </a:ext>
              </a:extLst>
            </p:cNvPr>
            <p:cNvSpPr txBox="1"/>
            <p:nvPr/>
          </p:nvSpPr>
          <p:spPr>
            <a:xfrm>
              <a:off x="4897511" y="300515"/>
              <a:ext cx="2272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T-02: </a:t>
              </a:r>
              <a:r>
                <a:rPr lang="en-US" dirty="0" err="1"/>
                <a:t>SalaryBonus</a:t>
              </a:r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5F15D6-9424-2099-DB4D-7FD681D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3799"/>
            <a:stretch>
              <a:fillRect/>
            </a:stretch>
          </p:blipFill>
          <p:spPr>
            <a:xfrm>
              <a:off x="4711018" y="914322"/>
              <a:ext cx="2769963" cy="177561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6E5657-E08E-7967-ED3E-6AA5E7994999}"/>
              </a:ext>
            </a:extLst>
          </p:cNvPr>
          <p:cNvGrpSpPr/>
          <p:nvPr/>
        </p:nvGrpSpPr>
        <p:grpSpPr>
          <a:xfrm>
            <a:off x="8662721" y="715828"/>
            <a:ext cx="2955365" cy="2743157"/>
            <a:chOff x="8662721" y="715828"/>
            <a:chExt cx="2955365" cy="274315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A272BD4-3DB7-940B-DEFB-5298A9216FC6}"/>
                </a:ext>
              </a:extLst>
            </p:cNvPr>
            <p:cNvSpPr/>
            <p:nvPr/>
          </p:nvSpPr>
          <p:spPr>
            <a:xfrm>
              <a:off x="8662722" y="715828"/>
              <a:ext cx="2955364" cy="2743157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A33BC28-49FE-BA56-1DFD-6934DBC6D116}"/>
                </a:ext>
              </a:extLst>
            </p:cNvPr>
            <p:cNvSpPr/>
            <p:nvPr/>
          </p:nvSpPr>
          <p:spPr>
            <a:xfrm>
              <a:off x="8662721" y="715829"/>
              <a:ext cx="2955363" cy="461280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7A16ED-2FBD-2DE4-A589-B1E4BEFC6AF7}"/>
                </a:ext>
              </a:extLst>
            </p:cNvPr>
            <p:cNvSpPr txBox="1"/>
            <p:nvPr/>
          </p:nvSpPr>
          <p:spPr>
            <a:xfrm>
              <a:off x="9165537" y="778911"/>
              <a:ext cx="1949730" cy="325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T-03: Employee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BC54C7-5E01-8865-C723-F70F87671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2889"/>
            <a:stretch>
              <a:fillRect/>
            </a:stretch>
          </p:blipFill>
          <p:spPr>
            <a:xfrm>
              <a:off x="8850822" y="1356493"/>
              <a:ext cx="2597466" cy="202240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EB9D9A-2CA8-43DD-6E0D-25CE4BA53889}"/>
              </a:ext>
            </a:extLst>
          </p:cNvPr>
          <p:cNvGrpSpPr/>
          <p:nvPr/>
        </p:nvGrpSpPr>
        <p:grpSpPr>
          <a:xfrm>
            <a:off x="8333101" y="4063444"/>
            <a:ext cx="2962873" cy="2332617"/>
            <a:chOff x="8333101" y="4063444"/>
            <a:chExt cx="2962873" cy="2332617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DFA05B8-3918-338E-1C57-323A7EDA8543}"/>
                </a:ext>
              </a:extLst>
            </p:cNvPr>
            <p:cNvSpPr/>
            <p:nvPr/>
          </p:nvSpPr>
          <p:spPr>
            <a:xfrm>
              <a:off x="8333102" y="4063444"/>
              <a:ext cx="2962872" cy="2265746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682E212-977D-17C2-72CA-87714D4D54A2}"/>
                </a:ext>
              </a:extLst>
            </p:cNvPr>
            <p:cNvSpPr/>
            <p:nvPr/>
          </p:nvSpPr>
          <p:spPr>
            <a:xfrm>
              <a:off x="8333101" y="4063444"/>
              <a:ext cx="2962871" cy="556954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A47321-ADC5-7AF7-E22F-7347DC10628E}"/>
                </a:ext>
              </a:extLst>
            </p:cNvPr>
            <p:cNvSpPr txBox="1"/>
            <p:nvPr/>
          </p:nvSpPr>
          <p:spPr>
            <a:xfrm>
              <a:off x="8632799" y="4176181"/>
              <a:ext cx="2279417" cy="3231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T-04: Qualification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2C40E3-ED0A-A2FD-AE3E-85EB34710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0805"/>
            <a:stretch>
              <a:fillRect/>
            </a:stretch>
          </p:blipFill>
          <p:spPr>
            <a:xfrm>
              <a:off x="8358865" y="4755063"/>
              <a:ext cx="2933493" cy="164099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37ED0C-05DD-B0DF-66E1-E6A22D268D6E}"/>
              </a:ext>
            </a:extLst>
          </p:cNvPr>
          <p:cNvGrpSpPr/>
          <p:nvPr/>
        </p:nvGrpSpPr>
        <p:grpSpPr>
          <a:xfrm>
            <a:off x="4563011" y="4436308"/>
            <a:ext cx="2770650" cy="2130798"/>
            <a:chOff x="4563011" y="4436308"/>
            <a:chExt cx="2770650" cy="213079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A86E006-ACDD-28D7-07E2-FF798C23F8D5}"/>
                </a:ext>
              </a:extLst>
            </p:cNvPr>
            <p:cNvSpPr/>
            <p:nvPr/>
          </p:nvSpPr>
          <p:spPr>
            <a:xfrm>
              <a:off x="4563011" y="4436308"/>
              <a:ext cx="2770650" cy="2130798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DB1059B-00AC-A8B3-7C52-687F198E5320}"/>
                </a:ext>
              </a:extLst>
            </p:cNvPr>
            <p:cNvSpPr/>
            <p:nvPr/>
          </p:nvSpPr>
          <p:spPr>
            <a:xfrm>
              <a:off x="4563011" y="4436308"/>
              <a:ext cx="2770650" cy="523782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7C01EC-9135-617F-BB50-18AD9F264D2A}"/>
                </a:ext>
              </a:extLst>
            </p:cNvPr>
            <p:cNvSpPr txBox="1"/>
            <p:nvPr/>
          </p:nvSpPr>
          <p:spPr>
            <a:xfrm>
              <a:off x="4744291" y="4513533"/>
              <a:ext cx="242326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T-05: Leaves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AC1B4B-FC51-2316-812A-9EA837BC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0683"/>
            <a:stretch>
              <a:fillRect/>
            </a:stretch>
          </p:blipFill>
          <p:spPr>
            <a:xfrm>
              <a:off x="4631073" y="5106940"/>
              <a:ext cx="2587464" cy="14046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9E67D9-E5C5-08F2-999B-9F6C190EAB0D}"/>
              </a:ext>
            </a:extLst>
          </p:cNvPr>
          <p:cNvGrpSpPr/>
          <p:nvPr/>
        </p:nvGrpSpPr>
        <p:grpSpPr>
          <a:xfrm>
            <a:off x="550286" y="3737338"/>
            <a:ext cx="3082332" cy="2556930"/>
            <a:chOff x="550286" y="3737338"/>
            <a:chExt cx="3082332" cy="25569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9561EDB-7036-08E1-0E6E-BE161711EADC}"/>
                </a:ext>
              </a:extLst>
            </p:cNvPr>
            <p:cNvSpPr/>
            <p:nvPr/>
          </p:nvSpPr>
          <p:spPr>
            <a:xfrm>
              <a:off x="550286" y="3737338"/>
              <a:ext cx="3082332" cy="2556930"/>
            </a:xfrm>
            <a:prstGeom prst="roundRect">
              <a:avLst>
                <a:gd name="adj" fmla="val 3410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38100" dir="5400000" sx="97000" sy="9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86DEB37-6991-F40D-0FBC-FC862E91967E}"/>
                </a:ext>
              </a:extLst>
            </p:cNvPr>
            <p:cNvSpPr/>
            <p:nvPr/>
          </p:nvSpPr>
          <p:spPr>
            <a:xfrm>
              <a:off x="550286" y="3737338"/>
              <a:ext cx="3082331" cy="488188"/>
            </a:xfrm>
            <a:prstGeom prst="roundRect">
              <a:avLst>
                <a:gd name="adj" fmla="val 3410"/>
              </a:avLst>
            </a:prstGeom>
            <a:solidFill>
              <a:srgbClr val="FBF1E9"/>
            </a:solidFill>
            <a:ln>
              <a:noFill/>
            </a:ln>
            <a:effectLst>
              <a:outerShdw blurRad="1397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7BF017-CA4C-CA2A-9AEC-59601BD87014}"/>
                </a:ext>
              </a:extLst>
            </p:cNvPr>
            <p:cNvSpPr txBox="1"/>
            <p:nvPr/>
          </p:nvSpPr>
          <p:spPr>
            <a:xfrm>
              <a:off x="918443" y="3820159"/>
              <a:ext cx="21529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500">
                  <a:latin typeface="Eras Bold ITC" panose="020B0907030504020204" pitchFamily="34" charset="0"/>
                </a:defRPr>
              </a:lvl1pPr>
            </a:lstStyle>
            <a:p>
              <a:r>
                <a:rPr lang="en-US" dirty="0"/>
                <a:t>T-06: Payroll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97C408-F82E-E843-8B08-DCA96FDB3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229" y="4487191"/>
              <a:ext cx="2951705" cy="177478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1ADC10-82DA-F2E5-F578-EF0E24AE692F}"/>
              </a:ext>
            </a:extLst>
          </p:cNvPr>
          <p:cNvGrpSpPr/>
          <p:nvPr/>
        </p:nvGrpSpPr>
        <p:grpSpPr>
          <a:xfrm>
            <a:off x="4380567" y="2949690"/>
            <a:ext cx="3431781" cy="1113754"/>
            <a:chOff x="4380567" y="2949690"/>
            <a:chExt cx="3431781" cy="111375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D120A28-7FFC-2AD6-B5E1-ED7C12D1DC22}"/>
                </a:ext>
              </a:extLst>
            </p:cNvPr>
            <p:cNvSpPr/>
            <p:nvPr/>
          </p:nvSpPr>
          <p:spPr>
            <a:xfrm>
              <a:off x="4498019" y="2949690"/>
              <a:ext cx="3204840" cy="1000878"/>
            </a:xfrm>
            <a:prstGeom prst="roundRect">
              <a:avLst>
                <a:gd name="adj" fmla="val 13757"/>
              </a:avLst>
            </a:prstGeom>
            <a:noFill/>
            <a:ln w="19050">
              <a:solidFill>
                <a:schemeClr val="tx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38178A-7AF0-CDC5-7FB0-940D16F7A56D}"/>
                </a:ext>
              </a:extLst>
            </p:cNvPr>
            <p:cNvGrpSpPr/>
            <p:nvPr/>
          </p:nvGrpSpPr>
          <p:grpSpPr>
            <a:xfrm>
              <a:off x="4492129" y="3386905"/>
              <a:ext cx="3213718" cy="676539"/>
              <a:chOff x="4489141" y="3085062"/>
              <a:chExt cx="3213717" cy="67653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DA9A18-5544-8DA4-64D3-6EB64E390A17}"/>
                  </a:ext>
                </a:extLst>
              </p:cNvPr>
              <p:cNvSpPr/>
              <p:nvPr/>
            </p:nvSpPr>
            <p:spPr>
              <a:xfrm>
                <a:off x="4489141" y="3085062"/>
                <a:ext cx="3213717" cy="67653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F3F8B-B4FF-EEE6-AD3C-4B0EA0F6BE0B}"/>
                  </a:ext>
                </a:extLst>
              </p:cNvPr>
              <p:cNvSpPr txBox="1"/>
              <p:nvPr/>
            </p:nvSpPr>
            <p:spPr>
              <a:xfrm>
                <a:off x="4653874" y="3198167"/>
                <a:ext cx="30489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CREATE DATABASE </a:t>
                </a:r>
                <a:r>
                  <a:rPr lang="en-US" sz="1200" b="1" dirty="0" err="1">
                    <a:solidFill>
                      <a:schemeClr val="bg1"/>
                    </a:solidFill>
                  </a:rPr>
                  <a:t>employee_management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;</a:t>
                </a:r>
              </a:p>
              <a:p>
                <a:r>
                  <a:rPr lang="en-US" sz="12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USE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b="1" dirty="0" err="1">
                    <a:solidFill>
                      <a:schemeClr val="bg1"/>
                    </a:solidFill>
                  </a:rPr>
                  <a:t>employee_management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;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B4CCFB6-25AD-A98E-9184-B8D1E9CC98A7}"/>
                </a:ext>
              </a:extLst>
            </p:cNvPr>
            <p:cNvSpPr txBox="1"/>
            <p:nvPr/>
          </p:nvSpPr>
          <p:spPr>
            <a:xfrm>
              <a:off x="4380567" y="3022026"/>
              <a:ext cx="3431781" cy="31547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50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DATABASE &amp; TABLES CREATION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38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7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8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5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16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19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0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2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accel="63333" fill="hold" nodeType="withEffect" p14:presetBounceEnd="3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667">
                                          <p:cBhvr additive="base">
                                            <p:cTn id="27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667">
                                          <p:cBhvr additive="base">
                                            <p:cTn id="28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6" accel="63333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DF06-BF70-4D83-A1A3-F1F28FCE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5A581B3-9EC5-D9A2-A0D0-3284BF425C93}"/>
              </a:ext>
            </a:extLst>
          </p:cNvPr>
          <p:cNvSpPr txBox="1"/>
          <p:nvPr/>
        </p:nvSpPr>
        <p:spPr>
          <a:xfrm>
            <a:off x="3545591" y="366647"/>
            <a:ext cx="5100818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TABLE DATA LOADING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0284DC-AAB1-2E15-2ED4-08EDD4963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09" y="1748957"/>
            <a:ext cx="4558272" cy="1341167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A1283BF-9134-248E-0103-227825149D71}"/>
              </a:ext>
            </a:extLst>
          </p:cNvPr>
          <p:cNvGrpSpPr/>
          <p:nvPr/>
        </p:nvGrpSpPr>
        <p:grpSpPr>
          <a:xfrm>
            <a:off x="7240637" y="2506583"/>
            <a:ext cx="3212379" cy="410898"/>
            <a:chOff x="6846017" y="2294594"/>
            <a:chExt cx="3212379" cy="41089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2ECA237-AB47-0D01-5C41-47A7BF859009}"/>
                </a:ext>
              </a:extLst>
            </p:cNvPr>
            <p:cNvSpPr/>
            <p:nvPr/>
          </p:nvSpPr>
          <p:spPr>
            <a:xfrm>
              <a:off x="6846017" y="2294594"/>
              <a:ext cx="3073462" cy="41089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548013F-0489-EA9A-73C1-80762B49B247}"/>
                </a:ext>
              </a:extLst>
            </p:cNvPr>
            <p:cNvSpPr txBox="1"/>
            <p:nvPr/>
          </p:nvSpPr>
          <p:spPr>
            <a:xfrm>
              <a:off x="6908768" y="2347820"/>
              <a:ext cx="3149628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5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SELECT * FROM </a:t>
              </a:r>
              <a:r>
                <a:rPr lang="en-US" sz="1450" b="1" dirty="0" err="1">
                  <a:solidFill>
                    <a:schemeClr val="bg1"/>
                  </a:solidFill>
                </a:rPr>
                <a:t>SalaryBonus</a:t>
              </a:r>
              <a:r>
                <a:rPr lang="en-US" sz="145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 LIMIT 5;</a:t>
              </a:r>
              <a:endParaRPr lang="en-US" sz="145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2204FC0-B465-E61B-EAAE-F8F4E85EDADE}"/>
              </a:ext>
            </a:extLst>
          </p:cNvPr>
          <p:cNvSpPr/>
          <p:nvPr/>
        </p:nvSpPr>
        <p:spPr>
          <a:xfrm>
            <a:off x="5576389" y="2435497"/>
            <a:ext cx="1676632" cy="274785"/>
          </a:xfrm>
          <a:custGeom>
            <a:avLst/>
            <a:gdLst>
              <a:gd name="csX0" fmla="*/ 0 w 1676632"/>
              <a:gd name="csY0" fmla="*/ 0 h 274785"/>
              <a:gd name="csX1" fmla="*/ 1676632 w 1676632"/>
              <a:gd name="csY1" fmla="*/ 274785 h 27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76632" h="274785">
                <a:moveTo>
                  <a:pt x="0" y="0"/>
                </a:moveTo>
                <a:lnTo>
                  <a:pt x="1676632" y="27478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F0BB5A-5860-E02A-D42E-94014AC35AF5}"/>
              </a:ext>
            </a:extLst>
          </p:cNvPr>
          <p:cNvSpPr/>
          <p:nvPr/>
        </p:nvSpPr>
        <p:spPr>
          <a:xfrm>
            <a:off x="8890907" y="2857502"/>
            <a:ext cx="8164" cy="1592036"/>
          </a:xfrm>
          <a:custGeom>
            <a:avLst/>
            <a:gdLst>
              <a:gd name="csX0" fmla="*/ 8164 w 8164"/>
              <a:gd name="csY0" fmla="*/ 0 h 1592036"/>
              <a:gd name="csX1" fmla="*/ 0 w 8164"/>
              <a:gd name="csY1" fmla="*/ 1592036 h 1592036"/>
              <a:gd name="csX2" fmla="*/ 0 w 8164"/>
              <a:gd name="csY2" fmla="*/ 1592036 h 1592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64" h="1592036">
                <a:moveTo>
                  <a:pt x="8164" y="0"/>
                </a:moveTo>
                <a:cubicBezTo>
                  <a:pt x="5443" y="530679"/>
                  <a:pt x="2721" y="1061357"/>
                  <a:pt x="0" y="1592036"/>
                </a:cubicBezTo>
                <a:lnTo>
                  <a:pt x="0" y="1592036"/>
                </a:ln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1FA614-AC78-D9C8-3EF7-B71A26BD30F7}"/>
              </a:ext>
            </a:extLst>
          </p:cNvPr>
          <p:cNvGrpSpPr/>
          <p:nvPr/>
        </p:nvGrpSpPr>
        <p:grpSpPr>
          <a:xfrm>
            <a:off x="6717706" y="4343876"/>
            <a:ext cx="4553238" cy="1548385"/>
            <a:chOff x="6717706" y="4343876"/>
            <a:chExt cx="4553238" cy="154838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D2F09C-768C-89FB-7377-383600907153}"/>
                </a:ext>
              </a:extLst>
            </p:cNvPr>
            <p:cNvSpPr/>
            <p:nvPr/>
          </p:nvSpPr>
          <p:spPr>
            <a:xfrm>
              <a:off x="8787488" y="4343876"/>
              <a:ext cx="206837" cy="2242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B046D04-14B3-B91D-44EB-98711F9CE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640" r="1899" b="1261"/>
            <a:stretch>
              <a:fillRect/>
            </a:stretch>
          </p:blipFill>
          <p:spPr>
            <a:xfrm>
              <a:off x="6717706" y="4551094"/>
              <a:ext cx="4553238" cy="134116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39700" dist="38100" dir="5400000" algn="t" rotWithShape="0">
                <a:prstClr val="black">
                  <a:alpha val="36000"/>
                </a:prstClr>
              </a:outerShdw>
            </a:effectLst>
          </p:spPr>
        </p:pic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21018D62-72E9-DE63-8A60-B9101D05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573" y="3574660"/>
            <a:ext cx="4545074" cy="2877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</a:t>
            </a:r>
            <a:r>
              <a:rPr kumimoji="0" lang="en-US" altLang="en-US" sz="11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Prepare CSV Files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all dataset files (Employee,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SalaryBonus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 are in CSV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Place Files in MySQL Directory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CSV files to the MySQL secure upload folder (e.g.,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Uploads folder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Use LOAD DATA INFILE Command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LOAD DATA INFILE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 INTO TABLE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Define File Format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FIELDS TERMINATED BY ','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LINES TERMINATED BY '\n'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IGNORE 1 ROWS;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Verify Data Load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* FROM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table_name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confirm successful data import.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  <p:bldP spid="3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563C4-3B9A-03BB-DB64-805EF7834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67" y="609514"/>
            <a:ext cx="5883150" cy="1981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74EF5-F14C-1FB1-0535-B2C86C359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441" y="632376"/>
            <a:ext cx="3139712" cy="1958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DE1332-1AD3-8F8E-25F8-B583916B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9" y="2590886"/>
            <a:ext cx="6569009" cy="1996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18DEA-39DE-1993-E3E2-42D7A65FB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176" y="2568024"/>
            <a:ext cx="4534293" cy="1905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0E906C-28F6-B7E0-BDEF-078BBCF28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43" y="4610361"/>
            <a:ext cx="2987299" cy="19889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D96FC4-4842-7E01-8EE9-52FD566647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238" y="4617981"/>
            <a:ext cx="5121084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96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0657-30B5-1173-8C2C-52949382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D8035-0576-F3C2-C4F6-507FA2FB1522}"/>
              </a:ext>
            </a:extLst>
          </p:cNvPr>
          <p:cNvSpPr txBox="1"/>
          <p:nvPr/>
        </p:nvSpPr>
        <p:spPr>
          <a:xfrm>
            <a:off x="4517475" y="246190"/>
            <a:ext cx="3157050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DATA TABLES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804A51-C17E-A38D-2460-2CD966481F38}"/>
              </a:ext>
            </a:extLst>
          </p:cNvPr>
          <p:cNvGrpSpPr/>
          <p:nvPr/>
        </p:nvGrpSpPr>
        <p:grpSpPr>
          <a:xfrm>
            <a:off x="1240855" y="1234762"/>
            <a:ext cx="3701543" cy="1458638"/>
            <a:chOff x="1240855" y="1239787"/>
            <a:chExt cx="3701543" cy="14586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2828A9-2B0C-E664-F6F7-A487DCA4E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3470" y="1501398"/>
              <a:ext cx="3548928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939300-F996-6955-BF3A-88F1B394F226}"/>
                </a:ext>
              </a:extLst>
            </p:cNvPr>
            <p:cNvSpPr txBox="1"/>
            <p:nvPr/>
          </p:nvSpPr>
          <p:spPr>
            <a:xfrm>
              <a:off x="1240855" y="1239787"/>
              <a:ext cx="1576318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</a:t>
              </a:r>
              <a:r>
                <a:rPr lang="en-US" sz="1100" b="1" i="1" dirty="0" err="1"/>
                <a:t>JobDepartment</a:t>
              </a:r>
              <a:endParaRPr lang="en-US" sz="1100" b="1" i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4A8DBA-7E47-900A-F91A-2AE08E5B2497}"/>
              </a:ext>
            </a:extLst>
          </p:cNvPr>
          <p:cNvGrpSpPr/>
          <p:nvPr/>
        </p:nvGrpSpPr>
        <p:grpSpPr>
          <a:xfrm>
            <a:off x="6723982" y="1229738"/>
            <a:ext cx="4074547" cy="1468687"/>
            <a:chOff x="6723982" y="1229737"/>
            <a:chExt cx="4074547" cy="146868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3D83F-94D0-F671-75BF-2228F392E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6114" y="1501397"/>
              <a:ext cx="3932415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D4BEE3-6CB5-0FDD-E430-894BA6899C1D}"/>
                </a:ext>
              </a:extLst>
            </p:cNvPr>
            <p:cNvSpPr txBox="1"/>
            <p:nvPr/>
          </p:nvSpPr>
          <p:spPr>
            <a:xfrm>
              <a:off x="6723982" y="1229737"/>
              <a:ext cx="1216733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Employee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99BF94-C648-6FCE-DBE9-B1EA568ED86C}"/>
              </a:ext>
            </a:extLst>
          </p:cNvPr>
          <p:cNvGrpSpPr/>
          <p:nvPr/>
        </p:nvGrpSpPr>
        <p:grpSpPr>
          <a:xfrm>
            <a:off x="1284083" y="3098085"/>
            <a:ext cx="2954047" cy="1481386"/>
            <a:chOff x="1284083" y="3072666"/>
            <a:chExt cx="2954047" cy="14813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E14BCF-64D2-F0F5-32A0-EADEE70C0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470" y="3357025"/>
              <a:ext cx="2844660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5C041A-393A-7C86-9987-5621804297B4}"/>
                </a:ext>
              </a:extLst>
            </p:cNvPr>
            <p:cNvSpPr txBox="1"/>
            <p:nvPr/>
          </p:nvSpPr>
          <p:spPr>
            <a:xfrm>
              <a:off x="1284083" y="3072666"/>
              <a:ext cx="1399919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Qualification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BF6999-B7E4-6F0C-BCE3-89F8CC2310A6}"/>
              </a:ext>
            </a:extLst>
          </p:cNvPr>
          <p:cNvGrpSpPr/>
          <p:nvPr/>
        </p:nvGrpSpPr>
        <p:grpSpPr>
          <a:xfrm>
            <a:off x="6768075" y="3103395"/>
            <a:ext cx="3202652" cy="1470767"/>
            <a:chOff x="6768075" y="3134124"/>
            <a:chExt cx="3202652" cy="147076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A188CA0-6D38-0B53-849C-1896D529B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6114" y="3401901"/>
              <a:ext cx="3104613" cy="120299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E621C8-0142-50D1-A518-2A9C1F80B6A6}"/>
                </a:ext>
              </a:extLst>
            </p:cNvPr>
            <p:cNvSpPr txBox="1"/>
            <p:nvPr/>
          </p:nvSpPr>
          <p:spPr>
            <a:xfrm>
              <a:off x="6768075" y="3134124"/>
              <a:ext cx="986732" cy="26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Payroll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BFF5B4-629A-6C32-EE9A-B4FAB782E093}"/>
              </a:ext>
            </a:extLst>
          </p:cNvPr>
          <p:cNvGrpSpPr/>
          <p:nvPr/>
        </p:nvGrpSpPr>
        <p:grpSpPr>
          <a:xfrm>
            <a:off x="1240855" y="4809000"/>
            <a:ext cx="2068711" cy="1467516"/>
            <a:chOff x="1240855" y="4809000"/>
            <a:chExt cx="2068711" cy="14675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852371-0018-1B53-1050-A58973861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3470" y="5079489"/>
              <a:ext cx="1916096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FF9768-114B-C2AF-3253-39B20FAD852C}"/>
                </a:ext>
              </a:extLst>
            </p:cNvPr>
            <p:cNvSpPr txBox="1"/>
            <p:nvPr/>
          </p:nvSpPr>
          <p:spPr>
            <a:xfrm>
              <a:off x="1240855" y="4809000"/>
              <a:ext cx="1399919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</a:t>
              </a:r>
              <a:r>
                <a:rPr lang="en-US" sz="1100" b="1" i="1" dirty="0" err="1"/>
                <a:t>SalaryBonus</a:t>
              </a:r>
              <a:endParaRPr lang="en-US" sz="1100" b="1" i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62ED3C-CD84-25A8-BB37-5B29D19388D4}"/>
              </a:ext>
            </a:extLst>
          </p:cNvPr>
          <p:cNvGrpSpPr/>
          <p:nvPr/>
        </p:nvGrpSpPr>
        <p:grpSpPr>
          <a:xfrm>
            <a:off x="6759114" y="4813440"/>
            <a:ext cx="1902143" cy="1458637"/>
            <a:chOff x="6759114" y="4817878"/>
            <a:chExt cx="1902143" cy="14586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7593D2-4E05-99FD-FDBF-260B02326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66114" y="5079488"/>
              <a:ext cx="1795143" cy="11970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BC8A2F-7AD6-94E6-3E2F-17EB97793A1C}"/>
                </a:ext>
              </a:extLst>
            </p:cNvPr>
            <p:cNvSpPr txBox="1"/>
            <p:nvPr/>
          </p:nvSpPr>
          <p:spPr>
            <a:xfrm>
              <a:off x="6759114" y="4817878"/>
              <a:ext cx="986435" cy="2616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1" dirty="0"/>
                <a:t>Table: Leaves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18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934EC-FD49-5BB3-B44A-683742CF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55" y="1398088"/>
            <a:ext cx="5621237" cy="4782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BC7FD-8752-7DB4-1894-5DDCD21DFDF9}"/>
              </a:ext>
            </a:extLst>
          </p:cNvPr>
          <p:cNvSpPr txBox="1"/>
          <p:nvPr/>
        </p:nvSpPr>
        <p:spPr>
          <a:xfrm>
            <a:off x="6640946" y="2019496"/>
            <a:ext cx="5080000" cy="309315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ER Diagram Observations:</a:t>
            </a:r>
          </a:p>
          <a:p>
            <a:endParaRPr lang="en-US" sz="15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system consists of </a:t>
            </a:r>
            <a:r>
              <a:rPr lang="en-US" sz="1500" b="1" dirty="0">
                <a:latin typeface="+mj-lt"/>
              </a:rPr>
              <a:t>6 interconnected tables</a:t>
            </a:r>
            <a:r>
              <a:rPr lang="en-US" sz="1500" dirty="0">
                <a:latin typeface="+mj-lt"/>
              </a:rPr>
              <a:t>, forming a complete relational structure for employee management.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Employee table acts as a central entity</a:t>
            </a:r>
            <a:r>
              <a:rPr lang="en-US" sz="1500" dirty="0">
                <a:latin typeface="+mj-lt"/>
              </a:rPr>
              <a:t>, connected with Qualification, Leaves, and Payroll tables.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The </a:t>
            </a:r>
            <a:r>
              <a:rPr lang="en-US" sz="1500" b="1" dirty="0">
                <a:latin typeface="+mj-lt"/>
              </a:rPr>
              <a:t>Payroll table serves as a hub</a:t>
            </a:r>
            <a:r>
              <a:rPr lang="en-US" sz="1500" dirty="0">
                <a:latin typeface="+mj-lt"/>
              </a:rPr>
              <a:t>, integrating employee, job, salary, and leave data for final calculations. </a:t>
            </a:r>
          </a:p>
          <a:p>
            <a:endParaRPr lang="en-US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Proper use of </a:t>
            </a:r>
            <a:r>
              <a:rPr lang="en-US" sz="1500" b="1" dirty="0">
                <a:latin typeface="+mj-lt"/>
              </a:rPr>
              <a:t>primary keys and foreign keys</a:t>
            </a:r>
            <a:r>
              <a:rPr lang="en-US" sz="1500" dirty="0">
                <a:latin typeface="+mj-lt"/>
              </a:rPr>
              <a:t> ensures data integrity and maintains relationships between tables.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11100-0648-5BBB-CF48-42A148E83356}"/>
              </a:ext>
            </a:extLst>
          </p:cNvPr>
          <p:cNvSpPr txBox="1"/>
          <p:nvPr/>
        </p:nvSpPr>
        <p:spPr>
          <a:xfrm>
            <a:off x="4608359" y="385278"/>
            <a:ext cx="2975282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ER DIAGRAM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9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817B-BB10-D712-A926-6B9377B8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E0F5FF0-6AFF-447D-1C7B-891F162FA5AA}"/>
              </a:ext>
            </a:extLst>
          </p:cNvPr>
          <p:cNvSpPr txBox="1"/>
          <p:nvPr/>
        </p:nvSpPr>
        <p:spPr>
          <a:xfrm>
            <a:off x="4292723" y="377798"/>
            <a:ext cx="3825365" cy="58477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Eras Bold ITC" panose="020B0907030504020204" pitchFamily="34" charset="0"/>
              </a:rPr>
              <a:t>DATA CLEANING</a:t>
            </a:r>
            <a:endParaRPr lang="en-US" sz="3200" dirty="0">
              <a:solidFill>
                <a:schemeClr val="tx2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190F55-82B3-6CDB-3BCA-9C5065E741FA}"/>
              </a:ext>
            </a:extLst>
          </p:cNvPr>
          <p:cNvGrpSpPr/>
          <p:nvPr/>
        </p:nvGrpSpPr>
        <p:grpSpPr>
          <a:xfrm>
            <a:off x="1510894" y="1267108"/>
            <a:ext cx="3151943" cy="2550802"/>
            <a:chOff x="1510894" y="1267108"/>
            <a:chExt cx="3151943" cy="255080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F8CFFA7-A0CF-E99E-778B-B75C1C6F57C9}"/>
                </a:ext>
              </a:extLst>
            </p:cNvPr>
            <p:cNvSpPr/>
            <p:nvPr/>
          </p:nvSpPr>
          <p:spPr>
            <a:xfrm>
              <a:off x="1890717" y="1392711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E2ED3C-4C6F-FE95-0790-2CE18E1575C2}"/>
                </a:ext>
              </a:extLst>
            </p:cNvPr>
            <p:cNvSpPr txBox="1"/>
            <p:nvPr/>
          </p:nvSpPr>
          <p:spPr>
            <a:xfrm>
              <a:off x="1988375" y="1363808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Understanding Data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6671545-F92F-1DDB-A527-9E66ACA970E2}"/>
                </a:ext>
              </a:extLst>
            </p:cNvPr>
            <p:cNvSpPr/>
            <p:nvPr/>
          </p:nvSpPr>
          <p:spPr>
            <a:xfrm>
              <a:off x="1510894" y="1275339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DBFB9A-E309-0258-5B2B-7E0746FF57AB}"/>
                </a:ext>
              </a:extLst>
            </p:cNvPr>
            <p:cNvSpPr txBox="1"/>
            <p:nvPr/>
          </p:nvSpPr>
          <p:spPr>
            <a:xfrm>
              <a:off x="1565411" y="1267108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1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4F0EB7-4576-AD8A-35C3-9BA3CFE62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0344" y="2011165"/>
              <a:ext cx="2674462" cy="512527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CB2076-1F83-13F9-287F-E2135D3F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5919" y="2659570"/>
              <a:ext cx="2674462" cy="11583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AA296D2-2D55-D8D6-E128-30FD47F1C3B8}"/>
              </a:ext>
            </a:extLst>
          </p:cNvPr>
          <p:cNvGrpSpPr/>
          <p:nvPr/>
        </p:nvGrpSpPr>
        <p:grpSpPr>
          <a:xfrm>
            <a:off x="7547949" y="1346363"/>
            <a:ext cx="3263387" cy="2471547"/>
            <a:chOff x="7547949" y="1346363"/>
            <a:chExt cx="3263387" cy="247154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7BA428A-79FC-56E7-89B1-AF3BFD65D049}"/>
                </a:ext>
              </a:extLst>
            </p:cNvPr>
            <p:cNvSpPr/>
            <p:nvPr/>
          </p:nvSpPr>
          <p:spPr>
            <a:xfrm>
              <a:off x="7927772" y="1471966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CBA4955-DEEB-AD71-E97D-3817DD6B3494}"/>
                </a:ext>
              </a:extLst>
            </p:cNvPr>
            <p:cNvSpPr txBox="1"/>
            <p:nvPr/>
          </p:nvSpPr>
          <p:spPr>
            <a:xfrm>
              <a:off x="8025430" y="1443063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Checking Data Types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CDA825-7558-A23F-E4DB-6CC7E7D134DC}"/>
                </a:ext>
              </a:extLst>
            </p:cNvPr>
            <p:cNvSpPr/>
            <p:nvPr/>
          </p:nvSpPr>
          <p:spPr>
            <a:xfrm>
              <a:off x="7547949" y="1354594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8693217-D904-7313-8022-F32C0F88AFBC}"/>
                </a:ext>
              </a:extLst>
            </p:cNvPr>
            <p:cNvSpPr txBox="1"/>
            <p:nvPr/>
          </p:nvSpPr>
          <p:spPr>
            <a:xfrm>
              <a:off x="7602466" y="1346363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2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07BF350-AC3F-4963-CBA9-EA897958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6874" y="2056569"/>
              <a:ext cx="2563018" cy="531707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CE8FA34-D1BE-7658-3ABD-EEFCE7565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6874" y="2801633"/>
              <a:ext cx="2674462" cy="10162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7FC7703-9411-5803-C950-73FA556E5596}"/>
              </a:ext>
            </a:extLst>
          </p:cNvPr>
          <p:cNvGrpSpPr/>
          <p:nvPr/>
        </p:nvGrpSpPr>
        <p:grpSpPr>
          <a:xfrm>
            <a:off x="1510894" y="4064758"/>
            <a:ext cx="3151944" cy="2461969"/>
            <a:chOff x="1510894" y="4064758"/>
            <a:chExt cx="3151944" cy="2461969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9E93883-B0E0-5A64-5F9D-C11167E8F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26911" y="4757336"/>
              <a:ext cx="2635926" cy="1265030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9D03496-5F20-8107-AEF4-6CA5A334776C}"/>
                </a:ext>
              </a:extLst>
            </p:cNvPr>
            <p:cNvSpPr/>
            <p:nvPr/>
          </p:nvSpPr>
          <p:spPr>
            <a:xfrm>
              <a:off x="1890717" y="4190361"/>
              <a:ext cx="2710788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4B899E-6C22-81AC-AD97-5901A813C9DC}"/>
                </a:ext>
              </a:extLst>
            </p:cNvPr>
            <p:cNvSpPr txBox="1"/>
            <p:nvPr/>
          </p:nvSpPr>
          <p:spPr>
            <a:xfrm>
              <a:off x="1988375" y="4161458"/>
              <a:ext cx="2674462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Checking Null Values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83AA3A7-9A4B-4859-341A-60CFA5366BA9}"/>
                </a:ext>
              </a:extLst>
            </p:cNvPr>
            <p:cNvSpPr/>
            <p:nvPr/>
          </p:nvSpPr>
          <p:spPr>
            <a:xfrm>
              <a:off x="1510894" y="4072989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F25599A-9588-5F80-5C4A-A6F19EEF51A2}"/>
                </a:ext>
              </a:extLst>
            </p:cNvPr>
            <p:cNvSpPr txBox="1"/>
            <p:nvPr/>
          </p:nvSpPr>
          <p:spPr>
            <a:xfrm>
              <a:off x="1565411" y="4064758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3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BAD357E-5BA2-C649-6F73-A28BDD23F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26912" y="6168556"/>
              <a:ext cx="2635926" cy="3581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E476864-FE0A-1537-107B-B3C8EEADD669}"/>
              </a:ext>
            </a:extLst>
          </p:cNvPr>
          <p:cNvGrpSpPr/>
          <p:nvPr/>
        </p:nvGrpSpPr>
        <p:grpSpPr>
          <a:xfrm>
            <a:off x="7547949" y="4164685"/>
            <a:ext cx="3263386" cy="2035241"/>
            <a:chOff x="7547949" y="4164685"/>
            <a:chExt cx="3263386" cy="2035241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23C944E-292E-A6D3-80C4-B344F8F8EF56}"/>
                </a:ext>
              </a:extLst>
            </p:cNvPr>
            <p:cNvSpPr/>
            <p:nvPr/>
          </p:nvSpPr>
          <p:spPr>
            <a:xfrm>
              <a:off x="7927772" y="4290288"/>
              <a:ext cx="2883563" cy="329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74EE036-AB05-6153-BD45-BFE276EF6581}"/>
                </a:ext>
              </a:extLst>
            </p:cNvPr>
            <p:cNvSpPr txBox="1"/>
            <p:nvPr/>
          </p:nvSpPr>
          <p:spPr>
            <a:xfrm>
              <a:off x="8079936" y="4270247"/>
              <a:ext cx="2731399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Cleaning Space &amp; Mail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B29781-2F03-83DA-2C38-92FB28E14F90}"/>
                </a:ext>
              </a:extLst>
            </p:cNvPr>
            <p:cNvSpPr/>
            <p:nvPr/>
          </p:nvSpPr>
          <p:spPr>
            <a:xfrm>
              <a:off x="7547949" y="4172916"/>
              <a:ext cx="502920" cy="5048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27E294F-94E8-BE0F-3EC7-7EEA4715635C}"/>
                </a:ext>
              </a:extLst>
            </p:cNvPr>
            <p:cNvSpPr txBox="1"/>
            <p:nvPr/>
          </p:nvSpPr>
          <p:spPr>
            <a:xfrm>
              <a:off x="7602466" y="4164685"/>
              <a:ext cx="3506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Eras Bold ITC" panose="020B0907030504020204" pitchFamily="34" charset="0"/>
                </a:rPr>
                <a:t>4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F21A923-E0E2-64E6-3905-A14E8C16C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75410" y="4908260"/>
              <a:ext cx="2524482" cy="502964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36BBAB8-B881-1D25-1C66-FF2C6E2D6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69833" y="5689342"/>
              <a:ext cx="2530059" cy="510584"/>
            </a:xfrm>
            <a:prstGeom prst="rect">
              <a:avLst/>
            </a:prstGeom>
            <a:ln>
              <a:noFill/>
            </a:ln>
            <a:effectLst>
              <a:outerShdw blurRad="1524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23495B9-2C2D-4F6B-E02F-3998DD000271}"/>
              </a:ext>
            </a:extLst>
          </p:cNvPr>
          <p:cNvGrpSpPr/>
          <p:nvPr/>
        </p:nvGrpSpPr>
        <p:grpSpPr>
          <a:xfrm>
            <a:off x="5610687" y="3424353"/>
            <a:ext cx="1044134" cy="968080"/>
            <a:chOff x="5610687" y="3424353"/>
            <a:chExt cx="1044134" cy="96808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BF965F0-4F1F-D6D9-1B08-EF829F259113}"/>
                </a:ext>
              </a:extLst>
            </p:cNvPr>
            <p:cNvSpPr/>
            <p:nvPr/>
          </p:nvSpPr>
          <p:spPr>
            <a:xfrm>
              <a:off x="5610687" y="3424353"/>
              <a:ext cx="1044134" cy="9680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B49E3A-6D9E-EC81-CC57-E8A90E53B4C5}"/>
                </a:ext>
              </a:extLst>
            </p:cNvPr>
            <p:cNvSpPr txBox="1"/>
            <p:nvPr/>
          </p:nvSpPr>
          <p:spPr>
            <a:xfrm>
              <a:off x="5704588" y="3728892"/>
              <a:ext cx="83609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Steps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0416B41-D9ED-3B00-06BB-692078C1A599}"/>
              </a:ext>
            </a:extLst>
          </p:cNvPr>
          <p:cNvSpPr/>
          <p:nvPr/>
        </p:nvSpPr>
        <p:spPr>
          <a:xfrm>
            <a:off x="4873841" y="2388095"/>
            <a:ext cx="1077158" cy="1158340"/>
          </a:xfrm>
          <a:custGeom>
            <a:avLst/>
            <a:gdLst>
              <a:gd name="csX0" fmla="*/ 0 w 1044134"/>
              <a:gd name="csY0" fmla="*/ 0 h 639192"/>
              <a:gd name="csX1" fmla="*/ 887767 w 1044134"/>
              <a:gd name="csY1" fmla="*/ 115410 h 639192"/>
              <a:gd name="csX2" fmla="*/ 1038687 w 1044134"/>
              <a:gd name="csY2" fmla="*/ 639192 h 6391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4134" h="639192">
                <a:moveTo>
                  <a:pt x="0" y="0"/>
                </a:moveTo>
                <a:cubicBezTo>
                  <a:pt x="357326" y="4439"/>
                  <a:pt x="714653" y="8878"/>
                  <a:pt x="887767" y="115410"/>
                </a:cubicBezTo>
                <a:cubicBezTo>
                  <a:pt x="1060881" y="221942"/>
                  <a:pt x="1049784" y="430567"/>
                  <a:pt x="1038687" y="639192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4233CE1-ACC7-DCF3-CC48-3A6BCD0E40BD}"/>
              </a:ext>
            </a:extLst>
          </p:cNvPr>
          <p:cNvSpPr/>
          <p:nvPr/>
        </p:nvSpPr>
        <p:spPr>
          <a:xfrm>
            <a:off x="6241002" y="2308195"/>
            <a:ext cx="1500325" cy="1238240"/>
          </a:xfrm>
          <a:custGeom>
            <a:avLst/>
            <a:gdLst>
              <a:gd name="csX0" fmla="*/ 1500326 w 1500326"/>
              <a:gd name="csY0" fmla="*/ 0 h 683580"/>
              <a:gd name="csX1" fmla="*/ 266330 w 1500326"/>
              <a:gd name="csY1" fmla="*/ 124287 h 683580"/>
              <a:gd name="csX2" fmla="*/ 0 w 1500326"/>
              <a:gd name="csY2" fmla="*/ 683580 h 683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0326" h="683580">
                <a:moveTo>
                  <a:pt x="1500326" y="0"/>
                </a:moveTo>
                <a:cubicBezTo>
                  <a:pt x="1008355" y="5178"/>
                  <a:pt x="516384" y="10357"/>
                  <a:pt x="266330" y="124287"/>
                </a:cubicBezTo>
                <a:cubicBezTo>
                  <a:pt x="16276" y="238217"/>
                  <a:pt x="8138" y="460898"/>
                  <a:pt x="0" y="68358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3417D1F-F652-1E1C-D9D7-F92BE1CDD42D}"/>
              </a:ext>
            </a:extLst>
          </p:cNvPr>
          <p:cNvSpPr/>
          <p:nvPr/>
        </p:nvSpPr>
        <p:spPr>
          <a:xfrm>
            <a:off x="4882718" y="4332302"/>
            <a:ext cx="1038688" cy="1145219"/>
          </a:xfrm>
          <a:custGeom>
            <a:avLst/>
            <a:gdLst>
              <a:gd name="csX0" fmla="*/ 1038688 w 1038688"/>
              <a:gd name="csY0" fmla="*/ 0 h 1145219"/>
              <a:gd name="csX1" fmla="*/ 701336 w 1038688"/>
              <a:gd name="csY1" fmla="*/ 932155 h 1145219"/>
              <a:gd name="csX2" fmla="*/ 0 w 1038688"/>
              <a:gd name="csY2" fmla="*/ 1145219 h 1145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8688" h="1145219">
                <a:moveTo>
                  <a:pt x="1038688" y="0"/>
                </a:moveTo>
                <a:cubicBezTo>
                  <a:pt x="956569" y="370642"/>
                  <a:pt x="874451" y="741285"/>
                  <a:pt x="701336" y="932155"/>
                </a:cubicBezTo>
                <a:cubicBezTo>
                  <a:pt x="528221" y="1123025"/>
                  <a:pt x="264110" y="1134122"/>
                  <a:pt x="0" y="1145219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B8F9F0D-D062-5A63-D052-FE337796139D}"/>
              </a:ext>
            </a:extLst>
          </p:cNvPr>
          <p:cNvSpPr/>
          <p:nvPr/>
        </p:nvSpPr>
        <p:spPr>
          <a:xfrm>
            <a:off x="6312023" y="4358936"/>
            <a:ext cx="1562470" cy="1113049"/>
          </a:xfrm>
          <a:custGeom>
            <a:avLst/>
            <a:gdLst>
              <a:gd name="csX0" fmla="*/ 0 w 1562470"/>
              <a:gd name="csY0" fmla="*/ 0 h 1113049"/>
              <a:gd name="csX1" fmla="*/ 408373 w 1562470"/>
              <a:gd name="csY1" fmla="*/ 941033 h 1113049"/>
              <a:gd name="csX2" fmla="*/ 1562470 w 1562470"/>
              <a:gd name="csY2" fmla="*/ 1109709 h 1113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62470" h="1113049">
                <a:moveTo>
                  <a:pt x="0" y="0"/>
                </a:moveTo>
                <a:cubicBezTo>
                  <a:pt x="73980" y="378041"/>
                  <a:pt x="147961" y="756082"/>
                  <a:pt x="408373" y="941033"/>
                </a:cubicBezTo>
                <a:cubicBezTo>
                  <a:pt x="668785" y="1125984"/>
                  <a:pt x="1115627" y="1117846"/>
                  <a:pt x="1562470" y="1109709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0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2" grpId="0" animBg="1"/>
      <p:bldP spid="64" grpId="0" animBg="1"/>
      <p:bldP spid="68" grpId="0" animBg="1"/>
      <p:bldP spid="7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66B5DE6-F44B-B4FA-BBED-A2005977DE4E}"/>
              </a:ext>
            </a:extLst>
          </p:cNvPr>
          <p:cNvSpPr/>
          <p:nvPr/>
        </p:nvSpPr>
        <p:spPr>
          <a:xfrm rot="6189383">
            <a:off x="2260274" y="1527307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CE276A7-20F6-45D0-D26A-7A6C323895B3}"/>
              </a:ext>
            </a:extLst>
          </p:cNvPr>
          <p:cNvSpPr/>
          <p:nvPr/>
        </p:nvSpPr>
        <p:spPr>
          <a:xfrm rot="6024253">
            <a:off x="3846692" y="2115311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B06E95E-CEBB-0560-2C74-A15C9E79E735}"/>
              </a:ext>
            </a:extLst>
          </p:cNvPr>
          <p:cNvSpPr/>
          <p:nvPr/>
        </p:nvSpPr>
        <p:spPr>
          <a:xfrm rot="5400000">
            <a:off x="5740316" y="2333183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912CE93-6F31-78C4-5F13-08AE8C19F7C1}"/>
              </a:ext>
            </a:extLst>
          </p:cNvPr>
          <p:cNvSpPr/>
          <p:nvPr/>
        </p:nvSpPr>
        <p:spPr>
          <a:xfrm rot="4066885">
            <a:off x="7693416" y="2047665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089E001-4E6F-7A59-5E55-EA4885DDECA5}"/>
              </a:ext>
            </a:extLst>
          </p:cNvPr>
          <p:cNvSpPr/>
          <p:nvPr/>
        </p:nvSpPr>
        <p:spPr>
          <a:xfrm rot="4308596">
            <a:off x="9439815" y="1286356"/>
            <a:ext cx="812069" cy="1132835"/>
          </a:xfrm>
          <a:prstGeom prst="triangle">
            <a:avLst>
              <a:gd name="adj" fmla="val 51360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524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F4A26D-DD96-425E-10E4-2A03788BAD4F}"/>
              </a:ext>
            </a:extLst>
          </p:cNvPr>
          <p:cNvSpPr/>
          <p:nvPr/>
        </p:nvSpPr>
        <p:spPr>
          <a:xfrm>
            <a:off x="1602658" y="2786268"/>
            <a:ext cx="8986684" cy="1136804"/>
          </a:xfrm>
          <a:custGeom>
            <a:avLst/>
            <a:gdLst>
              <a:gd name="csX0" fmla="*/ 0 w 9802761"/>
              <a:gd name="csY0" fmla="*/ 9832 h 1425679"/>
              <a:gd name="csX1" fmla="*/ 5004619 w 9802761"/>
              <a:gd name="csY1" fmla="*/ 1425677 h 1425679"/>
              <a:gd name="csX2" fmla="*/ 9802761 w 9802761"/>
              <a:gd name="csY2" fmla="*/ 0 h 142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02761" h="1425679">
                <a:moveTo>
                  <a:pt x="0" y="9832"/>
                </a:moveTo>
                <a:cubicBezTo>
                  <a:pt x="1685413" y="718574"/>
                  <a:pt x="3370826" y="1427316"/>
                  <a:pt x="5004619" y="1425677"/>
                </a:cubicBezTo>
                <a:cubicBezTo>
                  <a:pt x="6638412" y="1424038"/>
                  <a:pt x="8220586" y="712019"/>
                  <a:pt x="9802761" y="0"/>
                </a:cubicBezTo>
              </a:path>
            </a:pathLst>
          </a:custGeom>
          <a:noFill/>
          <a:ln>
            <a:solidFill>
              <a:schemeClr val="tx1"/>
            </a:solidFill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96803-E091-E454-D345-89AA0D81914B}"/>
              </a:ext>
            </a:extLst>
          </p:cNvPr>
          <p:cNvSpPr txBox="1"/>
          <p:nvPr/>
        </p:nvSpPr>
        <p:spPr>
          <a:xfrm>
            <a:off x="3845714" y="883709"/>
            <a:ext cx="4508849" cy="707886"/>
          </a:xfrm>
          <a:prstGeom prst="rect">
            <a:avLst/>
          </a:prstGeom>
          <a:noFill/>
          <a:ln w="28575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4000" b="1" dirty="0">
                <a:ln>
                  <a:solidFill>
                    <a:srgbClr val="C00000"/>
                  </a:solidFill>
                </a:ln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21000">
                      <a:schemeClr val="accent2">
                        <a:lumMod val="95000"/>
                        <a:lumOff val="5000"/>
                      </a:schemeClr>
                    </a:gs>
                    <a:gs pos="100000">
                      <a:srgbClr val="7030A0"/>
                    </a:gs>
                  </a:gsLst>
                  <a:path path="circle">
                    <a:fillToRect l="50000" t="130000" r="50000" b="-30000"/>
                  </a:path>
                </a:gradFill>
                <a:latin typeface="Eras Bold ITC" panose="020B0907030504020204" pitchFamily="34" charset="0"/>
              </a:rPr>
              <a:t>DATA ANALYSIS</a:t>
            </a:r>
            <a:endParaRPr lang="en-US" sz="4000" dirty="0">
              <a:ln>
                <a:solidFill>
                  <a:srgbClr val="C00000"/>
                </a:solidFill>
              </a:ln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21000">
                    <a:schemeClr val="accent2">
                      <a:lumMod val="95000"/>
                      <a:lumOff val="5000"/>
                    </a:schemeClr>
                  </a:gs>
                  <a:gs pos="100000">
                    <a:srgbClr val="7030A0"/>
                  </a:gs>
                </a:gsLst>
                <a:path path="circle">
                  <a:fillToRect l="50000" t="130000" r="50000" b="-30000"/>
                </a:path>
              </a:gradFill>
              <a:latin typeface="Eras Bold ITC" panose="020B0907030504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2618DB-AD09-7355-C2A8-A9E883AB34B3}"/>
              </a:ext>
            </a:extLst>
          </p:cNvPr>
          <p:cNvGrpSpPr/>
          <p:nvPr/>
        </p:nvGrpSpPr>
        <p:grpSpPr>
          <a:xfrm>
            <a:off x="1030586" y="3647372"/>
            <a:ext cx="1738277" cy="1125441"/>
            <a:chOff x="1030586" y="3647372"/>
            <a:chExt cx="1738277" cy="11254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615BD0-929F-C41D-6492-4A9EF2A318C0}"/>
                </a:ext>
              </a:extLst>
            </p:cNvPr>
            <p:cNvSpPr txBox="1"/>
            <p:nvPr/>
          </p:nvSpPr>
          <p:spPr>
            <a:xfrm>
              <a:off x="1105411" y="364737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SECTION-01: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11D3A8-4350-2905-7FB4-ED0478EA725E}"/>
                </a:ext>
              </a:extLst>
            </p:cNvPr>
            <p:cNvSpPr txBox="1"/>
            <p:nvPr/>
          </p:nvSpPr>
          <p:spPr>
            <a:xfrm>
              <a:off x="1030586" y="4047482"/>
              <a:ext cx="1738277" cy="725331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5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EMPLOYEE</a:t>
              </a:r>
            </a:p>
            <a:p>
              <a:pPr algn="ctr"/>
              <a:r>
                <a:rPr lang="en-US" sz="205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INSIGHTS</a:t>
              </a:r>
              <a:endParaRPr lang="en-US" sz="2050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5FFBF6-94C5-42C4-23E5-7355C80F5C58}"/>
              </a:ext>
            </a:extLst>
          </p:cNvPr>
          <p:cNvGrpSpPr/>
          <p:nvPr/>
        </p:nvGrpSpPr>
        <p:grpSpPr>
          <a:xfrm>
            <a:off x="2821855" y="4439322"/>
            <a:ext cx="2084438" cy="1231107"/>
            <a:chOff x="2821855" y="4439322"/>
            <a:chExt cx="2084438" cy="123110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C1F1E6-3AE4-F219-8A9D-4AA79180466B}"/>
                </a:ext>
              </a:extLst>
            </p:cNvPr>
            <p:cNvSpPr txBox="1"/>
            <p:nvPr/>
          </p:nvSpPr>
          <p:spPr>
            <a:xfrm>
              <a:off x="3051400" y="443932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SECTION-02: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9F5874-96B4-A1E8-377E-71FADB68ECDE}"/>
                </a:ext>
              </a:extLst>
            </p:cNvPr>
            <p:cNvSpPr txBox="1"/>
            <p:nvPr/>
          </p:nvSpPr>
          <p:spPr>
            <a:xfrm>
              <a:off x="2821855" y="4839432"/>
              <a:ext cx="2084438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JOB ROLE AND DEPARTMENT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88B7A3-8B70-92E7-C767-0D343CBE93A4}"/>
              </a:ext>
            </a:extLst>
          </p:cNvPr>
          <p:cNvGrpSpPr/>
          <p:nvPr/>
        </p:nvGrpSpPr>
        <p:grpSpPr>
          <a:xfrm>
            <a:off x="4893754" y="4901438"/>
            <a:ext cx="2411614" cy="1231107"/>
            <a:chOff x="4893754" y="4901438"/>
            <a:chExt cx="2411614" cy="123110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2B16C8-4870-F7AC-DDC5-8B36121093D0}"/>
                </a:ext>
              </a:extLst>
            </p:cNvPr>
            <p:cNvSpPr txBox="1"/>
            <p:nvPr/>
          </p:nvSpPr>
          <p:spPr>
            <a:xfrm>
              <a:off x="5302876" y="4901438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SECTION-03: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19F834C-91C4-CA95-68F0-19CAB7EA15B5}"/>
                </a:ext>
              </a:extLst>
            </p:cNvPr>
            <p:cNvSpPr txBox="1"/>
            <p:nvPr/>
          </p:nvSpPr>
          <p:spPr>
            <a:xfrm>
              <a:off x="4893754" y="5301548"/>
              <a:ext cx="2411614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QUALIFICATION AND SKILLS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A14375-9570-7B21-01A2-A09B6E362DBB}"/>
              </a:ext>
            </a:extLst>
          </p:cNvPr>
          <p:cNvGrpSpPr/>
          <p:nvPr/>
        </p:nvGrpSpPr>
        <p:grpSpPr>
          <a:xfrm>
            <a:off x="7495249" y="4445434"/>
            <a:ext cx="1738276" cy="1323440"/>
            <a:chOff x="7495249" y="4445434"/>
            <a:chExt cx="1738276" cy="132344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4789DB-C822-99F0-5D74-A782D9ED9D51}"/>
                </a:ext>
              </a:extLst>
            </p:cNvPr>
            <p:cNvSpPr txBox="1"/>
            <p:nvPr/>
          </p:nvSpPr>
          <p:spPr>
            <a:xfrm>
              <a:off x="7570073" y="4445434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SECTION-04: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F96C9D-81C1-52DE-8DBF-6D06D801FB03}"/>
                </a:ext>
              </a:extLst>
            </p:cNvPr>
            <p:cNvSpPr txBox="1"/>
            <p:nvPr/>
          </p:nvSpPr>
          <p:spPr>
            <a:xfrm>
              <a:off x="7495249" y="4845544"/>
              <a:ext cx="1738276" cy="923330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LEAVES AND ABSENCE PATTERNS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57D6D9-5F76-B8CD-C4D9-329007ECE4C0}"/>
              </a:ext>
            </a:extLst>
          </p:cNvPr>
          <p:cNvGrpSpPr/>
          <p:nvPr/>
        </p:nvGrpSpPr>
        <p:grpSpPr>
          <a:xfrm>
            <a:off x="9562884" y="3646022"/>
            <a:ext cx="1738277" cy="1231107"/>
            <a:chOff x="9562884" y="3646022"/>
            <a:chExt cx="1738277" cy="123110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5F2989-D8D0-8C54-9CC0-0CF1299A53F7}"/>
                </a:ext>
              </a:extLst>
            </p:cNvPr>
            <p:cNvSpPr txBox="1"/>
            <p:nvPr/>
          </p:nvSpPr>
          <p:spPr>
            <a:xfrm>
              <a:off x="9637709" y="3646022"/>
              <a:ext cx="1588628" cy="361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latin typeface="Eras Bold ITC" panose="020B0907030504020204" pitchFamily="34" charset="0"/>
                </a:rPr>
                <a:t>SECTION-05:</a:t>
              </a:r>
              <a:endParaRPr lang="en-US" sz="1700" dirty="0">
                <a:latin typeface="Eras Bold ITC" panose="020B0907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2BE621-55DC-218D-4796-6C3FE67B2267}"/>
                </a:ext>
              </a:extLst>
            </p:cNvPr>
            <p:cNvSpPr txBox="1"/>
            <p:nvPr/>
          </p:nvSpPr>
          <p:spPr>
            <a:xfrm>
              <a:off x="9562884" y="4046132"/>
              <a:ext cx="1738277" cy="830997"/>
            </a:xfrm>
            <a:prstGeom prst="rect">
              <a:avLst/>
            </a:prstGeom>
            <a:noFill/>
            <a:ln w="28575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Eras Bold ITC" panose="020B0907030504020204" pitchFamily="34" charset="0"/>
                </a:rPr>
                <a:t>PAYROLL AND COMPENSATION ANALYSIS</a:t>
              </a:r>
              <a:endParaRPr lang="en-US" dirty="0">
                <a:solidFill>
                  <a:srgbClr val="0070C0"/>
                </a:solidFill>
                <a:latin typeface="Eras Bold ITC" panose="020B0907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8" accel="48500" fill="hold" grpId="0" nodeType="clickEffect" p14:presetBounceEnd="5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5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48500" fill="hold" grpId="0" nodeType="withEffect" p14:presetBounceEnd="52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9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accel="48500" fill="hold" grpId="0" nodeType="withEffect" p14:presetBounceEnd="5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22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accel="48500" fill="hold" grpId="0" nodeType="withEffect" p14:presetBounceEnd="52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26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8" accel="48500" fill="hold" grpId="0" nodeType="withEffect" p14:presetBounceEnd="5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0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accel="48800" fill="hold" nodeType="withEffect" p14:presetBounceEnd="5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4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5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accel="48800" fill="hold" nodeType="withEffect" p14:presetBounceEnd="52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38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39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48800" fill="hold" nodeType="withEffect" p14:presetBounceEnd="5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42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43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accel="48800" fill="hold" nodeType="withEffect" p14:presetBounceEnd="52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46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47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48800" fill="hold" nodeType="withEffect" p14:presetBounceEnd="5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50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51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7" grpId="0" animBg="1"/>
          <p:bldP spid="8" grpId="0" animBg="1"/>
          <p:bldP spid="9" grpId="0" animBg="1"/>
          <p:bldP spid="11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8" accel="48500" fill="hold" grpId="0" nodeType="click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48500" fill="hold" grpId="0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8" accel="485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8" accel="48500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8" accel="485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accel="488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accel="48800" fill="hold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488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2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accel="488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2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488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12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2" presetClass="entr" presetSubtype="8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6" grpId="0" animBg="1"/>
          <p:bldP spid="7" grpId="0" animBg="1"/>
          <p:bldP spid="8" grpId="0" animBg="1"/>
          <p:bldP spid="9" grpId="0" animBg="1"/>
          <p:bldP spid="11" grpId="0" animBg="1"/>
          <p:bldP spid="13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30EB0A-E5C2-87E5-1214-78E7F684B6F1}"/>
              </a:ext>
            </a:extLst>
          </p:cNvPr>
          <p:cNvSpPr txBox="1"/>
          <p:nvPr/>
        </p:nvSpPr>
        <p:spPr>
          <a:xfrm>
            <a:off x="3343413" y="377798"/>
            <a:ext cx="5505173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SECTION-01: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EMPLOYEE INSIGHTS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F487F-47E3-AE2C-2B09-F1D8ACBFA740}"/>
              </a:ext>
            </a:extLst>
          </p:cNvPr>
          <p:cNvSpPr txBox="1"/>
          <p:nvPr/>
        </p:nvSpPr>
        <p:spPr>
          <a:xfrm>
            <a:off x="2310085" y="1314078"/>
            <a:ext cx="757182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unique employees are currently in the system?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8CA4AA-6737-D08B-3B7F-F7023BC6A1BC}"/>
              </a:ext>
            </a:extLst>
          </p:cNvPr>
          <p:cNvGrpSpPr/>
          <p:nvPr/>
        </p:nvGrpSpPr>
        <p:grpSpPr>
          <a:xfrm>
            <a:off x="1711465" y="2095347"/>
            <a:ext cx="3287866" cy="938328"/>
            <a:chOff x="1711465" y="2095347"/>
            <a:chExt cx="3287866" cy="93832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619076-E150-2C5F-6F2C-E9CC6E4C7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120" y="2416521"/>
              <a:ext cx="3190211" cy="6171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64B60E-5C3A-EFBB-81F8-2181C46C4209}"/>
                </a:ext>
              </a:extLst>
            </p:cNvPr>
            <p:cNvSpPr txBox="1"/>
            <p:nvPr/>
          </p:nvSpPr>
          <p:spPr>
            <a:xfrm>
              <a:off x="1711465" y="209534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14BE0B-B55E-56E9-A963-C2735FD784A6}"/>
              </a:ext>
            </a:extLst>
          </p:cNvPr>
          <p:cNvGrpSpPr/>
          <p:nvPr/>
        </p:nvGrpSpPr>
        <p:grpSpPr>
          <a:xfrm>
            <a:off x="7882925" y="2095346"/>
            <a:ext cx="2665443" cy="938329"/>
            <a:chOff x="7882925" y="2095346"/>
            <a:chExt cx="2665443" cy="9383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50B1838-64C7-5E4D-7A7D-0111AABA9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038"/>
            <a:stretch>
              <a:fillRect/>
            </a:stretch>
          </p:blipFill>
          <p:spPr>
            <a:xfrm>
              <a:off x="8008861" y="2416521"/>
              <a:ext cx="2539507" cy="6171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62F517-3ABC-7081-55E5-C9BA53F3CF33}"/>
                </a:ext>
              </a:extLst>
            </p:cNvPr>
            <p:cNvSpPr txBox="1"/>
            <p:nvPr/>
          </p:nvSpPr>
          <p:spPr>
            <a:xfrm>
              <a:off x="7882925" y="20953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A50A44B-0907-2390-FC70-4FBE85C7671F}"/>
              </a:ext>
            </a:extLst>
          </p:cNvPr>
          <p:cNvSpPr txBox="1"/>
          <p:nvPr/>
        </p:nvSpPr>
        <p:spPr>
          <a:xfrm>
            <a:off x="2310085" y="3809687"/>
            <a:ext cx="785484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Which departments have the highest number of employees?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5541C9-61A5-0425-7960-29E245FF2478}"/>
              </a:ext>
            </a:extLst>
          </p:cNvPr>
          <p:cNvGrpSpPr/>
          <p:nvPr/>
        </p:nvGrpSpPr>
        <p:grpSpPr>
          <a:xfrm>
            <a:off x="1510986" y="4508760"/>
            <a:ext cx="3286833" cy="1826613"/>
            <a:chOff x="1800242" y="4508760"/>
            <a:chExt cx="3286833" cy="182661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EF476E9-8031-F901-08D0-5B405E4942E3}"/>
                </a:ext>
              </a:extLst>
            </p:cNvPr>
            <p:cNvSpPr txBox="1"/>
            <p:nvPr/>
          </p:nvSpPr>
          <p:spPr>
            <a:xfrm>
              <a:off x="1800242" y="450876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A9DE1E4-29BE-BEED-B84D-B1636FD5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6775" y="4823316"/>
              <a:ext cx="3180300" cy="151205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E33194-FE7D-826A-2FAA-566D0F9F75EB}"/>
              </a:ext>
            </a:extLst>
          </p:cNvPr>
          <p:cNvGrpSpPr/>
          <p:nvPr/>
        </p:nvGrpSpPr>
        <p:grpSpPr>
          <a:xfrm>
            <a:off x="8420658" y="4529400"/>
            <a:ext cx="1909129" cy="1785888"/>
            <a:chOff x="7972782" y="4529400"/>
            <a:chExt cx="1909129" cy="178588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80707F-E53D-C99C-6189-97AD6A8B42E9}"/>
                </a:ext>
              </a:extLst>
            </p:cNvPr>
            <p:cNvSpPr txBox="1"/>
            <p:nvPr/>
          </p:nvSpPr>
          <p:spPr>
            <a:xfrm>
              <a:off x="7972782" y="45294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F36FFEB-8DCB-82E0-70B0-AC494091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979"/>
            <a:stretch>
              <a:fillRect/>
            </a:stretch>
          </p:blipFill>
          <p:spPr>
            <a:xfrm>
              <a:off x="8118406" y="4858605"/>
              <a:ext cx="1763505" cy="1456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9D9DD0-53D1-96AD-41D3-357602DB2F3C}"/>
              </a:ext>
            </a:extLst>
          </p:cNvPr>
          <p:cNvGrpSpPr/>
          <p:nvPr/>
        </p:nvGrpSpPr>
        <p:grpSpPr>
          <a:xfrm>
            <a:off x="5348750" y="2092138"/>
            <a:ext cx="2369574" cy="915934"/>
            <a:chOff x="5348750" y="2092138"/>
            <a:chExt cx="2369574" cy="9159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221188B-749F-DBC9-BA62-0D8116180636}"/>
                </a:ext>
              </a:extLst>
            </p:cNvPr>
            <p:cNvSpPr txBox="1"/>
            <p:nvPr/>
          </p:nvSpPr>
          <p:spPr>
            <a:xfrm>
              <a:off x="5348750" y="2407908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dirty="0"/>
                <a:t>The organization has a total of</a:t>
              </a:r>
            </a:p>
            <a:p>
              <a:pPr algn="ctr">
                <a:buNone/>
              </a:pPr>
              <a:r>
                <a:rPr lang="en-US" sz="1100" b="1" dirty="0"/>
                <a:t>60 employees</a:t>
              </a:r>
              <a:r>
                <a:rPr lang="en-US" sz="1100" dirty="0"/>
                <a:t>, indicating the overall workforce size.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C05542-903B-5EC0-8032-C495DDD057CD}"/>
                </a:ext>
              </a:extLst>
            </p:cNvPr>
            <p:cNvSpPr txBox="1"/>
            <p:nvPr/>
          </p:nvSpPr>
          <p:spPr>
            <a:xfrm>
              <a:off x="6165782" y="209213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E85D96CD-163D-04EA-B660-0BAE365072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2840" y="2146283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42A891-9B30-1505-33FC-EB344EC58B39}"/>
              </a:ext>
            </a:extLst>
          </p:cNvPr>
          <p:cNvGrpSpPr/>
          <p:nvPr/>
        </p:nvGrpSpPr>
        <p:grpSpPr>
          <a:xfrm>
            <a:off x="5417953" y="4946072"/>
            <a:ext cx="2369574" cy="1085211"/>
            <a:chOff x="5417953" y="4946072"/>
            <a:chExt cx="2369574" cy="10852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5806F2-3AD5-428B-F243-2CD82B6D46C8}"/>
                </a:ext>
              </a:extLst>
            </p:cNvPr>
            <p:cNvSpPr txBox="1"/>
            <p:nvPr/>
          </p:nvSpPr>
          <p:spPr>
            <a:xfrm>
              <a:off x="5417953" y="5261842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b="1" dirty="0"/>
                <a:t>Finance and IT departments have the highest number of employees</a:t>
              </a:r>
              <a:r>
                <a:rPr lang="en-US" sz="1100" dirty="0"/>
                <a:t>, showing higher resource allocation in these areas.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9F97F3-B485-0656-3B60-55E525C753EE}"/>
                </a:ext>
              </a:extLst>
            </p:cNvPr>
            <p:cNvSpPr txBox="1"/>
            <p:nvPr/>
          </p:nvSpPr>
          <p:spPr>
            <a:xfrm>
              <a:off x="6234985" y="4946072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876348AD-29ED-2E88-B8B9-6D6224F097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32043" y="5000217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138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4350-A0AE-B378-58E0-A4580F2B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3C4C4F-8FBA-D803-317A-C823CEE027A4}"/>
              </a:ext>
            </a:extLst>
          </p:cNvPr>
          <p:cNvSpPr txBox="1"/>
          <p:nvPr/>
        </p:nvSpPr>
        <p:spPr>
          <a:xfrm>
            <a:off x="3131801" y="691380"/>
            <a:ext cx="592839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What is the average salary per department?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A776BE-5A7E-CAE4-5419-ACFE5B2D2A07}"/>
              </a:ext>
            </a:extLst>
          </p:cNvPr>
          <p:cNvSpPr txBox="1"/>
          <p:nvPr/>
        </p:nvSpPr>
        <p:spPr>
          <a:xfrm>
            <a:off x="3118460" y="3584396"/>
            <a:ext cx="5927949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 Who are the top 5 highest-paid employees?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A751BC-D2F8-25E1-4026-C84351D2A274}"/>
              </a:ext>
            </a:extLst>
          </p:cNvPr>
          <p:cNvGrpSpPr/>
          <p:nvPr/>
        </p:nvGrpSpPr>
        <p:grpSpPr>
          <a:xfrm>
            <a:off x="8238034" y="1371916"/>
            <a:ext cx="1848205" cy="1840789"/>
            <a:chOff x="8238034" y="1411764"/>
            <a:chExt cx="1848205" cy="184078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8EFE54-36ED-02DB-53F3-EFA604DDF2D5}"/>
                </a:ext>
              </a:extLst>
            </p:cNvPr>
            <p:cNvSpPr txBox="1"/>
            <p:nvPr/>
          </p:nvSpPr>
          <p:spPr>
            <a:xfrm>
              <a:off x="8238034" y="1411764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FA2A3B-BC81-9CDE-6F4C-A3A44C669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3970" y="1720800"/>
              <a:ext cx="1722269" cy="15317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FF9689-0D18-5EDC-6FDD-F6BBF03E0CF7}"/>
              </a:ext>
            </a:extLst>
          </p:cNvPr>
          <p:cNvGrpSpPr/>
          <p:nvPr/>
        </p:nvGrpSpPr>
        <p:grpSpPr>
          <a:xfrm>
            <a:off x="2066574" y="1340741"/>
            <a:ext cx="1819924" cy="1903139"/>
            <a:chOff x="2066574" y="1411765"/>
            <a:chExt cx="1819924" cy="19031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35CD8F-1F62-C1FB-6816-BD575DDE03AD}"/>
                </a:ext>
              </a:extLst>
            </p:cNvPr>
            <p:cNvSpPr txBox="1"/>
            <p:nvPr/>
          </p:nvSpPr>
          <p:spPr>
            <a:xfrm>
              <a:off x="2066574" y="141176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5C3D6C-F98D-1817-A0C6-88CC2C72A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4229" y="1729422"/>
              <a:ext cx="1722269" cy="158548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26033C-8816-ADA7-DAFC-A20AD7DAF143}"/>
              </a:ext>
            </a:extLst>
          </p:cNvPr>
          <p:cNvGrpSpPr/>
          <p:nvPr/>
        </p:nvGrpSpPr>
        <p:grpSpPr>
          <a:xfrm>
            <a:off x="2013307" y="4171406"/>
            <a:ext cx="2534366" cy="1821716"/>
            <a:chOff x="2013307" y="4171406"/>
            <a:chExt cx="2534366" cy="1821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084DC07-6774-7D4A-19F6-6F7769692E69}"/>
                </a:ext>
              </a:extLst>
            </p:cNvPr>
            <p:cNvSpPr txBox="1"/>
            <p:nvPr/>
          </p:nvSpPr>
          <p:spPr>
            <a:xfrm>
              <a:off x="2013307" y="417140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DC7BEA-A461-B402-17C6-703B5A167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4303" y="4500825"/>
              <a:ext cx="2423370" cy="149229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E0E77D-3115-07D4-4CC1-B62C53105FF0}"/>
              </a:ext>
            </a:extLst>
          </p:cNvPr>
          <p:cNvGrpSpPr/>
          <p:nvPr/>
        </p:nvGrpSpPr>
        <p:grpSpPr>
          <a:xfrm>
            <a:off x="8265750" y="4192046"/>
            <a:ext cx="2072079" cy="1768674"/>
            <a:chOff x="8265750" y="4192046"/>
            <a:chExt cx="2072079" cy="176867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E94A2D7-D9B8-0E91-324C-69C8FCAFD9D2}"/>
                </a:ext>
              </a:extLst>
            </p:cNvPr>
            <p:cNvSpPr txBox="1"/>
            <p:nvPr/>
          </p:nvSpPr>
          <p:spPr>
            <a:xfrm>
              <a:off x="8265750" y="41920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5A6CE41-26FB-D275-F7F1-A99FCBD2E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4782" y="4509703"/>
              <a:ext cx="1923047" cy="145101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9775A7-7404-9FF7-177C-2B93B66BBFD0}"/>
              </a:ext>
            </a:extLst>
          </p:cNvPr>
          <p:cNvGrpSpPr/>
          <p:nvPr/>
        </p:nvGrpSpPr>
        <p:grpSpPr>
          <a:xfrm>
            <a:off x="4919542" y="1737575"/>
            <a:ext cx="2369574" cy="1085211"/>
            <a:chOff x="4919542" y="1737575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7AC0710-99EB-5CE2-4ABA-631E3B734EF4}"/>
                </a:ext>
              </a:extLst>
            </p:cNvPr>
            <p:cNvSpPr txBox="1"/>
            <p:nvPr/>
          </p:nvSpPr>
          <p:spPr>
            <a:xfrm>
              <a:off x="4919542" y="2053345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100" dirty="0"/>
                <a:t>The </a:t>
              </a:r>
              <a:r>
                <a:rPr lang="en-US" sz="1100" b="1" dirty="0"/>
                <a:t>Legal and Engineering departments have the highest average salaries</a:t>
              </a:r>
              <a:r>
                <a:rPr lang="en-US" sz="1100" dirty="0"/>
                <a:t>, indicating higher compensation in these roles.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367B6B-3367-45EE-15E3-0FBC4928F58C}"/>
                </a:ext>
              </a:extLst>
            </p:cNvPr>
            <p:cNvSpPr txBox="1"/>
            <p:nvPr/>
          </p:nvSpPr>
          <p:spPr>
            <a:xfrm>
              <a:off x="5736574" y="1737575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E9E3F79B-00C0-8666-6AEE-3E31E18BC9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3632" y="1791720"/>
              <a:ext cx="199486" cy="19948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5CD057-CA84-6F17-520D-44E81726993E}"/>
              </a:ext>
            </a:extLst>
          </p:cNvPr>
          <p:cNvGrpSpPr/>
          <p:nvPr/>
        </p:nvGrpSpPr>
        <p:grpSpPr>
          <a:xfrm>
            <a:off x="5259334" y="4526192"/>
            <a:ext cx="2369574" cy="1085211"/>
            <a:chOff x="5259334" y="4526192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6D0CB5-9878-1614-A6FE-A3E066BB5413}"/>
                </a:ext>
              </a:extLst>
            </p:cNvPr>
            <p:cNvSpPr txBox="1"/>
            <p:nvPr/>
          </p:nvSpPr>
          <p:spPr>
            <a:xfrm>
              <a:off x="5259334" y="4841962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top 5 highest-paid employees are from </a:t>
              </a:r>
              <a:r>
                <a:rPr lang="en-US" sz="1100" b="1" dirty="0"/>
                <a:t>high-paying roles</a:t>
              </a:r>
              <a:r>
                <a:rPr lang="en-US" sz="1100" dirty="0"/>
                <a:t>, highlighting key talent with premium compensation.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C68B03-6404-0EA5-BD95-306079BA278C}"/>
                </a:ext>
              </a:extLst>
            </p:cNvPr>
            <p:cNvSpPr txBox="1"/>
            <p:nvPr/>
          </p:nvSpPr>
          <p:spPr>
            <a:xfrm>
              <a:off x="6076366" y="4526192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3C214133-0B9D-1808-DF9B-89FFBCDA46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73424" y="4580337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938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BDB8-C62E-899B-CCA9-7F36B41F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8EC28698-4D79-A950-FA73-D7AD7D1BD819}"/>
              </a:ext>
            </a:extLst>
          </p:cNvPr>
          <p:cNvSpPr txBox="1"/>
          <p:nvPr/>
        </p:nvSpPr>
        <p:spPr>
          <a:xfrm>
            <a:off x="2288678" y="1480390"/>
            <a:ext cx="761464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Q-05:   What is the total salary expenditure across the company?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82C5ED-09FE-85AD-FB87-72A44CE0D7B8}"/>
              </a:ext>
            </a:extLst>
          </p:cNvPr>
          <p:cNvGrpSpPr/>
          <p:nvPr/>
        </p:nvGrpSpPr>
        <p:grpSpPr>
          <a:xfrm>
            <a:off x="1459353" y="2521911"/>
            <a:ext cx="2766239" cy="1439279"/>
            <a:chOff x="2013307" y="2351482"/>
            <a:chExt cx="2766239" cy="143927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78523F-7EF9-773E-38D2-139D7D440F33}"/>
                </a:ext>
              </a:extLst>
            </p:cNvPr>
            <p:cNvSpPr txBox="1"/>
            <p:nvPr/>
          </p:nvSpPr>
          <p:spPr>
            <a:xfrm>
              <a:off x="2013307" y="235148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F342CA-F729-00B9-E224-F47EBE726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7950" y="2680914"/>
              <a:ext cx="2631596" cy="110984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035625-4114-CFB2-6AD6-84B15320A271}"/>
              </a:ext>
            </a:extLst>
          </p:cNvPr>
          <p:cNvGrpSpPr/>
          <p:nvPr/>
        </p:nvGrpSpPr>
        <p:grpSpPr>
          <a:xfrm>
            <a:off x="7796501" y="2530480"/>
            <a:ext cx="3195322" cy="1422141"/>
            <a:chOff x="7520020" y="2372122"/>
            <a:chExt cx="3195322" cy="142214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63FDAE-ABEB-12D7-5400-3239BE6F5781}"/>
                </a:ext>
              </a:extLst>
            </p:cNvPr>
            <p:cNvSpPr txBox="1"/>
            <p:nvPr/>
          </p:nvSpPr>
          <p:spPr>
            <a:xfrm>
              <a:off x="7520020" y="237212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E079F5-7D23-28F6-916C-221AD9E01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17" r="4432" b="19310"/>
            <a:stretch>
              <a:fillRect/>
            </a:stretch>
          </p:blipFill>
          <p:spPr>
            <a:xfrm>
              <a:off x="7691416" y="2679899"/>
              <a:ext cx="3023926" cy="111436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4F15AD-352C-68CC-8E72-C96BA5DC53F1}"/>
              </a:ext>
            </a:extLst>
          </p:cNvPr>
          <p:cNvGrpSpPr/>
          <p:nvPr/>
        </p:nvGrpSpPr>
        <p:grpSpPr>
          <a:xfrm>
            <a:off x="4919542" y="2782603"/>
            <a:ext cx="2369574" cy="1085211"/>
            <a:chOff x="4919542" y="2782603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C269A60-1EFC-F3C0-3878-626FE9C63B0A}"/>
                </a:ext>
              </a:extLst>
            </p:cNvPr>
            <p:cNvSpPr txBox="1"/>
            <p:nvPr/>
          </p:nvSpPr>
          <p:spPr>
            <a:xfrm>
              <a:off x="4919542" y="3098373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total salary expenditure of the company is </a:t>
              </a:r>
              <a:r>
                <a:rPr lang="en-US" sz="1100" b="1" dirty="0"/>
                <a:t>4,321,000</a:t>
              </a:r>
              <a:r>
                <a:rPr lang="en-US" sz="1100" dirty="0"/>
                <a:t>, reflecting the overall cost of employee compensation.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600E41-36E6-4B4B-8883-A9FC69F73A16}"/>
                </a:ext>
              </a:extLst>
            </p:cNvPr>
            <p:cNvSpPr txBox="1"/>
            <p:nvPr/>
          </p:nvSpPr>
          <p:spPr>
            <a:xfrm>
              <a:off x="5736574" y="2782603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5" name="Graphic 4" descr="Lightbulb and gear with solid fill">
              <a:extLst>
                <a:ext uri="{FF2B5EF4-FFF2-40B4-BE49-F238E27FC236}">
                  <a16:creationId xmlns:a16="http://schemas.microsoft.com/office/drawing/2014/main" id="{59E4FB15-F6F6-70EC-F441-9DD81B8E5A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3632" y="2836748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639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AB95-FC92-4462-D5A0-CF06BD00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75FBE-BAF0-74DB-F75E-A67C66EF88E0}"/>
              </a:ext>
            </a:extLst>
          </p:cNvPr>
          <p:cNvSpPr txBox="1"/>
          <p:nvPr/>
        </p:nvSpPr>
        <p:spPr>
          <a:xfrm>
            <a:off x="1800242" y="379964"/>
            <a:ext cx="8666531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SECTION-02: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JOB ROLE AND DEPARTMENT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05BB6-A939-9139-4EB0-3EA5B3EE1634}"/>
              </a:ext>
            </a:extLst>
          </p:cNvPr>
          <p:cNvSpPr txBox="1"/>
          <p:nvPr/>
        </p:nvSpPr>
        <p:spPr>
          <a:xfrm>
            <a:off x="2426029" y="1309647"/>
            <a:ext cx="7339942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different job roles exist in each department?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0666C9-5080-077F-9FBB-EDB1D946C0D4}"/>
              </a:ext>
            </a:extLst>
          </p:cNvPr>
          <p:cNvSpPr txBox="1"/>
          <p:nvPr/>
        </p:nvSpPr>
        <p:spPr>
          <a:xfrm>
            <a:off x="2754502" y="3964688"/>
            <a:ext cx="6682995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salary range per department?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283AF5-BCBC-92C0-27F0-911FDAE013FA}"/>
              </a:ext>
            </a:extLst>
          </p:cNvPr>
          <p:cNvGrpSpPr/>
          <p:nvPr/>
        </p:nvGrpSpPr>
        <p:grpSpPr>
          <a:xfrm>
            <a:off x="1616162" y="1919941"/>
            <a:ext cx="2471675" cy="1754882"/>
            <a:chOff x="1711465" y="2095347"/>
            <a:chExt cx="2471675" cy="175488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1FABAC-4ABC-7608-ABC2-5B2F2E59576A}"/>
                </a:ext>
              </a:extLst>
            </p:cNvPr>
            <p:cNvSpPr txBox="1"/>
            <p:nvPr/>
          </p:nvSpPr>
          <p:spPr>
            <a:xfrm>
              <a:off x="1711465" y="209534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EC7512-1423-5FA2-7C40-C49637ED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120" y="2416521"/>
              <a:ext cx="2374020" cy="143370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A08CFD-49C9-8C56-4A21-814B25157158}"/>
              </a:ext>
            </a:extLst>
          </p:cNvPr>
          <p:cNvGrpSpPr/>
          <p:nvPr/>
        </p:nvGrpSpPr>
        <p:grpSpPr>
          <a:xfrm>
            <a:off x="8216383" y="1940581"/>
            <a:ext cx="2180662" cy="1754884"/>
            <a:chOff x="7882925" y="2095346"/>
            <a:chExt cx="2180662" cy="175488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1C7B6E-6AE3-F8A1-206E-49751A135805}"/>
                </a:ext>
              </a:extLst>
            </p:cNvPr>
            <p:cNvSpPr txBox="1"/>
            <p:nvPr/>
          </p:nvSpPr>
          <p:spPr>
            <a:xfrm>
              <a:off x="7882925" y="209534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B2ABA9-01B8-47F6-4A6F-0D99F6F10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4016" y="2416521"/>
              <a:ext cx="1989571" cy="1433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C8A2F5-9456-9075-DEAC-6E56DCB615BC}"/>
              </a:ext>
            </a:extLst>
          </p:cNvPr>
          <p:cNvGrpSpPr/>
          <p:nvPr/>
        </p:nvGrpSpPr>
        <p:grpSpPr>
          <a:xfrm>
            <a:off x="8551284" y="4529400"/>
            <a:ext cx="2822000" cy="1848474"/>
            <a:chOff x="8551284" y="4529400"/>
            <a:chExt cx="2822000" cy="184847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BFD9B94-F598-D03E-9E02-062FCB31DAA4}"/>
                </a:ext>
              </a:extLst>
            </p:cNvPr>
            <p:cNvSpPr txBox="1"/>
            <p:nvPr/>
          </p:nvSpPr>
          <p:spPr>
            <a:xfrm>
              <a:off x="8551284" y="45294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47BCA0-C8F5-2BA1-0244-90FFE47AE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6053" y="4846121"/>
              <a:ext cx="2667231" cy="15317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159989-4C86-6E54-C6A0-3E53AD5342FA}"/>
              </a:ext>
            </a:extLst>
          </p:cNvPr>
          <p:cNvGrpSpPr/>
          <p:nvPr/>
        </p:nvGrpSpPr>
        <p:grpSpPr>
          <a:xfrm>
            <a:off x="1256350" y="4508760"/>
            <a:ext cx="3828199" cy="1813254"/>
            <a:chOff x="1256350" y="4508760"/>
            <a:chExt cx="3828199" cy="181325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3C13C4C-720A-C688-7EF1-C3B9D0F8BCCB}"/>
                </a:ext>
              </a:extLst>
            </p:cNvPr>
            <p:cNvSpPr txBox="1"/>
            <p:nvPr/>
          </p:nvSpPr>
          <p:spPr>
            <a:xfrm>
              <a:off x="1256350" y="450876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7346DE8-2461-E392-4388-8FE84B70B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1760" y="4828365"/>
              <a:ext cx="3712789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C0E9F3-D813-B62B-5D60-8A4FB7312704}"/>
              </a:ext>
            </a:extLst>
          </p:cNvPr>
          <p:cNvGrpSpPr/>
          <p:nvPr/>
        </p:nvGrpSpPr>
        <p:grpSpPr>
          <a:xfrm>
            <a:off x="4919542" y="2297411"/>
            <a:ext cx="2369574" cy="1085211"/>
            <a:chOff x="4919542" y="2297411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530D2E-9468-9850-1EAE-897B8993DBC7}"/>
                </a:ext>
              </a:extLst>
            </p:cNvPr>
            <p:cNvSpPr txBox="1"/>
            <p:nvPr/>
          </p:nvSpPr>
          <p:spPr>
            <a:xfrm>
              <a:off x="4919542" y="2613181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and IT departments have the highest number of job roles</a:t>
              </a:r>
              <a:r>
                <a:rPr lang="en-US" sz="1100" dirty="0"/>
                <a:t>, indicating more role diversity in these areas.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8B702A-1478-38D8-A3A4-1F3E24CFC333}"/>
                </a:ext>
              </a:extLst>
            </p:cNvPr>
            <p:cNvSpPr txBox="1"/>
            <p:nvPr/>
          </p:nvSpPr>
          <p:spPr>
            <a:xfrm>
              <a:off x="5736574" y="229741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5770A253-609B-D219-1316-E0232CD8EC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3632" y="2351556"/>
              <a:ext cx="199486" cy="19948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A2286A-C808-CDC3-653B-043DCABFA828}"/>
              </a:ext>
            </a:extLst>
          </p:cNvPr>
          <p:cNvGrpSpPr/>
          <p:nvPr/>
        </p:nvGrpSpPr>
        <p:grpSpPr>
          <a:xfrm>
            <a:off x="5681709" y="4916086"/>
            <a:ext cx="2369574" cy="1085211"/>
            <a:chOff x="5681709" y="4916086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8B53CB-3310-0C29-7AB9-8C33ED6981EA}"/>
                </a:ext>
              </a:extLst>
            </p:cNvPr>
            <p:cNvSpPr txBox="1"/>
            <p:nvPr/>
          </p:nvSpPr>
          <p:spPr>
            <a:xfrm>
              <a:off x="5681709" y="5231856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Legal and Engineering departments offer higher salary ranges</a:t>
              </a:r>
              <a:r>
                <a:rPr lang="en-US" sz="1100" dirty="0"/>
                <a:t>, showing better pay scales compared to other departments.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AFBB6B-6C89-4AA8-1661-113159969923}"/>
                </a:ext>
              </a:extLst>
            </p:cNvPr>
            <p:cNvSpPr txBox="1"/>
            <p:nvPr/>
          </p:nvSpPr>
          <p:spPr>
            <a:xfrm>
              <a:off x="6498741" y="4916086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5" name="Graphic 14" descr="Lightbulb and gear with solid fill">
              <a:extLst>
                <a:ext uri="{FF2B5EF4-FFF2-40B4-BE49-F238E27FC236}">
                  <a16:creationId xmlns:a16="http://schemas.microsoft.com/office/drawing/2014/main" id="{BE883042-A23F-28B7-884C-E2319A56B8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95799" y="4970231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722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8AC2-43E2-73E0-A074-EBABCDE0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4F5C9C-3585-B2AE-04B0-45A98F9F24AC}"/>
              </a:ext>
            </a:extLst>
          </p:cNvPr>
          <p:cNvSpPr txBox="1"/>
          <p:nvPr/>
        </p:nvSpPr>
        <p:spPr>
          <a:xfrm>
            <a:off x="3322623" y="853884"/>
            <a:ext cx="554675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job roles offer the highest salary?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AE52C3-41C7-D65E-876B-03A149C35EBE}"/>
              </a:ext>
            </a:extLst>
          </p:cNvPr>
          <p:cNvSpPr txBox="1"/>
          <p:nvPr/>
        </p:nvSpPr>
        <p:spPr>
          <a:xfrm>
            <a:off x="2159695" y="3688305"/>
            <a:ext cx="788982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Which departments have the highest total salary allocation?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2D7848-7AF6-B939-1673-0F449A62798A}"/>
              </a:ext>
            </a:extLst>
          </p:cNvPr>
          <p:cNvGrpSpPr/>
          <p:nvPr/>
        </p:nvGrpSpPr>
        <p:grpSpPr>
          <a:xfrm>
            <a:off x="1933408" y="1484932"/>
            <a:ext cx="2221343" cy="1758296"/>
            <a:chOff x="1933408" y="1484932"/>
            <a:chExt cx="2221343" cy="17582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6C0712-A932-5325-B112-82F2B0B12596}"/>
                </a:ext>
              </a:extLst>
            </p:cNvPr>
            <p:cNvSpPr txBox="1"/>
            <p:nvPr/>
          </p:nvSpPr>
          <p:spPr>
            <a:xfrm>
              <a:off x="1933408" y="148493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AE14A8-0FFD-C047-A4D7-310178B9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7697" y="1777451"/>
              <a:ext cx="2097054" cy="146577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26A322-00D2-FA28-D53D-E525211A1A55}"/>
              </a:ext>
            </a:extLst>
          </p:cNvPr>
          <p:cNvGrpSpPr/>
          <p:nvPr/>
        </p:nvGrpSpPr>
        <p:grpSpPr>
          <a:xfrm>
            <a:off x="7936460" y="1505572"/>
            <a:ext cx="2510741" cy="1763260"/>
            <a:chOff x="7936460" y="1505572"/>
            <a:chExt cx="2510741" cy="176326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723914C-3473-ADD7-F2A2-CB01B9823033}"/>
                </a:ext>
              </a:extLst>
            </p:cNvPr>
            <p:cNvSpPr txBox="1"/>
            <p:nvPr/>
          </p:nvSpPr>
          <p:spPr>
            <a:xfrm>
              <a:off x="7936460" y="150557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3AA04D-2FD2-C9AE-AB20-FB601DB55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3763" y="1820393"/>
              <a:ext cx="2343438" cy="144843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6256AF-944C-3560-5D10-EE3322FA2A31}"/>
              </a:ext>
            </a:extLst>
          </p:cNvPr>
          <p:cNvGrpSpPr/>
          <p:nvPr/>
        </p:nvGrpSpPr>
        <p:grpSpPr>
          <a:xfrm>
            <a:off x="929775" y="4251034"/>
            <a:ext cx="3637412" cy="1406129"/>
            <a:chOff x="1219026" y="4073751"/>
            <a:chExt cx="3637412" cy="140612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A2E779-2EF6-70C1-E5F2-520E79DD672D}"/>
                </a:ext>
              </a:extLst>
            </p:cNvPr>
            <p:cNvSpPr txBox="1"/>
            <p:nvPr/>
          </p:nvSpPr>
          <p:spPr>
            <a:xfrm>
              <a:off x="1219026" y="407375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7E179B0-9DBD-E214-3F62-FE6B63D82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3314" y="4390126"/>
              <a:ext cx="3513124" cy="10897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B6694D-B3D8-15B5-465C-63B33DF0554D}"/>
              </a:ext>
            </a:extLst>
          </p:cNvPr>
          <p:cNvGrpSpPr/>
          <p:nvPr/>
        </p:nvGrpSpPr>
        <p:grpSpPr>
          <a:xfrm>
            <a:off x="8681911" y="4355651"/>
            <a:ext cx="1964738" cy="1814753"/>
            <a:chOff x="8663249" y="4094391"/>
            <a:chExt cx="1964738" cy="181475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878489-B99F-587B-3148-1CC4CBAC8DA6}"/>
                </a:ext>
              </a:extLst>
            </p:cNvPr>
            <p:cNvSpPr txBox="1"/>
            <p:nvPr/>
          </p:nvSpPr>
          <p:spPr>
            <a:xfrm>
              <a:off x="8663249" y="409439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189D541-00A9-0F0A-478B-1D0144DFA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1986" y="4415495"/>
              <a:ext cx="1816001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BAB75B-DB5C-0B4C-4E8A-979C7BA1813F}"/>
              </a:ext>
            </a:extLst>
          </p:cNvPr>
          <p:cNvGrpSpPr/>
          <p:nvPr/>
        </p:nvGrpSpPr>
        <p:grpSpPr>
          <a:xfrm>
            <a:off x="4911213" y="1776066"/>
            <a:ext cx="2369574" cy="1254489"/>
            <a:chOff x="4911213" y="1729411"/>
            <a:chExt cx="2369574" cy="125448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B2BB6E9-F1EC-1FF2-B477-65A930FAF363}"/>
                </a:ext>
              </a:extLst>
            </p:cNvPr>
            <p:cNvSpPr txBox="1"/>
            <p:nvPr/>
          </p:nvSpPr>
          <p:spPr>
            <a:xfrm>
              <a:off x="4911213" y="2045181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Director role offers the highest salary</a:t>
              </a:r>
              <a:r>
                <a:rPr lang="en-US" sz="1100" dirty="0"/>
                <a:t>, followed by Engineering and Marketing Directors, indicating leadership roles have top compensation.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91AF8E-C526-B265-1DCF-0B591EC75674}"/>
                </a:ext>
              </a:extLst>
            </p:cNvPr>
            <p:cNvSpPr txBox="1"/>
            <p:nvPr/>
          </p:nvSpPr>
          <p:spPr>
            <a:xfrm>
              <a:off x="5728245" y="172941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2B84D62C-6582-0CF2-B9A2-9295F62883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25303" y="1783556"/>
              <a:ext cx="199486" cy="19948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231485-BB8A-AA28-BD63-2B558D5589F5}"/>
              </a:ext>
            </a:extLst>
          </p:cNvPr>
          <p:cNvGrpSpPr/>
          <p:nvPr/>
        </p:nvGrpSpPr>
        <p:grpSpPr>
          <a:xfrm>
            <a:off x="5411122" y="4570855"/>
            <a:ext cx="2369574" cy="1085211"/>
            <a:chOff x="5588399" y="4356250"/>
            <a:chExt cx="2369574" cy="108521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177F63-3BDB-0309-49D3-E65B682E6E66}"/>
                </a:ext>
              </a:extLst>
            </p:cNvPr>
            <p:cNvSpPr txBox="1"/>
            <p:nvPr/>
          </p:nvSpPr>
          <p:spPr>
            <a:xfrm>
              <a:off x="5588399" y="4672020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Finance and IT departments have the highest total salary allocation</a:t>
              </a:r>
              <a:r>
                <a:rPr lang="en-US" sz="1100" dirty="0"/>
                <a:t>, showing higher budget and investment in these areas.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754319-215E-52C9-6336-01D9B6A39230}"/>
                </a:ext>
              </a:extLst>
            </p:cNvPr>
            <p:cNvSpPr txBox="1"/>
            <p:nvPr/>
          </p:nvSpPr>
          <p:spPr>
            <a:xfrm>
              <a:off x="6405431" y="435625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F1185CE2-DDA8-1495-93DE-83985BDB8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02489" y="4410395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500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03F4-260B-5579-11FE-E6CF890B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9E4DA-4091-3E99-FFDF-0EBC5414237A}"/>
              </a:ext>
            </a:extLst>
          </p:cNvPr>
          <p:cNvSpPr txBox="1"/>
          <p:nvPr/>
        </p:nvSpPr>
        <p:spPr>
          <a:xfrm>
            <a:off x="1862388" y="406598"/>
            <a:ext cx="848897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SECTION-03: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QUALIFICATION AND SKILLS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7FB8C-6F15-0518-ABFE-9C98C57AC02F}"/>
              </a:ext>
            </a:extLst>
          </p:cNvPr>
          <p:cNvSpPr txBox="1"/>
          <p:nvPr/>
        </p:nvSpPr>
        <p:spPr>
          <a:xfrm>
            <a:off x="2186327" y="1309647"/>
            <a:ext cx="7832563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How many employees have at least one qualification listed?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8CF36A-B362-B442-EB60-FDA34219E747}"/>
              </a:ext>
            </a:extLst>
          </p:cNvPr>
          <p:cNvSpPr txBox="1"/>
          <p:nvPr/>
        </p:nvSpPr>
        <p:spPr>
          <a:xfrm>
            <a:off x="2825527" y="3804889"/>
            <a:ext cx="6549296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Which positions require the most qualifications?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C044FC-15E9-3694-854A-24B117CED6FC}"/>
              </a:ext>
            </a:extLst>
          </p:cNvPr>
          <p:cNvGrpSpPr/>
          <p:nvPr/>
        </p:nvGrpSpPr>
        <p:grpSpPr>
          <a:xfrm>
            <a:off x="7889805" y="1940581"/>
            <a:ext cx="2820098" cy="1033491"/>
            <a:chOff x="7889805" y="1940581"/>
            <a:chExt cx="2820098" cy="103349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E03943-F298-575D-7F8B-377F5DE145FE}"/>
                </a:ext>
              </a:extLst>
            </p:cNvPr>
            <p:cNvSpPr txBox="1"/>
            <p:nvPr/>
          </p:nvSpPr>
          <p:spPr>
            <a:xfrm>
              <a:off x="7889805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5875E6-2148-89A6-B14C-408A81A3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5384" y="2257302"/>
              <a:ext cx="2664519" cy="71677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C2CF6C-8FD9-F009-00DB-20BF37774DCB}"/>
              </a:ext>
            </a:extLst>
          </p:cNvPr>
          <p:cNvGrpSpPr/>
          <p:nvPr/>
        </p:nvGrpSpPr>
        <p:grpSpPr>
          <a:xfrm>
            <a:off x="1275004" y="4384471"/>
            <a:ext cx="2988774" cy="1822066"/>
            <a:chOff x="1275004" y="4384471"/>
            <a:chExt cx="2988774" cy="182206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DE67062-DC4A-AA3E-0964-C01F72AA0290}"/>
                </a:ext>
              </a:extLst>
            </p:cNvPr>
            <p:cNvSpPr txBox="1"/>
            <p:nvPr/>
          </p:nvSpPr>
          <p:spPr>
            <a:xfrm>
              <a:off x="1275004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4F74C2F-6B42-0309-5EDF-8C56F3299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170" y="4712888"/>
              <a:ext cx="2855608" cy="14936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B4266F-8270-EB4F-9D8B-5F8D07E610FD}"/>
              </a:ext>
            </a:extLst>
          </p:cNvPr>
          <p:cNvGrpSpPr/>
          <p:nvPr/>
        </p:nvGrpSpPr>
        <p:grpSpPr>
          <a:xfrm>
            <a:off x="7972782" y="4405111"/>
            <a:ext cx="2565791" cy="1667214"/>
            <a:chOff x="7972782" y="4405111"/>
            <a:chExt cx="2565791" cy="16672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DA7CF5-2A1D-68EF-E76F-41B735B6C390}"/>
                </a:ext>
              </a:extLst>
            </p:cNvPr>
            <p:cNvSpPr txBox="1"/>
            <p:nvPr/>
          </p:nvSpPr>
          <p:spPr>
            <a:xfrm>
              <a:off x="7972782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E78D9C8-7B85-1DCE-1BE1-FC1712A5F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7522"/>
            <a:stretch>
              <a:fillRect/>
            </a:stretch>
          </p:blipFill>
          <p:spPr>
            <a:xfrm>
              <a:off x="8136429" y="4721766"/>
              <a:ext cx="2402144" cy="135055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6E461-2461-7E63-2B29-DD3BE0CB93D4}"/>
              </a:ext>
            </a:extLst>
          </p:cNvPr>
          <p:cNvGrpSpPr/>
          <p:nvPr/>
        </p:nvGrpSpPr>
        <p:grpSpPr>
          <a:xfrm>
            <a:off x="4923503" y="2044555"/>
            <a:ext cx="2369574" cy="915934"/>
            <a:chOff x="4923503" y="2044555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4B6792B-699B-2323-CD8B-F97A9E265509}"/>
                </a:ext>
              </a:extLst>
            </p:cNvPr>
            <p:cNvSpPr txBox="1"/>
            <p:nvPr/>
          </p:nvSpPr>
          <p:spPr>
            <a:xfrm>
              <a:off x="4923503" y="2360325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</a:t>
              </a:r>
              <a:r>
                <a:rPr lang="en-US" sz="1100" b="1" dirty="0"/>
                <a:t>60 employees have at least one qualification</a:t>
              </a:r>
              <a:r>
                <a:rPr lang="en-US" sz="1100" dirty="0"/>
                <a:t>, indicating a fully skilled workforce.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C710B-F959-5BB9-B273-8D4055900DBC}"/>
                </a:ext>
              </a:extLst>
            </p:cNvPr>
            <p:cNvSpPr txBox="1"/>
            <p:nvPr/>
          </p:nvSpPr>
          <p:spPr>
            <a:xfrm>
              <a:off x="5740535" y="2044555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7" name="Graphic 6" descr="Lightbulb and gear with solid fill">
              <a:extLst>
                <a:ext uri="{FF2B5EF4-FFF2-40B4-BE49-F238E27FC236}">
                  <a16:creationId xmlns:a16="http://schemas.microsoft.com/office/drawing/2014/main" id="{92FD056A-FA7B-EBB0-34FA-6B877C5CDF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7593" y="2098700"/>
              <a:ext cx="199486" cy="19948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663-1BDF-BD53-AC85-DA0E7FE5D442}"/>
              </a:ext>
            </a:extLst>
          </p:cNvPr>
          <p:cNvGrpSpPr/>
          <p:nvPr/>
        </p:nvGrpSpPr>
        <p:grpSpPr>
          <a:xfrm>
            <a:off x="1541518" y="1923473"/>
            <a:ext cx="2788232" cy="1190320"/>
            <a:chOff x="1541518" y="1923473"/>
            <a:chExt cx="2788232" cy="11903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62DE09-926B-065D-89DB-7A47A9C54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5231" y="2235069"/>
              <a:ext cx="2664519" cy="87872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6C63A-57FB-C3D9-80FA-F7BD4ADCAB6A}"/>
                </a:ext>
              </a:extLst>
            </p:cNvPr>
            <p:cNvSpPr txBox="1"/>
            <p:nvPr/>
          </p:nvSpPr>
          <p:spPr>
            <a:xfrm>
              <a:off x="1541518" y="192347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745C6A-1272-5C5E-558E-21D6C790A6AB}"/>
              </a:ext>
            </a:extLst>
          </p:cNvPr>
          <p:cNvGrpSpPr/>
          <p:nvPr/>
        </p:nvGrpSpPr>
        <p:grpSpPr>
          <a:xfrm>
            <a:off x="4917280" y="4854608"/>
            <a:ext cx="2369574" cy="915934"/>
            <a:chOff x="4917280" y="4854608"/>
            <a:chExt cx="2369574" cy="9159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2B4425-D6AF-5D84-2C30-554473B6A85E}"/>
                </a:ext>
              </a:extLst>
            </p:cNvPr>
            <p:cNvSpPr txBox="1"/>
            <p:nvPr/>
          </p:nvSpPr>
          <p:spPr>
            <a:xfrm>
              <a:off x="4917280" y="5170378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positions have </a:t>
              </a:r>
              <a:r>
                <a:rPr lang="en-US" sz="1100" b="1" dirty="0"/>
                <a:t>equal qualification requirements</a:t>
              </a:r>
              <a:r>
                <a:rPr lang="en-US" sz="1100" dirty="0"/>
                <a:t>, showing uniform skill expectations across roles.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520415-098E-7AC7-328E-2AD60E25E62F}"/>
                </a:ext>
              </a:extLst>
            </p:cNvPr>
            <p:cNvSpPr txBox="1"/>
            <p:nvPr/>
          </p:nvSpPr>
          <p:spPr>
            <a:xfrm>
              <a:off x="5734312" y="485460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D7FC04BE-5E45-B306-6785-4FAF15A416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1370" y="4908753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73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ED1A-B6D6-9820-BC03-007243FD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563283-63AF-FA5E-B7C8-8BB5690D3452}"/>
              </a:ext>
            </a:extLst>
          </p:cNvPr>
          <p:cNvSpPr txBox="1"/>
          <p:nvPr/>
        </p:nvSpPr>
        <p:spPr>
          <a:xfrm>
            <a:off x="2133059" y="2268438"/>
            <a:ext cx="793421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employees have the highest number of qualifications?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93860-EDFD-C871-25FF-55F12B6FF303}"/>
              </a:ext>
            </a:extLst>
          </p:cNvPr>
          <p:cNvGrpSpPr/>
          <p:nvPr/>
        </p:nvGrpSpPr>
        <p:grpSpPr>
          <a:xfrm>
            <a:off x="7936460" y="2899372"/>
            <a:ext cx="2086426" cy="1550098"/>
            <a:chOff x="7936460" y="2899372"/>
            <a:chExt cx="2086426" cy="155009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402B07-F1E1-CB42-5DE1-277433250B31}"/>
                </a:ext>
              </a:extLst>
            </p:cNvPr>
            <p:cNvSpPr txBox="1"/>
            <p:nvPr/>
          </p:nvSpPr>
          <p:spPr>
            <a:xfrm>
              <a:off x="7936460" y="289937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B115B4-EA68-E992-941E-E03325E9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389"/>
            <a:stretch>
              <a:fillRect/>
            </a:stretch>
          </p:blipFill>
          <p:spPr>
            <a:xfrm>
              <a:off x="8092039" y="3212558"/>
              <a:ext cx="1930847" cy="123691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B3A29-4C0D-6A10-E6F3-897474FF458F}"/>
              </a:ext>
            </a:extLst>
          </p:cNvPr>
          <p:cNvGrpSpPr/>
          <p:nvPr/>
        </p:nvGrpSpPr>
        <p:grpSpPr>
          <a:xfrm>
            <a:off x="1420677" y="2877205"/>
            <a:ext cx="2704535" cy="1429271"/>
            <a:chOff x="1420677" y="2877205"/>
            <a:chExt cx="2704535" cy="142927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88A3B6-8144-CC61-6F73-97254D49F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7049" y="3193860"/>
              <a:ext cx="2568163" cy="111261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8CFBA5-E3AF-F00E-CDE3-A9F6C305B0F4}"/>
                </a:ext>
              </a:extLst>
            </p:cNvPr>
            <p:cNvSpPr txBox="1"/>
            <p:nvPr/>
          </p:nvSpPr>
          <p:spPr>
            <a:xfrm>
              <a:off x="1420677" y="287720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C36F6C8-0BCE-4530-2792-E2BDB7544E0A}"/>
              </a:ext>
            </a:extLst>
          </p:cNvPr>
          <p:cNvGrpSpPr/>
          <p:nvPr/>
        </p:nvGrpSpPr>
        <p:grpSpPr>
          <a:xfrm>
            <a:off x="4917280" y="3119109"/>
            <a:ext cx="2369574" cy="1085211"/>
            <a:chOff x="4917280" y="311910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FE368E-45F1-CD2F-B099-A9DA3C905B2E}"/>
                </a:ext>
              </a:extLst>
            </p:cNvPr>
            <p:cNvSpPr txBox="1"/>
            <p:nvPr/>
          </p:nvSpPr>
          <p:spPr>
            <a:xfrm>
              <a:off x="4917280" y="343487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employees have an </a:t>
              </a:r>
              <a:r>
                <a:rPr lang="en-US" sz="1100" b="1" dirty="0"/>
                <a:t>equal number of qualifications</a:t>
              </a:r>
              <a:r>
                <a:rPr lang="en-US" sz="1100" dirty="0"/>
                <a:t>, indicating a consistent skill distribution across the workforce.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151C58-6945-0740-B323-3296DED23305}"/>
                </a:ext>
              </a:extLst>
            </p:cNvPr>
            <p:cNvSpPr txBox="1"/>
            <p:nvPr/>
          </p:nvSpPr>
          <p:spPr>
            <a:xfrm>
              <a:off x="5734312" y="311910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BBF8ACA1-590F-556E-A00C-1EAF87585D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1370" y="317325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084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4AA4-AC05-6981-E57E-179B006F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519D8-0FBD-6D12-9E3D-65FD7E627F1F}"/>
              </a:ext>
            </a:extLst>
          </p:cNvPr>
          <p:cNvSpPr txBox="1"/>
          <p:nvPr/>
        </p:nvSpPr>
        <p:spPr>
          <a:xfrm>
            <a:off x="2616993" y="406598"/>
            <a:ext cx="6973454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SECTION-04: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LEAVE &amp; ABSENCE PATTERNS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65FF2-3686-DD40-6A9F-03109B4DB3CB}"/>
              </a:ext>
            </a:extLst>
          </p:cNvPr>
          <p:cNvSpPr txBox="1"/>
          <p:nvPr/>
        </p:nvSpPr>
        <p:spPr>
          <a:xfrm>
            <a:off x="2718991" y="1309647"/>
            <a:ext cx="676236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Which year had the most employees taking leaves?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8D046D-E928-1BA1-28C4-23E437AC7C12}"/>
              </a:ext>
            </a:extLst>
          </p:cNvPr>
          <p:cNvSpPr txBox="1"/>
          <p:nvPr/>
        </p:nvSpPr>
        <p:spPr>
          <a:xfrm>
            <a:off x="907945" y="3804889"/>
            <a:ext cx="1039332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number of leave days taken by its employees per department?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9643F0-B08E-DA63-CBC4-2181902D6FFB}"/>
              </a:ext>
            </a:extLst>
          </p:cNvPr>
          <p:cNvGrpSpPr/>
          <p:nvPr/>
        </p:nvGrpSpPr>
        <p:grpSpPr>
          <a:xfrm>
            <a:off x="1186511" y="1918297"/>
            <a:ext cx="3086887" cy="1420525"/>
            <a:chOff x="1186511" y="1918297"/>
            <a:chExt cx="3086887" cy="14205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E99B98-FE3A-0728-CBD7-1232A6D6B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340" y="2233826"/>
              <a:ext cx="2972058" cy="110499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308F38-5D0D-BC30-9887-207AC5FF22D7}"/>
                </a:ext>
              </a:extLst>
            </p:cNvPr>
            <p:cNvSpPr txBox="1"/>
            <p:nvPr/>
          </p:nvSpPr>
          <p:spPr>
            <a:xfrm>
              <a:off x="1186511" y="191829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1E2A90-6BC2-1627-D55C-AA996D170DC5}"/>
              </a:ext>
            </a:extLst>
          </p:cNvPr>
          <p:cNvGrpSpPr/>
          <p:nvPr/>
        </p:nvGrpSpPr>
        <p:grpSpPr>
          <a:xfrm>
            <a:off x="7936460" y="1940581"/>
            <a:ext cx="2597741" cy="971295"/>
            <a:chOff x="7936460" y="1940581"/>
            <a:chExt cx="2597741" cy="9712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7BCE85-C738-8124-1C0E-47CEAF07A919}"/>
                </a:ext>
              </a:extLst>
            </p:cNvPr>
            <p:cNvSpPr txBox="1"/>
            <p:nvPr/>
          </p:nvSpPr>
          <p:spPr>
            <a:xfrm>
              <a:off x="7936460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AA1A27-8B1A-F464-E752-496D07F9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0917" y="2257236"/>
              <a:ext cx="2433284" cy="65464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B3D00-CAE0-6CC4-32AA-60BC73FDDF0B}"/>
              </a:ext>
            </a:extLst>
          </p:cNvPr>
          <p:cNvGrpSpPr/>
          <p:nvPr/>
        </p:nvGrpSpPr>
        <p:grpSpPr>
          <a:xfrm>
            <a:off x="8196722" y="4405111"/>
            <a:ext cx="1748744" cy="1843301"/>
            <a:chOff x="8196722" y="4405111"/>
            <a:chExt cx="1748744" cy="184330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D39475-EA53-1B07-CC04-20C9860EF710}"/>
                </a:ext>
              </a:extLst>
            </p:cNvPr>
            <p:cNvSpPr txBox="1"/>
            <p:nvPr/>
          </p:nvSpPr>
          <p:spPr>
            <a:xfrm>
              <a:off x="8196722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984FEF-4FC1-9002-C424-134C6EE78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0369" y="4724280"/>
              <a:ext cx="1585097" cy="152413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886CF1-B5A0-666F-9674-29F28EC18E26}"/>
              </a:ext>
            </a:extLst>
          </p:cNvPr>
          <p:cNvGrpSpPr/>
          <p:nvPr/>
        </p:nvGrpSpPr>
        <p:grpSpPr>
          <a:xfrm>
            <a:off x="1442956" y="4384471"/>
            <a:ext cx="2540939" cy="1957295"/>
            <a:chOff x="1442956" y="4384471"/>
            <a:chExt cx="2540939" cy="195729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9EC84EA-7785-97C8-CE1C-23811D018A27}"/>
                </a:ext>
              </a:extLst>
            </p:cNvPr>
            <p:cNvSpPr txBox="1"/>
            <p:nvPr/>
          </p:nvSpPr>
          <p:spPr>
            <a:xfrm>
              <a:off x="1442956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A6D5F1-0AF4-B7D4-0838-40DCF8409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2762" y="4701672"/>
              <a:ext cx="2381133" cy="164009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B1EB9B-B793-C459-891A-C92E19554214}"/>
              </a:ext>
            </a:extLst>
          </p:cNvPr>
          <p:cNvGrpSpPr/>
          <p:nvPr/>
        </p:nvGrpSpPr>
        <p:grpSpPr>
          <a:xfrm>
            <a:off x="4926611" y="2055410"/>
            <a:ext cx="2369574" cy="1085211"/>
            <a:chOff x="4926611" y="2055410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37C9BF-2050-DB49-C947-74DDF4A8D10B}"/>
                </a:ext>
              </a:extLst>
            </p:cNvPr>
            <p:cNvSpPr txBox="1"/>
            <p:nvPr/>
          </p:nvSpPr>
          <p:spPr>
            <a:xfrm>
              <a:off x="4926611" y="2371180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year </a:t>
              </a:r>
              <a:r>
                <a:rPr lang="en-US" sz="1100" b="1" dirty="0"/>
                <a:t>2024 has the highest number of employees taking leaves</a:t>
              </a:r>
              <a:r>
                <a:rPr lang="en-US" sz="1100" dirty="0"/>
                <a:t>, indicating peak leave activity in that year.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70B7F4-734F-45FE-BDE3-DCA671FEB7BC}"/>
                </a:ext>
              </a:extLst>
            </p:cNvPr>
            <p:cNvSpPr txBox="1"/>
            <p:nvPr/>
          </p:nvSpPr>
          <p:spPr>
            <a:xfrm>
              <a:off x="5743643" y="205541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DB52F8A5-8CF6-4AF0-C811-3351E2FD03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0701" y="2109555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1A8848-8B82-4996-9DDA-6A480EE932D8}"/>
              </a:ext>
            </a:extLst>
          </p:cNvPr>
          <p:cNvGrpSpPr/>
          <p:nvPr/>
        </p:nvGrpSpPr>
        <p:grpSpPr>
          <a:xfrm>
            <a:off x="4917005" y="4830619"/>
            <a:ext cx="2369574" cy="1085211"/>
            <a:chOff x="4917005" y="4830619"/>
            <a:chExt cx="2369574" cy="1085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F98013-94DF-08CD-8228-6CF4C5E51B95}"/>
                </a:ext>
              </a:extLst>
            </p:cNvPr>
            <p:cNvSpPr txBox="1"/>
            <p:nvPr/>
          </p:nvSpPr>
          <p:spPr>
            <a:xfrm>
              <a:off x="4917005" y="514638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departments have an </a:t>
              </a:r>
              <a:r>
                <a:rPr lang="en-US" sz="1100" b="1" dirty="0"/>
                <a:t>average of 1 leave per employee</a:t>
              </a:r>
              <a:r>
                <a:rPr lang="en-US" sz="1100" dirty="0"/>
                <a:t>, showing uniform leave distribution across the organization.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F0A858-EBC5-9C11-0C82-450E654AFED0}"/>
                </a:ext>
              </a:extLst>
            </p:cNvPr>
            <p:cNvSpPr txBox="1"/>
            <p:nvPr/>
          </p:nvSpPr>
          <p:spPr>
            <a:xfrm>
              <a:off x="5734037" y="483061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119BCFC7-9415-3BC1-7ABB-E0CA2D2ED4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1095" y="488476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947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F2CD-44E7-3756-D4D3-A8C8073F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D223FA-EA8E-944B-EC27-E6C02D2E40FF}"/>
              </a:ext>
            </a:extLst>
          </p:cNvPr>
          <p:cNvSpPr txBox="1"/>
          <p:nvPr/>
        </p:nvSpPr>
        <p:spPr>
          <a:xfrm>
            <a:off x="2975434" y="936787"/>
            <a:ext cx="622970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employees have taken the most leaves?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22232-44C7-72B7-7FB0-C68E40631CEA}"/>
              </a:ext>
            </a:extLst>
          </p:cNvPr>
          <p:cNvSpPr txBox="1"/>
          <p:nvPr/>
        </p:nvSpPr>
        <p:spPr>
          <a:xfrm>
            <a:off x="2132051" y="3778256"/>
            <a:ext cx="792789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What is the total number of leave days taken company-wide?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07AFE2-052F-9097-34E8-537DD79F13FD}"/>
              </a:ext>
            </a:extLst>
          </p:cNvPr>
          <p:cNvGrpSpPr/>
          <p:nvPr/>
        </p:nvGrpSpPr>
        <p:grpSpPr>
          <a:xfrm>
            <a:off x="1554371" y="4357838"/>
            <a:ext cx="2511544" cy="1341626"/>
            <a:chOff x="1554371" y="4357838"/>
            <a:chExt cx="2511544" cy="134162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C4D2A0-5764-CC8A-3E7E-4A04CB4668D3}"/>
                </a:ext>
              </a:extLst>
            </p:cNvPr>
            <p:cNvSpPr txBox="1"/>
            <p:nvPr/>
          </p:nvSpPr>
          <p:spPr>
            <a:xfrm>
              <a:off x="1554371" y="435783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DCC7C9-0337-5EAB-9D9D-12379510F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6043" y="4665615"/>
              <a:ext cx="2359872" cy="103384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8EAF11-C8C9-7CBA-8C11-1E4221AA6524}"/>
              </a:ext>
            </a:extLst>
          </p:cNvPr>
          <p:cNvGrpSpPr/>
          <p:nvPr/>
        </p:nvGrpSpPr>
        <p:grpSpPr>
          <a:xfrm>
            <a:off x="1932402" y="1612030"/>
            <a:ext cx="2242225" cy="1440085"/>
            <a:chOff x="1932402" y="1612030"/>
            <a:chExt cx="2242225" cy="14400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417958-4855-3336-0EE5-17F773ACF053}"/>
                </a:ext>
              </a:extLst>
            </p:cNvPr>
            <p:cNvSpPr txBox="1"/>
            <p:nvPr/>
          </p:nvSpPr>
          <p:spPr>
            <a:xfrm>
              <a:off x="1932402" y="161203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8B579A-602C-38E1-D1C9-817CE808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704" y="1931878"/>
              <a:ext cx="2110923" cy="112023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C2E029-33E1-6B65-E4F1-C813F85D0D5F}"/>
              </a:ext>
            </a:extLst>
          </p:cNvPr>
          <p:cNvGrpSpPr/>
          <p:nvPr/>
        </p:nvGrpSpPr>
        <p:grpSpPr>
          <a:xfrm>
            <a:off x="7926570" y="1638741"/>
            <a:ext cx="1597141" cy="1617487"/>
            <a:chOff x="7926570" y="1638741"/>
            <a:chExt cx="1597141" cy="161748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375C0C-AD9F-05B1-5FEE-9385F8C79135}"/>
                </a:ext>
              </a:extLst>
            </p:cNvPr>
            <p:cNvSpPr txBox="1"/>
            <p:nvPr/>
          </p:nvSpPr>
          <p:spPr>
            <a:xfrm>
              <a:off x="7926570" y="163874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49DA9D-62C7-2B22-B56F-C2515257C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1027" y="1945474"/>
              <a:ext cx="1432684" cy="13107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F74539-45AE-6726-5300-11FE5F3DFEB4}"/>
              </a:ext>
            </a:extLst>
          </p:cNvPr>
          <p:cNvGrpSpPr/>
          <p:nvPr/>
        </p:nvGrpSpPr>
        <p:grpSpPr>
          <a:xfrm>
            <a:off x="8074864" y="4378478"/>
            <a:ext cx="1966836" cy="921491"/>
            <a:chOff x="8074864" y="4378478"/>
            <a:chExt cx="1966836" cy="9214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BBA6EDD-8C24-AB22-FEFC-ECB5C3CC7E31}"/>
                </a:ext>
              </a:extLst>
            </p:cNvPr>
            <p:cNvSpPr txBox="1"/>
            <p:nvPr/>
          </p:nvSpPr>
          <p:spPr>
            <a:xfrm>
              <a:off x="8074864" y="437847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4087C3A-6D52-B2BD-31BC-9AB5827B2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2999" y="4695133"/>
              <a:ext cx="1838701" cy="60483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77573A-1400-5138-B16B-1E8B5690E025}"/>
              </a:ext>
            </a:extLst>
          </p:cNvPr>
          <p:cNvGrpSpPr/>
          <p:nvPr/>
        </p:nvGrpSpPr>
        <p:grpSpPr>
          <a:xfrm>
            <a:off x="4926611" y="1906116"/>
            <a:ext cx="2369574" cy="915934"/>
            <a:chOff x="4926611" y="1906116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79F4C6-DE57-7093-889D-4A85C8F8E853}"/>
                </a:ext>
              </a:extLst>
            </p:cNvPr>
            <p:cNvSpPr txBox="1"/>
            <p:nvPr/>
          </p:nvSpPr>
          <p:spPr>
            <a:xfrm>
              <a:off x="4926611" y="2221886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employees have taken </a:t>
              </a:r>
              <a:r>
                <a:rPr lang="en-US" sz="1100" b="1" dirty="0"/>
                <a:t>equal number of leaves</a:t>
              </a:r>
              <a:r>
                <a:rPr lang="en-US" sz="1100" dirty="0"/>
                <a:t>, indicating no significant variation in leave patterns.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B47CFD-07CC-47F3-365B-2F4F98B3DB5E}"/>
                </a:ext>
              </a:extLst>
            </p:cNvPr>
            <p:cNvSpPr txBox="1"/>
            <p:nvPr/>
          </p:nvSpPr>
          <p:spPr>
            <a:xfrm>
              <a:off x="5743643" y="1906116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4" name="Graphic 3" descr="Lightbulb and gear with solid fill">
              <a:extLst>
                <a:ext uri="{FF2B5EF4-FFF2-40B4-BE49-F238E27FC236}">
                  <a16:creationId xmlns:a16="http://schemas.microsoft.com/office/drawing/2014/main" id="{80CA6EC9-8817-0ED7-676B-9C010EE98E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0701" y="1960261"/>
              <a:ext cx="199486" cy="19948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86C477-D4F5-8765-7BB8-9CD415E3C4BF}"/>
              </a:ext>
            </a:extLst>
          </p:cNvPr>
          <p:cNvGrpSpPr/>
          <p:nvPr/>
        </p:nvGrpSpPr>
        <p:grpSpPr>
          <a:xfrm>
            <a:off x="4927586" y="4639147"/>
            <a:ext cx="2369574" cy="915934"/>
            <a:chOff x="4927586" y="4639147"/>
            <a:chExt cx="2369574" cy="91593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2C9C74-7935-DACB-A04D-BFA495A58FD7}"/>
                </a:ext>
              </a:extLst>
            </p:cNvPr>
            <p:cNvSpPr txBox="1"/>
            <p:nvPr/>
          </p:nvSpPr>
          <p:spPr>
            <a:xfrm>
              <a:off x="4927586" y="4954917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company has a total of </a:t>
              </a:r>
              <a:r>
                <a:rPr lang="en-US" sz="1100" b="1" dirty="0"/>
                <a:t>60 leave days</a:t>
              </a:r>
              <a:r>
                <a:rPr lang="en-US" sz="1100" dirty="0"/>
                <a:t>, reflecting overall employee absence during the period.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34A8DE-56F4-6973-DDB2-ADF599D3206A}"/>
                </a:ext>
              </a:extLst>
            </p:cNvPr>
            <p:cNvSpPr txBox="1"/>
            <p:nvPr/>
          </p:nvSpPr>
          <p:spPr>
            <a:xfrm>
              <a:off x="5744618" y="463914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1" name="Graphic 10" descr="Lightbulb and gear with solid fill">
              <a:extLst>
                <a:ext uri="{FF2B5EF4-FFF2-40B4-BE49-F238E27FC236}">
                  <a16:creationId xmlns:a16="http://schemas.microsoft.com/office/drawing/2014/main" id="{980067DE-1B2C-5FD7-3CE5-81CF065451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6" y="4693292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143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142C-BF00-752A-7508-FCC0C462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458C69-F0BB-8613-F138-D0667B9C3352}"/>
              </a:ext>
            </a:extLst>
          </p:cNvPr>
          <p:cNvSpPr txBox="1"/>
          <p:nvPr/>
        </p:nvSpPr>
        <p:spPr>
          <a:xfrm>
            <a:off x="2691345" y="1673633"/>
            <a:ext cx="6825515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Q-05: How do leave days correlate with payroll amounts?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53C899-EB81-B71A-3464-4072ECEF9947}"/>
              </a:ext>
            </a:extLst>
          </p:cNvPr>
          <p:cNvGrpSpPr/>
          <p:nvPr/>
        </p:nvGrpSpPr>
        <p:grpSpPr>
          <a:xfrm>
            <a:off x="1017997" y="2348876"/>
            <a:ext cx="3156704" cy="2050057"/>
            <a:chOff x="1017997" y="2348876"/>
            <a:chExt cx="3156704" cy="20500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1E6A88-0330-CB46-6B5D-497FDE29A15F}"/>
                </a:ext>
              </a:extLst>
            </p:cNvPr>
            <p:cNvSpPr txBox="1"/>
            <p:nvPr/>
          </p:nvSpPr>
          <p:spPr>
            <a:xfrm>
              <a:off x="1017997" y="234887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A4436C0-3BCF-DEF3-E550-3D08A15DF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9299" y="2661422"/>
              <a:ext cx="3025402" cy="173751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4201B5-6E76-39BD-4463-3B7A0D822C30}"/>
              </a:ext>
            </a:extLst>
          </p:cNvPr>
          <p:cNvGrpSpPr/>
          <p:nvPr/>
        </p:nvGrpSpPr>
        <p:grpSpPr>
          <a:xfrm>
            <a:off x="8206494" y="2375587"/>
            <a:ext cx="2450655" cy="2070524"/>
            <a:chOff x="8206494" y="2375587"/>
            <a:chExt cx="2450655" cy="207052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1F7956-4720-BD3C-9F1C-E14C4A43AE1C}"/>
                </a:ext>
              </a:extLst>
            </p:cNvPr>
            <p:cNvSpPr txBox="1"/>
            <p:nvPr/>
          </p:nvSpPr>
          <p:spPr>
            <a:xfrm>
              <a:off x="8206494" y="237558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3877A3-C6B9-354F-61D7-7CD5DD2D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0951" y="2670497"/>
              <a:ext cx="2286198" cy="177561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7206F8-44B2-A1C6-4EC9-B3CF4E56FEED}"/>
              </a:ext>
            </a:extLst>
          </p:cNvPr>
          <p:cNvGrpSpPr/>
          <p:nvPr/>
        </p:nvGrpSpPr>
        <p:grpSpPr>
          <a:xfrm>
            <a:off x="4927586" y="2838339"/>
            <a:ext cx="2369574" cy="1085211"/>
            <a:chOff x="4927586" y="283833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D84D31-04A7-4E3B-2B80-772C436DFDAF}"/>
                </a:ext>
              </a:extLst>
            </p:cNvPr>
            <p:cNvSpPr txBox="1"/>
            <p:nvPr/>
          </p:nvSpPr>
          <p:spPr>
            <a:xfrm>
              <a:off x="4927586" y="315410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Leave days show </a:t>
              </a:r>
              <a:r>
                <a:rPr lang="en-US" sz="1100" b="1" dirty="0"/>
                <a:t>no significant impact on payroll amounts</a:t>
              </a:r>
              <a:r>
                <a:rPr lang="en-US" sz="1100" dirty="0"/>
                <a:t>, as all employees have similar leave counts with varying salaries.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892EEC-BE48-A387-35C4-852308BB89DC}"/>
                </a:ext>
              </a:extLst>
            </p:cNvPr>
            <p:cNvSpPr txBox="1"/>
            <p:nvPr/>
          </p:nvSpPr>
          <p:spPr>
            <a:xfrm>
              <a:off x="5744618" y="283833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EB76BD18-CBE2-A4FF-B7B6-5DB2CD1CD2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41676" y="2892484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6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3420-7D32-C513-FE46-1A6F1010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3FF642-2B41-27D3-E0C1-CA9B1BF41B2A}"/>
              </a:ext>
            </a:extLst>
          </p:cNvPr>
          <p:cNvSpPr txBox="1"/>
          <p:nvPr/>
        </p:nvSpPr>
        <p:spPr>
          <a:xfrm>
            <a:off x="1604936" y="406598"/>
            <a:ext cx="900387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Eras Bold ITC" panose="020B0907030504020204" pitchFamily="34" charset="0"/>
              </a:rPr>
              <a:t>SECTION-05:  </a:t>
            </a:r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PAYROLL AND COMPENSATION ANALYSIS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B184E-6F04-A4DE-6228-C9BEB7E7525C}"/>
              </a:ext>
            </a:extLst>
          </p:cNvPr>
          <p:cNvSpPr txBox="1"/>
          <p:nvPr/>
        </p:nvSpPr>
        <p:spPr>
          <a:xfrm>
            <a:off x="3047467" y="1309647"/>
            <a:ext cx="6116851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Q-01: What is the total monthly payroll processed?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1E47FE-F6C6-67D4-72C3-FEFF6AC8665B}"/>
              </a:ext>
            </a:extLst>
          </p:cNvPr>
          <p:cNvSpPr txBox="1"/>
          <p:nvPr/>
        </p:nvSpPr>
        <p:spPr>
          <a:xfrm>
            <a:off x="2754507" y="3804889"/>
            <a:ext cx="670021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Q-02: What is the average bonus given per department?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56C92D-D63F-7D47-6EF1-03529DE49228}"/>
              </a:ext>
            </a:extLst>
          </p:cNvPr>
          <p:cNvGrpSpPr/>
          <p:nvPr/>
        </p:nvGrpSpPr>
        <p:grpSpPr>
          <a:xfrm>
            <a:off x="1055883" y="1918297"/>
            <a:ext cx="3302513" cy="1429271"/>
            <a:chOff x="1055883" y="1918297"/>
            <a:chExt cx="3302513" cy="1429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E2D11C-9C9E-7FC2-0F44-6A82828E4F41}"/>
                </a:ext>
              </a:extLst>
            </p:cNvPr>
            <p:cNvSpPr txBox="1"/>
            <p:nvPr/>
          </p:nvSpPr>
          <p:spPr>
            <a:xfrm>
              <a:off x="1055883" y="191829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DA6982-BBA0-DA8C-E6A0-9F7A22AD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5822" y="2234952"/>
              <a:ext cx="3162574" cy="111261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A58230-20DB-084F-5ED4-D037641B68D6}"/>
              </a:ext>
            </a:extLst>
          </p:cNvPr>
          <p:cNvGrpSpPr/>
          <p:nvPr/>
        </p:nvGrpSpPr>
        <p:grpSpPr>
          <a:xfrm>
            <a:off x="7936460" y="1940581"/>
            <a:ext cx="2356298" cy="909150"/>
            <a:chOff x="7936460" y="1940581"/>
            <a:chExt cx="2356298" cy="9091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982542-D06F-6EF6-BCC4-055F38DE7E0D}"/>
                </a:ext>
              </a:extLst>
            </p:cNvPr>
            <p:cNvSpPr txBox="1"/>
            <p:nvPr/>
          </p:nvSpPr>
          <p:spPr>
            <a:xfrm>
              <a:off x="7936460" y="194058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9CF7F9-FEC0-6EBE-595E-746833309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0760" y="2256447"/>
              <a:ext cx="2201998" cy="59328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3D325B-DA12-ABED-32CD-B182D37E655F}"/>
              </a:ext>
            </a:extLst>
          </p:cNvPr>
          <p:cNvGrpSpPr/>
          <p:nvPr/>
        </p:nvGrpSpPr>
        <p:grpSpPr>
          <a:xfrm>
            <a:off x="1853510" y="4384471"/>
            <a:ext cx="2113286" cy="1886664"/>
            <a:chOff x="1853510" y="4384471"/>
            <a:chExt cx="2113286" cy="188666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C1310D-BB4C-0147-855A-3C66EB9057D5}"/>
                </a:ext>
              </a:extLst>
            </p:cNvPr>
            <p:cNvSpPr txBox="1"/>
            <p:nvPr/>
          </p:nvSpPr>
          <p:spPr>
            <a:xfrm>
              <a:off x="1853510" y="438447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D811E6-1A31-B1AC-0E65-43FC7441B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7804" y="4701279"/>
              <a:ext cx="1988992" cy="156985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9350F8-A02C-96D8-72DE-674795AB3651}"/>
              </a:ext>
            </a:extLst>
          </p:cNvPr>
          <p:cNvGrpSpPr/>
          <p:nvPr/>
        </p:nvGrpSpPr>
        <p:grpSpPr>
          <a:xfrm>
            <a:off x="8094083" y="4405111"/>
            <a:ext cx="1882123" cy="1850782"/>
            <a:chOff x="8094083" y="4405111"/>
            <a:chExt cx="1882123" cy="185078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1A0E72-E805-6715-F6B9-BFDAC35EEC48}"/>
                </a:ext>
              </a:extLst>
            </p:cNvPr>
            <p:cNvSpPr txBox="1"/>
            <p:nvPr/>
          </p:nvSpPr>
          <p:spPr>
            <a:xfrm>
              <a:off x="8094083" y="4405111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372BC17-20C9-AD60-21F1-20037F760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8695" y="4716520"/>
              <a:ext cx="1737511" cy="153937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3F9DA6-EB90-D3C5-4F45-D001B329F6E1}"/>
              </a:ext>
            </a:extLst>
          </p:cNvPr>
          <p:cNvGrpSpPr/>
          <p:nvPr/>
        </p:nvGrpSpPr>
        <p:grpSpPr>
          <a:xfrm>
            <a:off x="4927587" y="2166540"/>
            <a:ext cx="2369574" cy="915934"/>
            <a:chOff x="4927587" y="2166540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A1314AA-AD2D-0DA7-4580-677D6E8B9B30}"/>
                </a:ext>
              </a:extLst>
            </p:cNvPr>
            <p:cNvSpPr txBox="1"/>
            <p:nvPr/>
          </p:nvSpPr>
          <p:spPr>
            <a:xfrm>
              <a:off x="4927587" y="2482310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total monthly payroll for </a:t>
              </a:r>
              <a:r>
                <a:rPr lang="en-US" sz="1100" b="1" dirty="0"/>
                <a:t>April 2024 is 2,778,000</a:t>
              </a:r>
              <a:r>
                <a:rPr lang="en-US" sz="1100" dirty="0"/>
                <a:t>, showing the overall salary payout for that period.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E41B03-32E1-F1DD-5CCB-71BED7FD7DCC}"/>
                </a:ext>
              </a:extLst>
            </p:cNvPr>
            <p:cNvSpPr txBox="1"/>
            <p:nvPr/>
          </p:nvSpPr>
          <p:spPr>
            <a:xfrm>
              <a:off x="5744619" y="216654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0CBFDB44-76E7-7CA6-11A4-40D52C33E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2220685"/>
              <a:ext cx="199486" cy="19948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840B09-C878-F513-0950-8589CE0FF9A8}"/>
              </a:ext>
            </a:extLst>
          </p:cNvPr>
          <p:cNvGrpSpPr/>
          <p:nvPr/>
        </p:nvGrpSpPr>
        <p:grpSpPr>
          <a:xfrm>
            <a:off x="4927587" y="4892614"/>
            <a:ext cx="2369574" cy="1085211"/>
            <a:chOff x="4927587" y="4892614"/>
            <a:chExt cx="2369574" cy="108521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FA1FB4-A5B0-C663-4917-5405ACDEA539}"/>
                </a:ext>
              </a:extLst>
            </p:cNvPr>
            <p:cNvSpPr txBox="1"/>
            <p:nvPr/>
          </p:nvSpPr>
          <p:spPr>
            <a:xfrm>
              <a:off x="4927587" y="5208384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</a:t>
              </a:r>
              <a:r>
                <a:rPr lang="en-US" sz="1100" b="1" dirty="0"/>
                <a:t>Legal and Engineering departments receive the highest average bonuses</a:t>
              </a:r>
              <a:r>
                <a:rPr lang="en-US" sz="1100" dirty="0"/>
                <a:t>, indicating higher incentives in these areas.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DF35A-9257-075E-E21D-C14CDBCDC8F4}"/>
                </a:ext>
              </a:extLst>
            </p:cNvPr>
            <p:cNvSpPr txBox="1"/>
            <p:nvPr/>
          </p:nvSpPr>
          <p:spPr>
            <a:xfrm>
              <a:off x="5744619" y="4892614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2" name="Graphic 11" descr="Lightbulb and gear with solid fill">
              <a:extLst>
                <a:ext uri="{FF2B5EF4-FFF2-40B4-BE49-F238E27FC236}">
                  <a16:creationId xmlns:a16="http://schemas.microsoft.com/office/drawing/2014/main" id="{2637A0F1-A9C3-A213-3963-4A041B4639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4946759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5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083B-84ED-9845-FF73-839CD882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A902EE-D3CD-C02A-85A0-4F763540DAEE}"/>
              </a:ext>
            </a:extLst>
          </p:cNvPr>
          <p:cNvSpPr txBox="1"/>
          <p:nvPr/>
        </p:nvSpPr>
        <p:spPr>
          <a:xfrm>
            <a:off x="2505928" y="802799"/>
            <a:ext cx="7202241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Q-03: Which department receives the highest total bonuses?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7F2A3-1A7C-62AD-664D-E0CBBAE9BA05}"/>
              </a:ext>
            </a:extLst>
          </p:cNvPr>
          <p:cNvSpPr txBox="1"/>
          <p:nvPr/>
        </p:nvSpPr>
        <p:spPr>
          <a:xfrm>
            <a:off x="1103262" y="3792572"/>
            <a:ext cx="999382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Q-04: What is the average value of total amount after considering leave deductions?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047D2C-65BD-5D39-7754-EBC1A6D41FE8}"/>
              </a:ext>
            </a:extLst>
          </p:cNvPr>
          <p:cNvGrpSpPr/>
          <p:nvPr/>
        </p:nvGrpSpPr>
        <p:grpSpPr>
          <a:xfrm>
            <a:off x="962576" y="1514089"/>
            <a:ext cx="3534786" cy="1585424"/>
            <a:chOff x="962576" y="1794009"/>
            <a:chExt cx="3534786" cy="15854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0C9BF9-8A30-CE28-7740-3C62B38F924A}"/>
                </a:ext>
              </a:extLst>
            </p:cNvPr>
            <p:cNvSpPr txBox="1"/>
            <p:nvPr/>
          </p:nvSpPr>
          <p:spPr>
            <a:xfrm>
              <a:off x="962576" y="1794009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0E4B0EE-2AD5-106B-EE2A-3C5AB3E0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3306" y="2114403"/>
              <a:ext cx="3414056" cy="126503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F66EF-AD4B-9817-735D-AEF7BF45D885}"/>
              </a:ext>
            </a:extLst>
          </p:cNvPr>
          <p:cNvGrpSpPr/>
          <p:nvPr/>
        </p:nvGrpSpPr>
        <p:grpSpPr>
          <a:xfrm>
            <a:off x="7936460" y="1536373"/>
            <a:ext cx="2825299" cy="1103652"/>
            <a:chOff x="7936460" y="1816293"/>
            <a:chExt cx="2825299" cy="110365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891459-1685-3351-3EAA-2B4C8ADFABA1}"/>
                </a:ext>
              </a:extLst>
            </p:cNvPr>
            <p:cNvSpPr txBox="1"/>
            <p:nvPr/>
          </p:nvSpPr>
          <p:spPr>
            <a:xfrm>
              <a:off x="7936460" y="181629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0D4058-E20E-222C-4B95-2EA169E4E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0760" y="2132703"/>
              <a:ext cx="2670999" cy="78724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7C853A-4F54-7807-C672-5FF377C3BE31}"/>
              </a:ext>
            </a:extLst>
          </p:cNvPr>
          <p:cNvGrpSpPr/>
          <p:nvPr/>
        </p:nvGrpSpPr>
        <p:grpSpPr>
          <a:xfrm>
            <a:off x="7972782" y="4598067"/>
            <a:ext cx="2672430" cy="1200104"/>
            <a:chOff x="7972782" y="4280823"/>
            <a:chExt cx="2672430" cy="120010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25BA02-BE05-0E90-E742-FB54F94452BE}"/>
                </a:ext>
              </a:extLst>
            </p:cNvPr>
            <p:cNvSpPr txBox="1"/>
            <p:nvPr/>
          </p:nvSpPr>
          <p:spPr>
            <a:xfrm>
              <a:off x="7972782" y="428082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838DD59-3BD9-DD12-4495-E3BE19DB2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54038" y="4599696"/>
              <a:ext cx="2491174" cy="88123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E51FDB-D8E3-5530-7FC8-7FAF23247B82}"/>
              </a:ext>
            </a:extLst>
          </p:cNvPr>
          <p:cNvGrpSpPr/>
          <p:nvPr/>
        </p:nvGrpSpPr>
        <p:grpSpPr>
          <a:xfrm>
            <a:off x="1405633" y="4577427"/>
            <a:ext cx="2660014" cy="1238500"/>
            <a:chOff x="1405633" y="4260183"/>
            <a:chExt cx="2660014" cy="123850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510F9A2-EC5A-2116-B701-34AC975A11DB}"/>
                </a:ext>
              </a:extLst>
            </p:cNvPr>
            <p:cNvSpPr txBox="1"/>
            <p:nvPr/>
          </p:nvSpPr>
          <p:spPr>
            <a:xfrm>
              <a:off x="1405633" y="426018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57C544-6384-9695-5E31-D38D2734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5439" y="4581940"/>
              <a:ext cx="2500208" cy="9167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4CD82F-B0A5-B3F7-937B-149DFBEFA86B}"/>
              </a:ext>
            </a:extLst>
          </p:cNvPr>
          <p:cNvGrpSpPr/>
          <p:nvPr/>
        </p:nvGrpSpPr>
        <p:grpSpPr>
          <a:xfrm>
            <a:off x="4927587" y="1886620"/>
            <a:ext cx="2369574" cy="915934"/>
            <a:chOff x="4927587" y="2166540"/>
            <a:chExt cx="2369574" cy="91593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41F6DD0-0D73-F833-BEBF-C01D525C91BA}"/>
                </a:ext>
              </a:extLst>
            </p:cNvPr>
            <p:cNvSpPr txBox="1"/>
            <p:nvPr/>
          </p:nvSpPr>
          <p:spPr>
            <a:xfrm>
              <a:off x="4927587" y="2482310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</a:t>
              </a:r>
              <a:r>
                <a:rPr lang="en-US" sz="1100" b="1" dirty="0"/>
                <a:t>Finance department receives the highest total bonuses</a:t>
              </a:r>
              <a:r>
                <a:rPr lang="en-US" sz="1100" dirty="0"/>
                <a:t>, indicating strong incentive allocation in this area.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35B3D0-4EA9-8CD6-EFCC-19EBA3B3769E}"/>
                </a:ext>
              </a:extLst>
            </p:cNvPr>
            <p:cNvSpPr txBox="1"/>
            <p:nvPr/>
          </p:nvSpPr>
          <p:spPr>
            <a:xfrm>
              <a:off x="5744619" y="2166540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6" name="Graphic 5" descr="Lightbulb and gear with solid fill">
              <a:extLst>
                <a:ext uri="{FF2B5EF4-FFF2-40B4-BE49-F238E27FC236}">
                  <a16:creationId xmlns:a16="http://schemas.microsoft.com/office/drawing/2014/main" id="{5E8D3108-FDB5-4F84-99A0-2E73B88444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1677" y="2220685"/>
              <a:ext cx="199486" cy="19948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05EB01-B273-A5D9-1080-2D756983230D}"/>
              </a:ext>
            </a:extLst>
          </p:cNvPr>
          <p:cNvGrpSpPr/>
          <p:nvPr/>
        </p:nvGrpSpPr>
        <p:grpSpPr>
          <a:xfrm>
            <a:off x="4925724" y="4863325"/>
            <a:ext cx="2369574" cy="915934"/>
            <a:chOff x="4925724" y="4546081"/>
            <a:chExt cx="2369574" cy="91593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8A2F84-C380-3331-DE53-091A84130DED}"/>
                </a:ext>
              </a:extLst>
            </p:cNvPr>
            <p:cNvSpPr txBox="1"/>
            <p:nvPr/>
          </p:nvSpPr>
          <p:spPr>
            <a:xfrm>
              <a:off x="4925724" y="4861851"/>
              <a:ext cx="2369574" cy="6001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average net salary after deductions is </a:t>
              </a:r>
              <a:r>
                <a:rPr lang="en-US" sz="1100" b="1" dirty="0"/>
                <a:t>46,300</a:t>
              </a:r>
              <a:r>
                <a:rPr lang="en-US" sz="1100" dirty="0"/>
                <a:t>, reflecting the typical employee take-home pay.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19B6E4-C98F-A4A3-3451-35EA95A666A5}"/>
                </a:ext>
              </a:extLst>
            </p:cNvPr>
            <p:cNvSpPr txBox="1"/>
            <p:nvPr/>
          </p:nvSpPr>
          <p:spPr>
            <a:xfrm>
              <a:off x="5742756" y="4546081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1" name="Graphic 10" descr="Lightbulb and gear with solid fill">
              <a:extLst>
                <a:ext uri="{FF2B5EF4-FFF2-40B4-BE49-F238E27FC236}">
                  <a16:creationId xmlns:a16="http://schemas.microsoft.com/office/drawing/2014/main" id="{2063DDA3-0B39-8F19-31F1-AA4FB1F693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9814" y="4600226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301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637B-6ED3-910B-BFE1-FA0F577A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329CA-A5E4-2221-B8AA-B099874EFBB6}"/>
              </a:ext>
            </a:extLst>
          </p:cNvPr>
          <p:cNvSpPr txBox="1"/>
          <p:nvPr/>
        </p:nvSpPr>
        <p:spPr>
          <a:xfrm>
            <a:off x="548493" y="566402"/>
            <a:ext cx="5195359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CTE (Common Table Expression)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69ECB-F06E-F9A8-55EF-70887DC29F21}"/>
              </a:ext>
            </a:extLst>
          </p:cNvPr>
          <p:cNvSpPr txBox="1"/>
          <p:nvPr/>
        </p:nvSpPr>
        <p:spPr>
          <a:xfrm>
            <a:off x="548493" y="1673213"/>
            <a:ext cx="3708439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Top Paid Employees using CTE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77DFB7-A006-2102-E285-B63E1884C947}"/>
              </a:ext>
            </a:extLst>
          </p:cNvPr>
          <p:cNvGrpSpPr/>
          <p:nvPr/>
        </p:nvGrpSpPr>
        <p:grpSpPr>
          <a:xfrm>
            <a:off x="459719" y="2433202"/>
            <a:ext cx="2501783" cy="2846714"/>
            <a:chOff x="459719" y="2433202"/>
            <a:chExt cx="2501783" cy="28467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84A43C-D133-4C0D-A5BF-31798E89ADE6}"/>
                </a:ext>
              </a:extLst>
            </p:cNvPr>
            <p:cNvSpPr txBox="1"/>
            <p:nvPr/>
          </p:nvSpPr>
          <p:spPr>
            <a:xfrm>
              <a:off x="459719" y="243320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DE164-D05B-34DE-79BD-225DBC404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339" y="2749857"/>
              <a:ext cx="2347163" cy="253005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0753C-31D6-8C98-8397-2E7331DE07E7}"/>
              </a:ext>
            </a:extLst>
          </p:cNvPr>
          <p:cNvGrpSpPr/>
          <p:nvPr/>
        </p:nvGrpSpPr>
        <p:grpSpPr>
          <a:xfrm>
            <a:off x="3213520" y="2446608"/>
            <a:ext cx="2710993" cy="1350641"/>
            <a:chOff x="3213520" y="2446608"/>
            <a:chExt cx="2710993" cy="13506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97E5B9-FB2B-8A10-70FE-21342C87F454}"/>
                </a:ext>
              </a:extLst>
            </p:cNvPr>
            <p:cNvSpPr txBox="1"/>
            <p:nvPr/>
          </p:nvSpPr>
          <p:spPr>
            <a:xfrm>
              <a:off x="3213520" y="244660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F23B6B-B2FB-B467-1706-C10EE16A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4454" y="2760839"/>
              <a:ext cx="2530059" cy="103641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CBC3FB-69DC-9872-9BBE-B971C426106E}"/>
              </a:ext>
            </a:extLst>
          </p:cNvPr>
          <p:cNvSpPr txBox="1"/>
          <p:nvPr/>
        </p:nvSpPr>
        <p:spPr>
          <a:xfrm>
            <a:off x="6657810" y="1673213"/>
            <a:ext cx="498569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Identifying Above-average salary earners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2F0E29-9425-4BB9-3FCC-270B979D80C5}"/>
              </a:ext>
            </a:extLst>
          </p:cNvPr>
          <p:cNvGrpSpPr/>
          <p:nvPr/>
        </p:nvGrpSpPr>
        <p:grpSpPr>
          <a:xfrm>
            <a:off x="6533524" y="2435306"/>
            <a:ext cx="3096344" cy="2219716"/>
            <a:chOff x="6533524" y="2435306"/>
            <a:chExt cx="3096344" cy="221971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6EB7C6-2E06-D422-A447-705D657CF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7810" y="2749857"/>
              <a:ext cx="2972058" cy="190516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C8988D-B594-CEE4-41FD-76E5C87A2B7F}"/>
                </a:ext>
              </a:extLst>
            </p:cNvPr>
            <p:cNvSpPr txBox="1"/>
            <p:nvPr/>
          </p:nvSpPr>
          <p:spPr>
            <a:xfrm>
              <a:off x="6533524" y="243530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AE8FB8-F92F-6D7E-7CA6-EFC48AFF7CE2}"/>
              </a:ext>
            </a:extLst>
          </p:cNvPr>
          <p:cNvGrpSpPr/>
          <p:nvPr/>
        </p:nvGrpSpPr>
        <p:grpSpPr>
          <a:xfrm>
            <a:off x="9704576" y="2424323"/>
            <a:ext cx="2115082" cy="1970339"/>
            <a:chOff x="9704576" y="2424323"/>
            <a:chExt cx="2115082" cy="19703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0EC8A8-B66A-967B-FEAD-01F3C7FF8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3528" y="2740979"/>
              <a:ext cx="1966130" cy="1653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E2C775-29F1-9612-3EA7-B8DEE5355197}"/>
                </a:ext>
              </a:extLst>
            </p:cNvPr>
            <p:cNvSpPr txBox="1"/>
            <p:nvPr/>
          </p:nvSpPr>
          <p:spPr>
            <a:xfrm>
              <a:off x="9704576" y="2424323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47EA2E-5D73-65C6-7256-20C8A71B010D}"/>
              </a:ext>
            </a:extLst>
          </p:cNvPr>
          <p:cNvGrpSpPr/>
          <p:nvPr/>
        </p:nvGrpSpPr>
        <p:grpSpPr>
          <a:xfrm>
            <a:off x="3454394" y="4153118"/>
            <a:ext cx="2369574" cy="1085211"/>
            <a:chOff x="3454394" y="4153118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352BC17-1C9B-D08E-8618-B59BE61C5A17}"/>
                </a:ext>
              </a:extLst>
            </p:cNvPr>
            <p:cNvSpPr txBox="1"/>
            <p:nvPr/>
          </p:nvSpPr>
          <p:spPr>
            <a:xfrm>
              <a:off x="3454394" y="4468888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highest-paid employee earns </a:t>
              </a:r>
              <a:r>
                <a:rPr lang="en-US" sz="1100" b="1" dirty="0"/>
                <a:t>170,000</a:t>
              </a:r>
              <a:r>
                <a:rPr lang="en-US" sz="1100" dirty="0"/>
                <a:t>, followed by others earning </a:t>
              </a:r>
              <a:r>
                <a:rPr lang="en-US" sz="1100" b="1" dirty="0"/>
                <a:t>160,000 and 150,000</a:t>
              </a:r>
              <a:r>
                <a:rPr lang="en-US" sz="1100" dirty="0"/>
                <a:t>, showing a clear salary gap at the top level.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8A8324-7B15-5504-8CFD-4A31D252AFB5}"/>
                </a:ext>
              </a:extLst>
            </p:cNvPr>
            <p:cNvSpPr txBox="1"/>
            <p:nvPr/>
          </p:nvSpPr>
          <p:spPr>
            <a:xfrm>
              <a:off x="4271426" y="4153118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FF921497-F804-2EAD-E02A-29D4C5CD1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8484" y="4207263"/>
              <a:ext cx="199486" cy="19948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6B45DB-9191-2A0F-DE72-8C7906ABAF3C}"/>
              </a:ext>
            </a:extLst>
          </p:cNvPr>
          <p:cNvGrpSpPr/>
          <p:nvPr/>
        </p:nvGrpSpPr>
        <p:grpSpPr>
          <a:xfrm>
            <a:off x="8445081" y="5036657"/>
            <a:ext cx="2369574" cy="1254489"/>
            <a:chOff x="8445081" y="5036657"/>
            <a:chExt cx="2369574" cy="12544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259436-5F7C-65D2-4554-CC7C06A7D1D0}"/>
                </a:ext>
              </a:extLst>
            </p:cNvPr>
            <p:cNvSpPr txBox="1"/>
            <p:nvPr/>
          </p:nvSpPr>
          <p:spPr>
            <a:xfrm>
              <a:off x="8445081" y="5352427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Employees earning above average have salaries ranging from </a:t>
              </a:r>
              <a:r>
                <a:rPr lang="en-US" sz="1100" b="1" dirty="0"/>
                <a:t>85,000 to 115,000</a:t>
              </a:r>
              <a:r>
                <a:rPr lang="en-US" sz="1100" dirty="0"/>
                <a:t>, indicating a group of consistently high-performing and well-compensated employees.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EA792-2AE1-9A3C-A095-B866EEB1EF5D}"/>
                </a:ext>
              </a:extLst>
            </p:cNvPr>
            <p:cNvSpPr txBox="1"/>
            <p:nvPr/>
          </p:nvSpPr>
          <p:spPr>
            <a:xfrm>
              <a:off x="9262113" y="503665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3" name="Graphic 12" descr="Lightbulb and gear with solid fill">
              <a:extLst>
                <a:ext uri="{FF2B5EF4-FFF2-40B4-BE49-F238E27FC236}">
                  <a16:creationId xmlns:a16="http://schemas.microsoft.com/office/drawing/2014/main" id="{D2AC9E1D-E1CD-79A3-6980-679E30422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59171" y="5090802"/>
              <a:ext cx="199486" cy="19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69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B9DD-4145-39C6-853E-B2173696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3344CB-428C-9CF3-A84A-1A328221D03F}"/>
              </a:ext>
            </a:extLst>
          </p:cNvPr>
          <p:cNvSpPr txBox="1"/>
          <p:nvPr/>
        </p:nvSpPr>
        <p:spPr>
          <a:xfrm>
            <a:off x="486347" y="566402"/>
            <a:ext cx="3708439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WINDOW FUNCTIONS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C614D-F3DD-64CF-4D83-2798D9129A04}"/>
              </a:ext>
            </a:extLst>
          </p:cNvPr>
          <p:cNvSpPr txBox="1"/>
          <p:nvPr/>
        </p:nvSpPr>
        <p:spPr>
          <a:xfrm>
            <a:off x="486347" y="1624105"/>
            <a:ext cx="3215639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Rank Employees by Salary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DFDD0-9838-12FA-32BE-122A7098A8CC}"/>
              </a:ext>
            </a:extLst>
          </p:cNvPr>
          <p:cNvSpPr txBox="1"/>
          <p:nvPr/>
        </p:nvSpPr>
        <p:spPr>
          <a:xfrm>
            <a:off x="6595665" y="1624105"/>
            <a:ext cx="321564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Department-wise Ranking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97CA36B-AFDF-81E5-1FFC-A7014CA5721D}"/>
              </a:ext>
            </a:extLst>
          </p:cNvPr>
          <p:cNvGrpSpPr/>
          <p:nvPr/>
        </p:nvGrpSpPr>
        <p:grpSpPr>
          <a:xfrm>
            <a:off x="397573" y="2384094"/>
            <a:ext cx="2407768" cy="1939856"/>
            <a:chOff x="397573" y="2384094"/>
            <a:chExt cx="2407768" cy="193985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9AA19B-6BE7-085C-4080-4E67FF94DDB4}"/>
                </a:ext>
              </a:extLst>
            </p:cNvPr>
            <p:cNvSpPr txBox="1"/>
            <p:nvPr/>
          </p:nvSpPr>
          <p:spPr>
            <a:xfrm>
              <a:off x="397573" y="2384094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ACF2A0-E345-CBA7-DD37-722A56D60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436" y="2700749"/>
              <a:ext cx="2270905" cy="162320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01DD24-EDDC-8DCD-2C00-B2E6002F330F}"/>
              </a:ext>
            </a:extLst>
          </p:cNvPr>
          <p:cNvGrpSpPr/>
          <p:nvPr/>
        </p:nvGrpSpPr>
        <p:grpSpPr>
          <a:xfrm>
            <a:off x="3151374" y="2397500"/>
            <a:ext cx="2583598" cy="1926450"/>
            <a:chOff x="3151374" y="2397500"/>
            <a:chExt cx="2583598" cy="192645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12AF508-22C8-9181-36AA-EB9E3462C10C}"/>
                </a:ext>
              </a:extLst>
            </p:cNvPr>
            <p:cNvSpPr txBox="1"/>
            <p:nvPr/>
          </p:nvSpPr>
          <p:spPr>
            <a:xfrm>
              <a:off x="3151374" y="23975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06E8E7-B76E-5FD6-5EBA-8947A9102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6819" y="2709627"/>
              <a:ext cx="2418153" cy="16143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7E9425-1EAD-3C61-7A72-BF80D60E1677}"/>
              </a:ext>
            </a:extLst>
          </p:cNvPr>
          <p:cNvGrpSpPr/>
          <p:nvPr/>
        </p:nvGrpSpPr>
        <p:grpSpPr>
          <a:xfrm>
            <a:off x="6471378" y="2386198"/>
            <a:ext cx="2992216" cy="2662972"/>
            <a:chOff x="6471378" y="2386198"/>
            <a:chExt cx="2992216" cy="266297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709865-70A9-EF37-E184-33EFC3537DBB}"/>
                </a:ext>
              </a:extLst>
            </p:cNvPr>
            <p:cNvSpPr txBox="1"/>
            <p:nvPr/>
          </p:nvSpPr>
          <p:spPr>
            <a:xfrm>
              <a:off x="6471378" y="2386198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2259809-3CC3-3897-7143-88E812289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5665" y="2709627"/>
              <a:ext cx="2867929" cy="23395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6F37C3-C466-F454-4974-FCEB2C385887}"/>
              </a:ext>
            </a:extLst>
          </p:cNvPr>
          <p:cNvGrpSpPr/>
          <p:nvPr/>
        </p:nvGrpSpPr>
        <p:grpSpPr>
          <a:xfrm>
            <a:off x="9642430" y="2375215"/>
            <a:ext cx="2244768" cy="2120787"/>
            <a:chOff x="9642430" y="2375215"/>
            <a:chExt cx="2244768" cy="212078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2B7AC9-92EF-583A-F993-C151EF4E997C}"/>
                </a:ext>
              </a:extLst>
            </p:cNvPr>
            <p:cNvSpPr txBox="1"/>
            <p:nvPr/>
          </p:nvSpPr>
          <p:spPr>
            <a:xfrm>
              <a:off x="9642430" y="2375215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4A987A-2E1B-358A-1497-40435B9EB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91382" y="2689905"/>
              <a:ext cx="2095816" cy="180609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B41692-B433-C4F0-66CC-6A9167566D21}"/>
              </a:ext>
            </a:extLst>
          </p:cNvPr>
          <p:cNvGrpSpPr/>
          <p:nvPr/>
        </p:nvGrpSpPr>
        <p:grpSpPr>
          <a:xfrm>
            <a:off x="547672" y="4647629"/>
            <a:ext cx="2369574" cy="1085211"/>
            <a:chOff x="547672" y="4647629"/>
            <a:chExt cx="2369574" cy="10852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FF64983-56CF-7946-D499-7D2569F4D26A}"/>
                </a:ext>
              </a:extLst>
            </p:cNvPr>
            <p:cNvSpPr txBox="1"/>
            <p:nvPr/>
          </p:nvSpPr>
          <p:spPr>
            <a:xfrm>
              <a:off x="547672" y="4963399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The highest-paid employee earns </a:t>
              </a:r>
              <a:r>
                <a:rPr lang="en-US" sz="1100" b="1" dirty="0"/>
                <a:t>170,000 and is ranked 1</a:t>
              </a:r>
              <a:r>
                <a:rPr lang="en-US" sz="1100" dirty="0"/>
                <a:t>, followed by others with slightly lower salaries, showing a clear salary hierarchy.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77E5A0-EB28-29C8-FD38-1770769B2ECC}"/>
                </a:ext>
              </a:extLst>
            </p:cNvPr>
            <p:cNvSpPr txBox="1"/>
            <p:nvPr/>
          </p:nvSpPr>
          <p:spPr>
            <a:xfrm>
              <a:off x="1364704" y="4647629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AD0172ED-7EDF-8A3D-53EC-F01FA08276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1762" y="4701774"/>
              <a:ext cx="199486" cy="19948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F80B03-88D5-2356-B3A0-695CC7010827}"/>
              </a:ext>
            </a:extLst>
          </p:cNvPr>
          <p:cNvSpPr txBox="1"/>
          <p:nvPr/>
        </p:nvSpPr>
        <p:spPr>
          <a:xfrm>
            <a:off x="3251581" y="4963399"/>
            <a:ext cx="2369574" cy="76944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Employees with the same salary share the same rank, indicating </a:t>
            </a:r>
            <a:r>
              <a:rPr lang="en-US" sz="1100" b="1" dirty="0"/>
              <a:t>tie handling in ranking (e.g., rank 3 appears twice)</a:t>
            </a:r>
            <a:r>
              <a:rPr lang="en-US" sz="1100" dirty="0"/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49404-5787-2E2B-74D0-A687A00454F2}"/>
              </a:ext>
            </a:extLst>
          </p:cNvPr>
          <p:cNvGrpSpPr/>
          <p:nvPr/>
        </p:nvGrpSpPr>
        <p:grpSpPr>
          <a:xfrm>
            <a:off x="6894251" y="5313215"/>
            <a:ext cx="2369574" cy="1085211"/>
            <a:chOff x="6894251" y="5145262"/>
            <a:chExt cx="2369574" cy="108521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5CF5D27-041F-53EA-FFF5-CD9C26DE352B}"/>
                </a:ext>
              </a:extLst>
            </p:cNvPr>
            <p:cNvGrpSpPr/>
            <p:nvPr/>
          </p:nvGrpSpPr>
          <p:grpSpPr>
            <a:xfrm>
              <a:off x="6894251" y="5145262"/>
              <a:ext cx="2369574" cy="1085211"/>
              <a:chOff x="6894251" y="5145262"/>
              <a:chExt cx="2369574" cy="108521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89400-9097-DFD7-D8B2-C6553D31C85D}"/>
                  </a:ext>
                </a:extLst>
              </p:cNvPr>
              <p:cNvSpPr txBox="1"/>
              <p:nvPr/>
            </p:nvSpPr>
            <p:spPr>
              <a:xfrm>
                <a:off x="6894251" y="5461032"/>
                <a:ext cx="2369574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Dot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In each department, employees are ranked based on salary, helping identify </a:t>
                </a:r>
                <a:r>
                  <a:rPr lang="en-US" sz="1100" b="1" dirty="0"/>
                  <a:t>top performers within each department</a:t>
                </a:r>
                <a:r>
                  <a:rPr lang="en-US" sz="1100" dirty="0"/>
                  <a:t>.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58F4AA-A97D-FC8D-3ECD-ED3180425249}"/>
                  </a:ext>
                </a:extLst>
              </p:cNvPr>
              <p:cNvSpPr txBox="1"/>
              <p:nvPr/>
            </p:nvSpPr>
            <p:spPr>
              <a:xfrm>
                <a:off x="7711283" y="5145262"/>
                <a:ext cx="714415" cy="3077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accent2">
                        <a:lumMod val="75000"/>
                      </a:schemeClr>
                    </a:solidFill>
                  </a:rPr>
                  <a:t>Insight </a:t>
                </a:r>
              </a:p>
            </p:txBody>
          </p:sp>
        </p:grpSp>
        <p:pic>
          <p:nvPicPr>
            <p:cNvPr id="16" name="Graphic 15" descr="Lightbulb and gear with solid fill">
              <a:extLst>
                <a:ext uri="{FF2B5EF4-FFF2-40B4-BE49-F238E27FC236}">
                  <a16:creationId xmlns:a16="http://schemas.microsoft.com/office/drawing/2014/main" id="{63C10827-1772-3A3B-2178-016D98AC99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08341" y="5199407"/>
              <a:ext cx="199486" cy="19948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0DBE871-6D80-3936-94AE-2CBCC1B4DF37}"/>
              </a:ext>
            </a:extLst>
          </p:cNvPr>
          <p:cNvSpPr txBox="1"/>
          <p:nvPr/>
        </p:nvSpPr>
        <p:spPr>
          <a:xfrm>
            <a:off x="9642430" y="5415716"/>
            <a:ext cx="2369574" cy="938719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For example, in Engineering and Finance, the top-ranked employees earn significantly higher than others, showing </a:t>
            </a:r>
            <a:r>
              <a:rPr lang="en-US" sz="1100" b="1" dirty="0"/>
              <a:t>salary variation within departments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447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0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45888-1AD7-F1B4-5FCD-C1095B8F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47916-46F8-ABD4-657E-035C7A8AFC1A}"/>
              </a:ext>
            </a:extLst>
          </p:cNvPr>
          <p:cNvSpPr txBox="1"/>
          <p:nvPr/>
        </p:nvSpPr>
        <p:spPr>
          <a:xfrm>
            <a:off x="726045" y="806103"/>
            <a:ext cx="2203587" cy="461665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Eras Bold ITC" panose="020B0907030504020204" pitchFamily="34" charset="0"/>
              </a:rPr>
              <a:t>SUBQUERIES</a:t>
            </a:r>
            <a:endParaRPr lang="en-US" sz="2400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CFDBA-56C4-F1D2-184C-B998698CBCFF}"/>
              </a:ext>
            </a:extLst>
          </p:cNvPr>
          <p:cNvSpPr txBox="1"/>
          <p:nvPr/>
        </p:nvSpPr>
        <p:spPr>
          <a:xfrm>
            <a:off x="726045" y="1916807"/>
            <a:ext cx="417443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Employees earning more than avg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9DE76-A35E-40B5-4036-529D749E4839}"/>
              </a:ext>
            </a:extLst>
          </p:cNvPr>
          <p:cNvSpPr txBox="1"/>
          <p:nvPr/>
        </p:nvSpPr>
        <p:spPr>
          <a:xfrm>
            <a:off x="6835363" y="1916807"/>
            <a:ext cx="3373958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Eras Bold ITC" panose="020B0907030504020204" pitchFamily="34" charset="0"/>
              </a:rPr>
              <a:t>Employees with max leaves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818C57-4A9D-E3AE-773B-2787B7D3A44D}"/>
              </a:ext>
            </a:extLst>
          </p:cNvPr>
          <p:cNvGrpSpPr/>
          <p:nvPr/>
        </p:nvGrpSpPr>
        <p:grpSpPr>
          <a:xfrm>
            <a:off x="6711076" y="2678900"/>
            <a:ext cx="2980719" cy="2434352"/>
            <a:chOff x="6711076" y="2678900"/>
            <a:chExt cx="2980719" cy="243435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9493FBA-F55B-2184-99F1-CF6A50FAB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362" y="3002329"/>
              <a:ext cx="2856433" cy="21109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4AC19F-C6F4-B68A-90FF-B8B27FC3F74B}"/>
                </a:ext>
              </a:extLst>
            </p:cNvPr>
            <p:cNvSpPr txBox="1"/>
            <p:nvPr/>
          </p:nvSpPr>
          <p:spPr>
            <a:xfrm>
              <a:off x="6711076" y="2678900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B9BAC-0B71-6B0C-BAE2-8C2A0826A972}"/>
              </a:ext>
            </a:extLst>
          </p:cNvPr>
          <p:cNvGrpSpPr/>
          <p:nvPr/>
        </p:nvGrpSpPr>
        <p:grpSpPr>
          <a:xfrm>
            <a:off x="646149" y="2676796"/>
            <a:ext cx="2429424" cy="1962695"/>
            <a:chOff x="646149" y="2676796"/>
            <a:chExt cx="2429424" cy="19626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95BC59-6CFE-CD1A-D65C-A5BE88AF5245}"/>
                </a:ext>
              </a:extLst>
            </p:cNvPr>
            <p:cNvSpPr txBox="1"/>
            <p:nvPr/>
          </p:nvSpPr>
          <p:spPr>
            <a:xfrm>
              <a:off x="646149" y="2676796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/>
                <a:t>Queries :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E725E8-D298-2560-D96D-9D811C586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134" y="2993428"/>
              <a:ext cx="2301439" cy="16460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0D8F26-C1A9-3DD3-EBB6-82276B013C0C}"/>
              </a:ext>
            </a:extLst>
          </p:cNvPr>
          <p:cNvGrpSpPr/>
          <p:nvPr/>
        </p:nvGrpSpPr>
        <p:grpSpPr>
          <a:xfrm>
            <a:off x="3391072" y="2690202"/>
            <a:ext cx="2153675" cy="1965810"/>
            <a:chOff x="3391072" y="2690202"/>
            <a:chExt cx="2153675" cy="19658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E91083-1D44-A8A8-87B8-E3FB506DCFFA}"/>
                </a:ext>
              </a:extLst>
            </p:cNvPr>
            <p:cNvSpPr txBox="1"/>
            <p:nvPr/>
          </p:nvSpPr>
          <p:spPr>
            <a:xfrm>
              <a:off x="3391072" y="2690202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874A90-C5BF-3031-12A8-9F0C03C46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8134" y="3002329"/>
              <a:ext cx="1996613" cy="16536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8B2C06-497D-2E5D-E1C7-0AB76F9D8549}"/>
              </a:ext>
            </a:extLst>
          </p:cNvPr>
          <p:cNvGrpSpPr/>
          <p:nvPr/>
        </p:nvGrpSpPr>
        <p:grpSpPr>
          <a:xfrm>
            <a:off x="9882128" y="2667917"/>
            <a:ext cx="1684489" cy="2436457"/>
            <a:chOff x="9882128" y="2667917"/>
            <a:chExt cx="1684489" cy="243645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F88404-DB68-9B18-715F-FE42C2A708B3}"/>
                </a:ext>
              </a:extLst>
            </p:cNvPr>
            <p:cNvSpPr txBox="1"/>
            <p:nvPr/>
          </p:nvSpPr>
          <p:spPr>
            <a:xfrm>
              <a:off x="9882128" y="2667917"/>
              <a:ext cx="86306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>
                      <a:lumMod val="75000"/>
                    </a:schemeClr>
                  </a:solidFill>
                </a:rPr>
                <a:t>Output :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352F8F9-42E2-6F52-6808-873F86EB0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36466" y="2993451"/>
              <a:ext cx="1530151" cy="211092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1524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261442-C071-C71D-711A-108836B69D54}"/>
              </a:ext>
            </a:extLst>
          </p:cNvPr>
          <p:cNvGrpSpPr/>
          <p:nvPr/>
        </p:nvGrpSpPr>
        <p:grpSpPr>
          <a:xfrm>
            <a:off x="668975" y="4824917"/>
            <a:ext cx="2369574" cy="1254489"/>
            <a:chOff x="668975" y="4824917"/>
            <a:chExt cx="2369574" cy="125448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45FFC2-5441-34AA-72E9-E052F47611A3}"/>
                </a:ext>
              </a:extLst>
            </p:cNvPr>
            <p:cNvSpPr txBox="1"/>
            <p:nvPr/>
          </p:nvSpPr>
          <p:spPr>
            <a:xfrm>
              <a:off x="668975" y="5140687"/>
              <a:ext cx="2369574" cy="93871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Employees earning above average have salaries ranging from </a:t>
              </a:r>
              <a:r>
                <a:rPr lang="en-US" sz="1100" b="1" dirty="0"/>
                <a:t>80,000 to 115,000</a:t>
              </a:r>
              <a:r>
                <a:rPr lang="en-US" sz="1100" dirty="0"/>
                <a:t>, showing a group of high-performing and well-compensated employees.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59C7BB-4B5C-5DDD-E6F6-9FA59C4BCB45}"/>
                </a:ext>
              </a:extLst>
            </p:cNvPr>
            <p:cNvSpPr txBox="1"/>
            <p:nvPr/>
          </p:nvSpPr>
          <p:spPr>
            <a:xfrm>
              <a:off x="1486007" y="4824917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8" name="Graphic 7" descr="Lightbulb and gear with solid fill">
              <a:extLst>
                <a:ext uri="{FF2B5EF4-FFF2-40B4-BE49-F238E27FC236}">
                  <a16:creationId xmlns:a16="http://schemas.microsoft.com/office/drawing/2014/main" id="{3916E1CD-0C68-C993-B589-70E9D03D0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3065" y="4879062"/>
              <a:ext cx="199486" cy="1994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C33860C-20D8-B627-87BF-C723D89400C1}"/>
              </a:ext>
            </a:extLst>
          </p:cNvPr>
          <p:cNvSpPr txBox="1"/>
          <p:nvPr/>
        </p:nvSpPr>
        <p:spPr>
          <a:xfrm>
            <a:off x="3372884" y="5364628"/>
            <a:ext cx="2369574" cy="43088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This indicates a </a:t>
            </a:r>
            <a:r>
              <a:rPr lang="en-US" sz="1100" b="1" dirty="0"/>
              <a:t>salary gap between average earners and top performers</a:t>
            </a:r>
            <a:r>
              <a:rPr lang="en-US" sz="1100" dirty="0"/>
              <a:t>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A84B42-EFA7-6E27-BB6C-723864D1268D}"/>
              </a:ext>
            </a:extLst>
          </p:cNvPr>
          <p:cNvGrpSpPr/>
          <p:nvPr/>
        </p:nvGrpSpPr>
        <p:grpSpPr>
          <a:xfrm>
            <a:off x="6835362" y="5271321"/>
            <a:ext cx="2369574" cy="1085211"/>
            <a:chOff x="6835362" y="5196673"/>
            <a:chExt cx="2369574" cy="10852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23E821-25CA-A731-C2FE-21643D7BE99C}"/>
                </a:ext>
              </a:extLst>
            </p:cNvPr>
            <p:cNvSpPr txBox="1"/>
            <p:nvPr/>
          </p:nvSpPr>
          <p:spPr>
            <a:xfrm>
              <a:off x="6835362" y="5512443"/>
              <a:ext cx="236957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All listed employees have taken </a:t>
              </a:r>
              <a:r>
                <a:rPr lang="en-US" sz="1100" b="1" dirty="0"/>
                <a:t>the same maximum number of leaves (1)</a:t>
              </a:r>
              <a:r>
                <a:rPr lang="en-US" sz="1100" dirty="0"/>
                <a:t>, indicating no single employee has significantly higher leave usage.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F74DF9-EA54-0F18-73F9-7305983E33CA}"/>
                </a:ext>
              </a:extLst>
            </p:cNvPr>
            <p:cNvSpPr txBox="1"/>
            <p:nvPr/>
          </p:nvSpPr>
          <p:spPr>
            <a:xfrm>
              <a:off x="7652394" y="5196673"/>
              <a:ext cx="714415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Insight </a:t>
              </a:r>
            </a:p>
          </p:txBody>
        </p:sp>
        <p:pic>
          <p:nvPicPr>
            <p:cNvPr id="14" name="Graphic 13" descr="Lightbulb and gear with solid fill">
              <a:extLst>
                <a:ext uri="{FF2B5EF4-FFF2-40B4-BE49-F238E27FC236}">
                  <a16:creationId xmlns:a16="http://schemas.microsoft.com/office/drawing/2014/main" id="{AEEC9212-52AF-0368-096C-B5BF2780A2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49452" y="5250818"/>
              <a:ext cx="199486" cy="19948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100C238-2BCA-8987-CEB4-B8D597C98AF4}"/>
              </a:ext>
            </a:extLst>
          </p:cNvPr>
          <p:cNvSpPr txBox="1"/>
          <p:nvPr/>
        </p:nvSpPr>
        <p:spPr>
          <a:xfrm>
            <a:off x="9539271" y="5736384"/>
            <a:ext cx="2369574" cy="43088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This shows a </a:t>
            </a:r>
            <a:r>
              <a:rPr lang="en-US" sz="1100" b="1" dirty="0"/>
              <a:t>uniform leave pattern across employees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65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9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19200"/>
            <a:ext cx="12192000" cy="853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720" y="97536"/>
            <a:ext cx="11338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Eras Bold ITC" panose="020B0907030504020204" pitchFamily="34" charset="0"/>
                <a:ea typeface="Trebuchet MS" pitchFamily="34" charset="-122"/>
                <a:cs typeface="Trebuchet MS" pitchFamily="34" charset="-120"/>
              </a:rPr>
              <a:t>Data Analysis &amp; Insights</a:t>
            </a:r>
            <a:endParaRPr lang="en-US" sz="3467" dirty="0">
              <a:latin typeface="Eras Bold ITC" panose="020B0907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877824"/>
            <a:ext cx="11338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derived from SQL queries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426720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6720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26720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3267456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7456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733" dirty="0"/>
          </a:p>
        </p:txBody>
      </p:sp>
      <p:sp>
        <p:nvSpPr>
          <p:cNvPr id="11" name="Text 9"/>
          <p:cNvSpPr/>
          <p:nvPr/>
        </p:nvSpPr>
        <p:spPr>
          <a:xfrm>
            <a:off x="3267456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6108192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₹43.2L</a:t>
            </a:r>
            <a:endParaRPr lang="en-US" sz="3733" dirty="0"/>
          </a:p>
        </p:txBody>
      </p:sp>
      <p:sp>
        <p:nvSpPr>
          <p:cNvPr id="14" name="Text 12"/>
          <p:cNvSpPr/>
          <p:nvPr/>
        </p:nvSpPr>
        <p:spPr>
          <a:xfrm>
            <a:off x="6108192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Cost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8948928" y="1438656"/>
            <a:ext cx="2621280" cy="12801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48928" y="1463040"/>
            <a:ext cx="262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₹96K</a:t>
            </a:r>
            <a:endParaRPr lang="en-US" sz="3733" dirty="0"/>
          </a:p>
        </p:txBody>
      </p:sp>
      <p:sp>
        <p:nvSpPr>
          <p:cNvPr id="17" name="Text 15"/>
          <p:cNvSpPr/>
          <p:nvPr/>
        </p:nvSpPr>
        <p:spPr>
          <a:xfrm>
            <a:off x="8948928" y="2097024"/>
            <a:ext cx="262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 Bonus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(Finance)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26720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20" y="2950464"/>
            <a:ext cx="85344" cy="35356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76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&amp; Department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176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IT are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departments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 employees each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Marketing have 8 employees each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is the smallest dept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employees) but highest paying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employees hold at least one qualification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4230624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0624" y="2950464"/>
            <a:ext cx="85344" cy="3535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0080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&amp; Payroll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0080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cost: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₹43,21,000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organization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payroll (April 2024) totaled ₹27,78,000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dept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the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salary</a:t>
            </a:r>
            <a:endParaRPr lang="en-US" sz="1467" b="1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dept leads in total bonus distribution (₹96,000)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034528" y="2950464"/>
            <a:ext cx="3596640" cy="353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34528" y="2950464"/>
            <a:ext cx="85344" cy="3535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3984" y="3048000"/>
            <a:ext cx="3230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Leave &amp; Qualification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53984" y="3535680"/>
            <a:ext cx="3230880" cy="280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employees recorded </a:t>
            </a: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leave — uniform pattern</a:t>
            </a:r>
            <a:endParaRPr lang="en-US" sz="1467" b="1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leave days per department = 1 (2024 data only)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holds exactly 1 qualification </a:t>
            </a: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multi-skilled outliers</a:t>
            </a:r>
            <a:endParaRPr lang="en-US" sz="1467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Leave-salary correlation analysis not meaningful with this dataset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3DC-94E3-FFA7-BC7F-3EDA2EAE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44FC4441-31CB-7ACD-EAFD-5C879D4FE97B}"/>
              </a:ext>
            </a:extLst>
          </p:cNvPr>
          <p:cNvGrpSpPr/>
          <p:nvPr/>
        </p:nvGrpSpPr>
        <p:grpSpPr>
          <a:xfrm>
            <a:off x="0" y="0"/>
            <a:ext cx="12192000" cy="992124"/>
            <a:chOff x="0" y="0"/>
            <a:chExt cx="12192000" cy="99212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29B7E021-1415-837D-AE41-858E7468D8C8}"/>
                </a:ext>
              </a:extLst>
            </p:cNvPr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31415AEB-5C8C-9298-9567-87BF1E8A2DAA}"/>
                </a:ext>
              </a:extLst>
            </p:cNvPr>
            <p:cNvSpPr/>
            <p:nvPr/>
          </p:nvSpPr>
          <p:spPr>
            <a:xfrm>
              <a:off x="0" y="928116"/>
              <a:ext cx="12192000" cy="64008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32331CF6-0578-5384-1E0F-B4E2FB4B7A3E}"/>
                </a:ext>
              </a:extLst>
            </p:cNvPr>
            <p:cNvSpPr/>
            <p:nvPr/>
          </p:nvSpPr>
          <p:spPr>
            <a:xfrm>
              <a:off x="4261792" y="43656"/>
              <a:ext cx="3668415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SQL CONCEPTS USED</a:t>
              </a:r>
              <a:endParaRPr lang="en-US" sz="2600" dirty="0">
                <a:latin typeface="Eras Bold ITC" panose="020B0907030504020204" pitchFamily="34" charset="0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65B6A52C-7EBC-6FAA-DFAE-4AABB40727EE}"/>
                </a:ext>
              </a:extLst>
            </p:cNvPr>
            <p:cNvSpPr/>
            <p:nvPr/>
          </p:nvSpPr>
          <p:spPr>
            <a:xfrm>
              <a:off x="4788408" y="594360"/>
              <a:ext cx="276148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i="1" dirty="0">
                  <a:solidFill>
                    <a:srgbClr val="A8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Techniques &amp; functions applied in this project</a:t>
              </a:r>
              <a:endParaRPr lang="en-US" sz="11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DA2A5E-24DC-97A1-FE79-37F2C0EA2795}"/>
              </a:ext>
            </a:extLst>
          </p:cNvPr>
          <p:cNvGrpSpPr/>
          <p:nvPr/>
        </p:nvGrpSpPr>
        <p:grpSpPr>
          <a:xfrm>
            <a:off x="741229" y="1391952"/>
            <a:ext cx="3437775" cy="2282766"/>
            <a:chOff x="741229" y="1391952"/>
            <a:chExt cx="3437775" cy="2282766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D5B49868-E377-625E-7BAE-61C43B631808}"/>
                </a:ext>
              </a:extLst>
            </p:cNvPr>
            <p:cNvSpPr/>
            <p:nvPr/>
          </p:nvSpPr>
          <p:spPr>
            <a:xfrm>
              <a:off x="741229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3D28FD4C-9506-D1C2-5F7F-6F596C50596D}"/>
                </a:ext>
              </a:extLst>
            </p:cNvPr>
            <p:cNvSpPr/>
            <p:nvPr/>
          </p:nvSpPr>
          <p:spPr>
            <a:xfrm>
              <a:off x="741229" y="1391952"/>
              <a:ext cx="3437775" cy="513622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8AF385B3-5988-2BBB-2806-96EF554A9C72}"/>
                </a:ext>
              </a:extLst>
            </p:cNvPr>
            <p:cNvSpPr/>
            <p:nvPr/>
          </p:nvSpPr>
          <p:spPr>
            <a:xfrm>
              <a:off x="857764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JOINS</a:t>
              </a:r>
              <a:endParaRPr lang="en-US" sz="160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07D33E2A-A151-B5B4-8E23-772D3F87567F}"/>
                </a:ext>
              </a:extLst>
            </p:cNvPr>
            <p:cNvSpPr/>
            <p:nvPr/>
          </p:nvSpPr>
          <p:spPr>
            <a:xfrm>
              <a:off x="857764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INNER JOIN — Employee ↔ JobDepartment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Multi-table JOINs (Employee + JobDept + SalaryBonus)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LEFT JOIN — Leave vs Payroll correlation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3-way JOIN in payroll analysis</a:t>
              </a:r>
              <a:endParaRPr lang="en-US" sz="105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CFD14C-0B01-6AAF-8717-FBA430D4F21B}"/>
              </a:ext>
            </a:extLst>
          </p:cNvPr>
          <p:cNvGrpSpPr/>
          <p:nvPr/>
        </p:nvGrpSpPr>
        <p:grpSpPr>
          <a:xfrm>
            <a:off x="4377113" y="1391952"/>
            <a:ext cx="3437775" cy="2282766"/>
            <a:chOff x="4377113" y="1391952"/>
            <a:chExt cx="3437775" cy="2282766"/>
          </a:xfrm>
        </p:grpSpPr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50ED0412-29AD-6DE5-EF9B-FF25C41DBC3E}"/>
                </a:ext>
              </a:extLst>
            </p:cNvPr>
            <p:cNvSpPr/>
            <p:nvPr/>
          </p:nvSpPr>
          <p:spPr>
            <a:xfrm>
              <a:off x="4377113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84E0C205-068B-AA16-9289-ECB6E23C19D9}"/>
                </a:ext>
              </a:extLst>
            </p:cNvPr>
            <p:cNvSpPr/>
            <p:nvPr/>
          </p:nvSpPr>
          <p:spPr>
            <a:xfrm>
              <a:off x="4377113" y="1391952"/>
              <a:ext cx="3437775" cy="513622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9F04A220-C20B-EDBD-D25E-0310B8A7787C}"/>
                </a:ext>
              </a:extLst>
            </p:cNvPr>
            <p:cNvSpPr/>
            <p:nvPr/>
          </p:nvSpPr>
          <p:spPr>
            <a:xfrm>
              <a:off x="4493647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Aggregate Functions</a:t>
              </a:r>
              <a:endParaRPr lang="en-US" sz="1600" dirty="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8A38BB58-C2F0-3F69-8E4E-F5539759C1AA}"/>
                </a:ext>
              </a:extLst>
            </p:cNvPr>
            <p:cNvSpPr/>
            <p:nvPr/>
          </p:nvSpPr>
          <p:spPr>
            <a:xfrm>
              <a:off x="4493647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COUNT() — Total employees, leaves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SUM() — Total payroll, salary budget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AVG() — Avg salary, avg bonus per dept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MAX() / MIN() — Highest salary role</a:t>
              </a:r>
              <a:endParaRPr lang="en-US" sz="10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4B3CB18-51A1-39F9-C141-02D81E262A98}"/>
              </a:ext>
            </a:extLst>
          </p:cNvPr>
          <p:cNvGrpSpPr/>
          <p:nvPr/>
        </p:nvGrpSpPr>
        <p:grpSpPr>
          <a:xfrm>
            <a:off x="8012996" y="1391952"/>
            <a:ext cx="3437775" cy="2282766"/>
            <a:chOff x="8012996" y="1391952"/>
            <a:chExt cx="3437775" cy="2282766"/>
          </a:xfrm>
        </p:grpSpPr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F6D88AF0-BEA8-CBE8-06EE-11B3E08B176C}"/>
                </a:ext>
              </a:extLst>
            </p:cNvPr>
            <p:cNvSpPr/>
            <p:nvPr/>
          </p:nvSpPr>
          <p:spPr>
            <a:xfrm>
              <a:off x="8012996" y="1391952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3">
              <a:extLst>
                <a:ext uri="{FF2B5EF4-FFF2-40B4-BE49-F238E27FC236}">
                  <a16:creationId xmlns:a16="http://schemas.microsoft.com/office/drawing/2014/main" id="{A17D95C8-FA7A-B985-3757-5B61220B811B}"/>
                </a:ext>
              </a:extLst>
            </p:cNvPr>
            <p:cNvSpPr/>
            <p:nvPr/>
          </p:nvSpPr>
          <p:spPr>
            <a:xfrm>
              <a:off x="8012996" y="1391952"/>
              <a:ext cx="3437775" cy="513622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281DCAEF-50F3-CF7A-68D0-3C1FCB5C763C}"/>
                </a:ext>
              </a:extLst>
            </p:cNvPr>
            <p:cNvSpPr/>
            <p:nvPr/>
          </p:nvSpPr>
          <p:spPr>
            <a:xfrm>
              <a:off x="8129531" y="1391952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Window Functions</a:t>
              </a:r>
              <a:endParaRPr lang="en-US" sz="1600" dirty="0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154E7C48-45F0-4737-0C84-6AD147EAF23C}"/>
                </a:ext>
              </a:extLst>
            </p:cNvPr>
            <p:cNvSpPr/>
            <p:nvPr/>
          </p:nvSpPr>
          <p:spPr>
            <a:xfrm>
              <a:off x="8129531" y="1962644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RANK() — Rank by salary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DENSE_RANK() — No ranking gaps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PARTITION BY — Dept-wise ranking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BY inside OVER clause</a:t>
              </a:r>
              <a:endParaRPr lang="en-US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B4A416-F7F9-4C7E-D4E4-CC2237EF203F}"/>
              </a:ext>
            </a:extLst>
          </p:cNvPr>
          <p:cNvGrpSpPr/>
          <p:nvPr/>
        </p:nvGrpSpPr>
        <p:grpSpPr>
          <a:xfrm>
            <a:off x="741229" y="3845926"/>
            <a:ext cx="3437775" cy="2282766"/>
            <a:chOff x="741229" y="3845926"/>
            <a:chExt cx="3437775" cy="2282766"/>
          </a:xfrm>
        </p:grpSpPr>
        <p:sp>
          <p:nvSpPr>
            <p:cNvPr id="32" name="Shape 16">
              <a:extLst>
                <a:ext uri="{FF2B5EF4-FFF2-40B4-BE49-F238E27FC236}">
                  <a16:creationId xmlns:a16="http://schemas.microsoft.com/office/drawing/2014/main" id="{A3982F30-CB9F-F9FF-9225-2C4FD6A099D2}"/>
                </a:ext>
              </a:extLst>
            </p:cNvPr>
            <p:cNvSpPr/>
            <p:nvPr/>
          </p:nvSpPr>
          <p:spPr>
            <a:xfrm>
              <a:off x="741229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17">
              <a:extLst>
                <a:ext uri="{FF2B5EF4-FFF2-40B4-BE49-F238E27FC236}">
                  <a16:creationId xmlns:a16="http://schemas.microsoft.com/office/drawing/2014/main" id="{B4AE71BC-07FC-28CD-D3E0-5450BD8E850F}"/>
                </a:ext>
              </a:extLst>
            </p:cNvPr>
            <p:cNvSpPr/>
            <p:nvPr/>
          </p:nvSpPr>
          <p:spPr>
            <a:xfrm>
              <a:off x="741229" y="3845926"/>
              <a:ext cx="3437775" cy="51362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E89DE063-6B5F-59B5-E5F4-329D58CC714E}"/>
                </a:ext>
              </a:extLst>
            </p:cNvPr>
            <p:cNvSpPr/>
            <p:nvPr/>
          </p:nvSpPr>
          <p:spPr>
            <a:xfrm>
              <a:off x="857764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CTEs &amp; Subqueries</a:t>
              </a:r>
              <a:endParaRPr lang="en-US" sz="1600" dirty="0"/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465DE0FA-CDCE-2668-B209-A01F056CAC2E}"/>
                </a:ext>
              </a:extLst>
            </p:cNvPr>
            <p:cNvSpPr/>
            <p:nvPr/>
          </p:nvSpPr>
          <p:spPr>
            <a:xfrm>
              <a:off x="857764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clause — Top paid employees CTE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Nested SELECT — Above-avg earners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Correlated subquery — Max leave finder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Subquery in WHERE clause</a:t>
              </a:r>
              <a:endParaRPr lang="en-US" sz="10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5AFFA8-B9C6-CCAA-C7B1-CF19B1F0E7C6}"/>
              </a:ext>
            </a:extLst>
          </p:cNvPr>
          <p:cNvGrpSpPr/>
          <p:nvPr/>
        </p:nvGrpSpPr>
        <p:grpSpPr>
          <a:xfrm>
            <a:off x="4377113" y="3845926"/>
            <a:ext cx="3437775" cy="2282766"/>
            <a:chOff x="4377113" y="3845926"/>
            <a:chExt cx="3437775" cy="2282766"/>
          </a:xfrm>
        </p:grpSpPr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2D80FAAC-2A0C-0B43-C5EC-2AA7DE61A50B}"/>
                </a:ext>
              </a:extLst>
            </p:cNvPr>
            <p:cNvSpPr/>
            <p:nvPr/>
          </p:nvSpPr>
          <p:spPr>
            <a:xfrm>
              <a:off x="4377113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777DC3DE-05DA-D3E8-4E63-CDE0FDF41EC7}"/>
                </a:ext>
              </a:extLst>
            </p:cNvPr>
            <p:cNvSpPr/>
            <p:nvPr/>
          </p:nvSpPr>
          <p:spPr>
            <a:xfrm>
              <a:off x="4377113" y="3845926"/>
              <a:ext cx="3437775" cy="513622"/>
            </a:xfrm>
            <a:prstGeom prst="rect">
              <a:avLst/>
            </a:prstGeom>
            <a:solidFill>
              <a:srgbClr val="1B7F79"/>
            </a:solidFill>
            <a:ln w="12700">
              <a:solidFill>
                <a:srgbClr val="1B7F7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2">
              <a:extLst>
                <a:ext uri="{FF2B5EF4-FFF2-40B4-BE49-F238E27FC236}">
                  <a16:creationId xmlns:a16="http://schemas.microsoft.com/office/drawing/2014/main" id="{0FDC72AB-DBA5-AC85-F025-C1130837565A}"/>
                </a:ext>
              </a:extLst>
            </p:cNvPr>
            <p:cNvSpPr/>
            <p:nvPr/>
          </p:nvSpPr>
          <p:spPr>
            <a:xfrm>
              <a:off x="4493647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 Cleaning</a:t>
              </a:r>
              <a:endParaRPr lang="en-US" sz="16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1F333798-442D-99FA-B0BE-05D1DED74A3B}"/>
                </a:ext>
              </a:extLst>
            </p:cNvPr>
            <p:cNvSpPr/>
            <p:nvPr/>
          </p:nvSpPr>
          <p:spPr>
            <a:xfrm>
              <a:off x="4493647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TRIM() — Remove extra whitespace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REPLACE() — Remove '$' symbols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LOWER() — Email normalization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NULL checks via SUM(col IS NULL)</a:t>
              </a:r>
              <a:endParaRPr lang="en-US" sz="105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6993256-4B11-3526-9AF5-E78FFE8F4547}"/>
              </a:ext>
            </a:extLst>
          </p:cNvPr>
          <p:cNvGrpSpPr/>
          <p:nvPr/>
        </p:nvGrpSpPr>
        <p:grpSpPr>
          <a:xfrm>
            <a:off x="8012996" y="3845926"/>
            <a:ext cx="3437775" cy="2282766"/>
            <a:chOff x="8012996" y="3845926"/>
            <a:chExt cx="3437775" cy="2282766"/>
          </a:xfrm>
        </p:grpSpPr>
        <p:sp>
          <p:nvSpPr>
            <p:cNvPr id="46" name="Shape 24">
              <a:extLst>
                <a:ext uri="{FF2B5EF4-FFF2-40B4-BE49-F238E27FC236}">
                  <a16:creationId xmlns:a16="http://schemas.microsoft.com/office/drawing/2014/main" id="{C0F4F338-207F-17FB-3391-487D0DAA7774}"/>
                </a:ext>
              </a:extLst>
            </p:cNvPr>
            <p:cNvSpPr/>
            <p:nvPr/>
          </p:nvSpPr>
          <p:spPr>
            <a:xfrm>
              <a:off x="8012996" y="3845926"/>
              <a:ext cx="3437775" cy="228276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72F1ECAD-251F-7D50-BDB3-1DB442ED8802}"/>
                </a:ext>
              </a:extLst>
            </p:cNvPr>
            <p:cNvSpPr/>
            <p:nvPr/>
          </p:nvSpPr>
          <p:spPr>
            <a:xfrm>
              <a:off x="8012996" y="3845926"/>
              <a:ext cx="3437775" cy="513622"/>
            </a:xfrm>
            <a:prstGeom prst="rect">
              <a:avLst/>
            </a:prstGeom>
            <a:solidFill>
              <a:srgbClr val="2E6DA4"/>
            </a:solidFill>
            <a:ln w="12700">
              <a:solidFill>
                <a:srgbClr val="2E6DA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273008E1-4802-FF79-D742-78E7064C6FA9}"/>
                </a:ext>
              </a:extLst>
            </p:cNvPr>
            <p:cNvSpPr/>
            <p:nvPr/>
          </p:nvSpPr>
          <p:spPr>
            <a:xfrm>
              <a:off x="8129531" y="3845926"/>
              <a:ext cx="3204705" cy="5136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DDL &amp; DML</a:t>
              </a:r>
              <a:endParaRPr lang="en-US" sz="1600" dirty="0"/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11B1C0CB-7AC3-CBF2-2A58-CE6220A88453}"/>
                </a:ext>
              </a:extLst>
            </p:cNvPr>
            <p:cNvSpPr/>
            <p:nvPr/>
          </p:nvSpPr>
          <p:spPr>
            <a:xfrm>
              <a:off x="8129531" y="4416617"/>
              <a:ext cx="3204705" cy="159793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TABLE with constraints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FOREIGN KEY with CASCADE rules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LOAD DATA INFILE for bulk import</a:t>
              </a:r>
              <a:endParaRPr lang="en-US" sz="105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UPDATE with SET SQL_SAFE_UPDATES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429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C2ACFC5-093C-79DD-E591-60050EF0B0AF}"/>
              </a:ext>
            </a:extLst>
          </p:cNvPr>
          <p:cNvGrpSpPr/>
          <p:nvPr/>
        </p:nvGrpSpPr>
        <p:grpSpPr>
          <a:xfrm>
            <a:off x="0" y="0"/>
            <a:ext cx="12192000" cy="1304544"/>
            <a:chOff x="0" y="0"/>
            <a:chExt cx="12192000" cy="130454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92000" cy="121920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0" y="1219200"/>
              <a:ext cx="12192000" cy="85344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26720" y="28712"/>
              <a:ext cx="11338560" cy="1024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467" b="1" dirty="0">
                  <a:solidFill>
                    <a:srgbClr val="FFFFFF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Challenges Faced</a:t>
              </a:r>
              <a:endParaRPr lang="en-US" sz="3467" dirty="0">
                <a:latin typeface="Eras Bold ITC" panose="020B0907030504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426720" y="779504"/>
              <a:ext cx="11338560" cy="390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A8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Obstacles encountered and how they were resolved</a:t>
              </a:r>
              <a:endParaRPr lang="en-US" sz="1467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980EDD-88D4-FB06-9743-EAD7003C0D1B}"/>
              </a:ext>
            </a:extLst>
          </p:cNvPr>
          <p:cNvGrpSpPr/>
          <p:nvPr/>
        </p:nvGrpSpPr>
        <p:grpSpPr>
          <a:xfrm>
            <a:off x="426720" y="1487424"/>
            <a:ext cx="5547360" cy="1584960"/>
            <a:chOff x="426720" y="1487424"/>
            <a:chExt cx="5547360" cy="1584960"/>
          </a:xfrm>
        </p:grpSpPr>
        <p:sp>
          <p:nvSpPr>
            <p:cNvPr id="6" name="Shape 4"/>
            <p:cNvSpPr/>
            <p:nvPr/>
          </p:nvSpPr>
          <p:spPr>
            <a:xfrm>
              <a:off x="426720" y="1487424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609600" y="1609344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🗂  LOAD DATA INFILE Path Errors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9600" y="2121408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09600" y="2121408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463040" y="2097024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SHOW VARIABLES LIKE 'secure_file_priv' to locate the exact allowed upload directory on the MySQL server</a:t>
              </a:r>
              <a:endParaRPr lang="en-US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77A337-2D0D-A9C5-FA6B-2511149195DC}"/>
              </a:ext>
            </a:extLst>
          </p:cNvPr>
          <p:cNvGrpSpPr/>
          <p:nvPr/>
        </p:nvGrpSpPr>
        <p:grpSpPr>
          <a:xfrm>
            <a:off x="6217920" y="1487424"/>
            <a:ext cx="5547360" cy="1584960"/>
            <a:chOff x="6217920" y="1487424"/>
            <a:chExt cx="5547360" cy="1584960"/>
          </a:xfrm>
        </p:grpSpPr>
        <p:sp>
          <p:nvSpPr>
            <p:cNvPr id="11" name="Shape 9"/>
            <p:cNvSpPr/>
            <p:nvPr/>
          </p:nvSpPr>
          <p:spPr>
            <a:xfrm>
              <a:off x="6217920" y="1487424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6400800" y="1609344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💱  Currency Symbol in Data ($)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0" y="2121408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400800" y="2121408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254240" y="2097024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Applied REPLACE(salaryrange, '$', '') in UPDATE statement to strip currency symbols before numeric analysis</a:t>
              </a:r>
              <a:endParaRPr lang="en-US" sz="1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B913888-C840-94D5-9157-DED2A2741892}"/>
              </a:ext>
            </a:extLst>
          </p:cNvPr>
          <p:cNvGrpSpPr/>
          <p:nvPr/>
        </p:nvGrpSpPr>
        <p:grpSpPr>
          <a:xfrm>
            <a:off x="426720" y="3218688"/>
            <a:ext cx="5547360" cy="1584960"/>
            <a:chOff x="426720" y="3218688"/>
            <a:chExt cx="5547360" cy="1584960"/>
          </a:xfrm>
        </p:grpSpPr>
        <p:sp>
          <p:nvSpPr>
            <p:cNvPr id="16" name="Shape 14"/>
            <p:cNvSpPr/>
            <p:nvPr/>
          </p:nvSpPr>
          <p:spPr>
            <a:xfrm>
              <a:off x="426720" y="3218688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609600" y="3340608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📧  Duplicate &amp; Inconsistent Emails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9600" y="3852672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09600" y="3852672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463040" y="3828288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LOWER() + REPLACE() to normalize emails, then GROUP BY + HAVING COUNT(*) &gt; 1 to detect duplicates</a:t>
              </a:r>
              <a:endParaRPr lang="en-US" sz="1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86C0FB-8264-B9DB-9E62-46821B68827E}"/>
              </a:ext>
            </a:extLst>
          </p:cNvPr>
          <p:cNvGrpSpPr/>
          <p:nvPr/>
        </p:nvGrpSpPr>
        <p:grpSpPr>
          <a:xfrm>
            <a:off x="6217920" y="3218688"/>
            <a:ext cx="5547360" cy="1584960"/>
            <a:chOff x="6217920" y="3218688"/>
            <a:chExt cx="5547360" cy="1584960"/>
          </a:xfrm>
        </p:grpSpPr>
        <p:sp>
          <p:nvSpPr>
            <p:cNvPr id="21" name="Shape 19"/>
            <p:cNvSpPr/>
            <p:nvPr/>
          </p:nvSpPr>
          <p:spPr>
            <a:xfrm>
              <a:off x="6217920" y="3218688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6400800" y="3340608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📊  Limited Dataset Scope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0" y="3852672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00800" y="3852672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254240" y="3828288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spans only April 2024 with each employee having 1 leave — insights were documented as observations rather than patterns</a:t>
              </a:r>
              <a:endParaRPr lang="en-US" sz="14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7B99826-0B5A-298C-1D07-6D476B1EFD88}"/>
              </a:ext>
            </a:extLst>
          </p:cNvPr>
          <p:cNvGrpSpPr/>
          <p:nvPr/>
        </p:nvGrpSpPr>
        <p:grpSpPr>
          <a:xfrm>
            <a:off x="426720" y="4949952"/>
            <a:ext cx="5547360" cy="1584960"/>
            <a:chOff x="426720" y="4949952"/>
            <a:chExt cx="5547360" cy="1584960"/>
          </a:xfrm>
        </p:grpSpPr>
        <p:sp>
          <p:nvSpPr>
            <p:cNvPr id="26" name="Shape 24"/>
            <p:cNvSpPr/>
            <p:nvPr/>
          </p:nvSpPr>
          <p:spPr>
            <a:xfrm>
              <a:off x="426720" y="4949952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609600" y="5071872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🔗  Foreign Key Constraint Ordering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09600" y="5583936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609600" y="5583936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463040" y="5559552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Created parent tables (JobDepartment, Employee) before child tables (Payroll, Leaves) to avoid FK reference errors</a:t>
              </a:r>
              <a:endParaRPr lang="en-US" sz="14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1384A7-7D79-53BA-DE83-6E2E8669DB41}"/>
              </a:ext>
            </a:extLst>
          </p:cNvPr>
          <p:cNvGrpSpPr/>
          <p:nvPr/>
        </p:nvGrpSpPr>
        <p:grpSpPr>
          <a:xfrm>
            <a:off x="6217920" y="4949952"/>
            <a:ext cx="5547360" cy="1584960"/>
            <a:chOff x="6217920" y="4949952"/>
            <a:chExt cx="5547360" cy="1584960"/>
          </a:xfrm>
        </p:grpSpPr>
        <p:sp>
          <p:nvSpPr>
            <p:cNvPr id="31" name="Shape 29"/>
            <p:cNvSpPr/>
            <p:nvPr/>
          </p:nvSpPr>
          <p:spPr>
            <a:xfrm>
              <a:off x="6217920" y="4949952"/>
              <a:ext cx="5547360" cy="1584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6400800" y="5071872"/>
              <a:ext cx="51816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A3557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🔒  SQL_SAFE_UPDATES Blocking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400800" y="5583936"/>
              <a:ext cx="731520" cy="268224"/>
            </a:xfrm>
            <a:prstGeom prst="rect">
              <a:avLst/>
            </a:prstGeom>
            <a:solidFill>
              <a:srgbClr val="2E86AB"/>
            </a:solidFill>
            <a:ln w="12700">
              <a:solidFill>
                <a:srgbClr val="2E86A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00800" y="5583936"/>
              <a:ext cx="7315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254240" y="5559552"/>
              <a:ext cx="432816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Temporarily disabled safe update mode before bulk UPDATE/TRIM operations and re-enabled after to maintain security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5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47AD-CA2A-2F7C-225F-F99059A3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C8F29C6-00A7-282A-AE74-132B8FB13759}"/>
              </a:ext>
            </a:extLst>
          </p:cNvPr>
          <p:cNvGrpSpPr/>
          <p:nvPr/>
        </p:nvGrpSpPr>
        <p:grpSpPr>
          <a:xfrm>
            <a:off x="8897124" y="1256245"/>
            <a:ext cx="2801701" cy="5087957"/>
            <a:chOff x="8897124" y="1256245"/>
            <a:chExt cx="2801701" cy="5087957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B0D3A73-A0E6-B8B8-1D3F-D889FA6811D7}"/>
                </a:ext>
              </a:extLst>
            </p:cNvPr>
            <p:cNvGrpSpPr/>
            <p:nvPr/>
          </p:nvGrpSpPr>
          <p:grpSpPr>
            <a:xfrm>
              <a:off x="8947533" y="1256245"/>
              <a:ext cx="2592106" cy="5087957"/>
              <a:chOff x="8921411" y="886096"/>
              <a:chExt cx="2835876" cy="507259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43B12C-4968-FF35-0230-5CF7811B56E5}"/>
                  </a:ext>
                </a:extLst>
              </p:cNvPr>
              <p:cNvSpPr/>
              <p:nvPr/>
            </p:nvSpPr>
            <p:spPr>
              <a:xfrm>
                <a:off x="9869641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DF7D8CE-BE50-E6CB-4F6F-B1B57C145AA8}"/>
                  </a:ext>
                </a:extLst>
              </p:cNvPr>
              <p:cNvSpPr/>
              <p:nvPr/>
            </p:nvSpPr>
            <p:spPr>
              <a:xfrm>
                <a:off x="8921411" y="886096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rapezoid 76">
                <a:extLst>
                  <a:ext uri="{FF2B5EF4-FFF2-40B4-BE49-F238E27FC236}">
                    <a16:creationId xmlns:a16="http://schemas.microsoft.com/office/drawing/2014/main" id="{490D1C51-7F51-A5C2-9E40-AAEADCA6DDEB}"/>
                  </a:ext>
                </a:extLst>
              </p:cNvPr>
              <p:cNvSpPr/>
              <p:nvPr/>
            </p:nvSpPr>
            <p:spPr>
              <a:xfrm rot="5400000">
                <a:off x="10886364" y="2045420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E82EF1E7-201D-E775-8172-3B8B347A956E}"/>
                  </a:ext>
                </a:extLst>
              </p:cNvPr>
              <p:cNvSpPr/>
              <p:nvPr/>
            </p:nvSpPr>
            <p:spPr>
              <a:xfrm rot="16200000">
                <a:off x="10663216" y="1535409"/>
                <a:ext cx="872154" cy="131598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C04903B-19D5-E705-EF04-DE499AC026B6}"/>
                </a:ext>
              </a:extLst>
            </p:cNvPr>
            <p:cNvSpPr txBox="1"/>
            <p:nvPr/>
          </p:nvSpPr>
          <p:spPr>
            <a:xfrm>
              <a:off x="11020190" y="2325568"/>
              <a:ext cx="678635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806484-7F19-F3C9-A34D-2A164F39FBB0}"/>
                </a:ext>
              </a:extLst>
            </p:cNvPr>
            <p:cNvSpPr txBox="1"/>
            <p:nvPr/>
          </p:nvSpPr>
          <p:spPr>
            <a:xfrm>
              <a:off x="8897124" y="3476417"/>
              <a:ext cx="240996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00B050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0070C0"/>
                  </a:solidFill>
                </a:rPr>
                <a:t>Advan SQL Mastered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9A737A-8A78-602B-E7B2-815D9CBB220A}"/>
                </a:ext>
              </a:extLst>
            </p:cNvPr>
            <p:cNvSpPr txBox="1"/>
            <p:nvPr/>
          </p:nvSpPr>
          <p:spPr>
            <a:xfrm>
              <a:off x="8941319" y="3928464"/>
              <a:ext cx="207887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Demonstrated CTEs, Window Functions (LIKE RANK), nested subqueries, and multi-table JOINs in real scenarios</a:t>
              </a:r>
            </a:p>
          </p:txBody>
        </p:sp>
        <p:pic>
          <p:nvPicPr>
            <p:cNvPr id="29" name="Graphic 28" descr="Single gear with solid fill">
              <a:extLst>
                <a:ext uri="{FF2B5EF4-FFF2-40B4-BE49-F238E27FC236}">
                  <a16:creationId xmlns:a16="http://schemas.microsoft.com/office/drawing/2014/main" id="{386AAD74-3EC8-068D-663C-6340A9EDFB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98010" y="256201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1C5184-5F63-E07B-0FD3-45D2CE77D816}"/>
              </a:ext>
            </a:extLst>
          </p:cNvPr>
          <p:cNvGrpSpPr/>
          <p:nvPr/>
        </p:nvGrpSpPr>
        <p:grpSpPr>
          <a:xfrm>
            <a:off x="6098504" y="1256245"/>
            <a:ext cx="2957482" cy="5087957"/>
            <a:chOff x="6098504" y="1256245"/>
            <a:chExt cx="2957482" cy="508795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1359548-74BD-303B-0342-FED49AE53B4A}"/>
                </a:ext>
              </a:extLst>
            </p:cNvPr>
            <p:cNvGrpSpPr/>
            <p:nvPr/>
          </p:nvGrpSpPr>
          <p:grpSpPr>
            <a:xfrm>
              <a:off x="6319876" y="1256245"/>
              <a:ext cx="2592106" cy="5087957"/>
              <a:chOff x="6046640" y="886096"/>
              <a:chExt cx="2835876" cy="507259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57104AA-F72F-AB71-E1D5-37E0354CF8CB}"/>
                  </a:ext>
                </a:extLst>
              </p:cNvPr>
              <p:cNvSpPr/>
              <p:nvPr/>
            </p:nvSpPr>
            <p:spPr>
              <a:xfrm>
                <a:off x="6994870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A15E483-425B-3D7C-DD21-B65FB743E59F}"/>
                  </a:ext>
                </a:extLst>
              </p:cNvPr>
              <p:cNvSpPr/>
              <p:nvPr/>
            </p:nvSpPr>
            <p:spPr>
              <a:xfrm>
                <a:off x="6046640" y="886096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rapezoid 67">
                <a:extLst>
                  <a:ext uri="{FF2B5EF4-FFF2-40B4-BE49-F238E27FC236}">
                    <a16:creationId xmlns:a16="http://schemas.microsoft.com/office/drawing/2014/main" id="{11C95D0B-4C7A-2FD1-1D07-DACB1193ADB9}"/>
                  </a:ext>
                </a:extLst>
              </p:cNvPr>
              <p:cNvSpPr/>
              <p:nvPr/>
            </p:nvSpPr>
            <p:spPr>
              <a:xfrm rot="5400000">
                <a:off x="8011593" y="2045420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33CBBF81-78C1-0D9F-13D4-5BB889158AC5}"/>
                  </a:ext>
                </a:extLst>
              </p:cNvPr>
              <p:cNvSpPr/>
              <p:nvPr/>
            </p:nvSpPr>
            <p:spPr>
              <a:xfrm rot="16200000">
                <a:off x="7788445" y="1535409"/>
                <a:ext cx="872154" cy="1315988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4021DF4-5116-E360-9728-E79300959967}"/>
                </a:ext>
              </a:extLst>
            </p:cNvPr>
            <p:cNvSpPr txBox="1"/>
            <p:nvPr/>
          </p:nvSpPr>
          <p:spPr>
            <a:xfrm>
              <a:off x="8408162" y="2325568"/>
              <a:ext cx="647824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C91EA9-CF19-ED39-0511-4F7FE2C2DCDA}"/>
                </a:ext>
              </a:extLst>
            </p:cNvPr>
            <p:cNvSpPr txBox="1"/>
            <p:nvPr/>
          </p:nvSpPr>
          <p:spPr>
            <a:xfrm>
              <a:off x="6098504" y="3476417"/>
              <a:ext cx="25921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00B050"/>
                  </a:solidFill>
                </a:rPr>
                <a:t>Database Architecture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7DEC24-5D62-96D6-86BC-B02E47E2BA00}"/>
                </a:ext>
              </a:extLst>
            </p:cNvPr>
            <p:cNvSpPr txBox="1"/>
            <p:nvPr/>
          </p:nvSpPr>
          <p:spPr>
            <a:xfrm>
              <a:off x="6172356" y="3928464"/>
              <a:ext cx="232157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Successfully designed a normalized, 6-table relational schema with enforced referential integrity via FK constraints and CASCADE rules</a:t>
              </a:r>
            </a:p>
          </p:txBody>
        </p:sp>
        <p:pic>
          <p:nvPicPr>
            <p:cNvPr id="43" name="Graphic 42" descr="Teacher with solid fill">
              <a:extLst>
                <a:ext uri="{FF2B5EF4-FFF2-40B4-BE49-F238E27FC236}">
                  <a16:creationId xmlns:a16="http://schemas.microsoft.com/office/drawing/2014/main" id="{6C558501-EFFC-65EE-7C58-45F9EADA39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6491" y="2661204"/>
              <a:ext cx="914400" cy="9144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5884D8-277D-D621-1B5D-98A7ED957667}"/>
              </a:ext>
            </a:extLst>
          </p:cNvPr>
          <p:cNvGrpSpPr/>
          <p:nvPr/>
        </p:nvGrpSpPr>
        <p:grpSpPr>
          <a:xfrm>
            <a:off x="2693990" y="1256245"/>
            <a:ext cx="3492761" cy="5087957"/>
            <a:chOff x="2693990" y="1256245"/>
            <a:chExt cx="3492761" cy="5087957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61F0591-B0FD-6FAA-378F-E2242BAF2DC2}"/>
                </a:ext>
              </a:extLst>
            </p:cNvPr>
            <p:cNvGrpSpPr/>
            <p:nvPr/>
          </p:nvGrpSpPr>
          <p:grpSpPr>
            <a:xfrm>
              <a:off x="3502661" y="1256245"/>
              <a:ext cx="2592106" cy="5087957"/>
              <a:chOff x="2964485" y="886096"/>
              <a:chExt cx="2835876" cy="507259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678F37-8D21-B782-CB3F-2800EA37A4EE}"/>
                  </a:ext>
                </a:extLst>
              </p:cNvPr>
              <p:cNvSpPr/>
              <p:nvPr/>
            </p:nvSpPr>
            <p:spPr>
              <a:xfrm>
                <a:off x="3912715" y="1470469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B37F3FF-B9E0-387E-3BEC-706770390441}"/>
                  </a:ext>
                </a:extLst>
              </p:cNvPr>
              <p:cNvGrpSpPr/>
              <p:nvPr/>
            </p:nvGrpSpPr>
            <p:grpSpPr>
              <a:xfrm>
                <a:off x="2964485" y="886096"/>
                <a:ext cx="2835876" cy="5072590"/>
                <a:chOff x="2964485" y="886096"/>
                <a:chExt cx="2835876" cy="5072590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493102B-32E8-B4FC-F4C9-600F8B816F71}"/>
                    </a:ext>
                  </a:extLst>
                </p:cNvPr>
                <p:cNvSpPr/>
                <p:nvPr/>
              </p:nvSpPr>
              <p:spPr>
                <a:xfrm>
                  <a:off x="2964485" y="886096"/>
                  <a:ext cx="2539904" cy="50725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Trapezoid 62">
                  <a:extLst>
                    <a:ext uri="{FF2B5EF4-FFF2-40B4-BE49-F238E27FC236}">
                      <a16:creationId xmlns:a16="http://schemas.microsoft.com/office/drawing/2014/main" id="{DB4F9A27-4C68-DB13-67FF-A92DFB73516F}"/>
                    </a:ext>
                  </a:extLst>
                </p:cNvPr>
                <p:cNvSpPr/>
                <p:nvPr/>
              </p:nvSpPr>
              <p:spPr>
                <a:xfrm rot="5400000">
                  <a:off x="4929438" y="2045420"/>
                  <a:ext cx="1445872" cy="295972"/>
                </a:xfrm>
                <a:prstGeom prst="trapezoid">
                  <a:avLst>
                    <a:gd name="adj" fmla="val 57593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4222DAF4-99FD-5A3F-8196-CE3317054333}"/>
                    </a:ext>
                  </a:extLst>
                </p:cNvPr>
                <p:cNvSpPr/>
                <p:nvPr/>
              </p:nvSpPr>
              <p:spPr>
                <a:xfrm rot="16200000">
                  <a:off x="4706290" y="1535409"/>
                  <a:ext cx="872154" cy="1315988"/>
                </a:xfrm>
                <a:prstGeom prst="triangle">
                  <a:avLst/>
                </a:prstGeom>
                <a:solidFill>
                  <a:srgbClr val="FFC000"/>
                </a:solidFill>
                <a:ln>
                  <a:noFill/>
                </a:ln>
                <a:effectLst>
                  <a:innerShdw blurRad="241300" dist="50800" dir="16200000">
                    <a:prstClr val="black">
                      <a:alpha val="33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F98AB3C-F5DD-5642-5126-C61D0CB1A603}"/>
                </a:ext>
              </a:extLst>
            </p:cNvPr>
            <p:cNvSpPr txBox="1"/>
            <p:nvPr/>
          </p:nvSpPr>
          <p:spPr>
            <a:xfrm>
              <a:off x="2693990" y="2325568"/>
              <a:ext cx="725509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12CE746-83DB-E0AB-AB04-813317D10C7B}"/>
                </a:ext>
              </a:extLst>
            </p:cNvPr>
            <p:cNvSpPr txBox="1"/>
            <p:nvPr/>
          </p:nvSpPr>
          <p:spPr>
            <a:xfrm>
              <a:off x="5558814" y="2325568"/>
              <a:ext cx="627937" cy="46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02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C7A5BD-4902-907B-DB77-FAB398E5E7E2}"/>
                </a:ext>
              </a:extLst>
            </p:cNvPr>
            <p:cNvSpPr txBox="1"/>
            <p:nvPr/>
          </p:nvSpPr>
          <p:spPr>
            <a:xfrm>
              <a:off x="3395352" y="3476417"/>
              <a:ext cx="21634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rPr>
                <a:t>Data Pipeline Built</a:t>
              </a:r>
              <a:endParaRPr lang="en-US" sz="1600" dirty="0">
                <a:latin typeface="Eras Bold ITC" panose="020B0907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4CFE28-82EA-00E6-AD35-7F33CF21B59C}"/>
                </a:ext>
              </a:extLst>
            </p:cNvPr>
            <p:cNvSpPr txBox="1"/>
            <p:nvPr/>
          </p:nvSpPr>
          <p:spPr>
            <a:xfrm>
              <a:off x="3395353" y="3895123"/>
              <a:ext cx="216346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latin typeface="+mj-lt"/>
                  <a:ea typeface="Calibri" pitchFamily="34" charset="-122"/>
                  <a:cs typeface="Calibri" pitchFamily="34" charset="-120"/>
                </a:rPr>
                <a:t>End-to-end pipeline from CSV import → data cleaning → transformation → analytical queries fully implemented in MySQL</a:t>
              </a:r>
              <a:endParaRPr lang="en-US" sz="1200" b="1" dirty="0">
                <a:latin typeface="+mj-lt"/>
              </a:endParaRPr>
            </a:p>
          </p:txBody>
        </p:sp>
        <p:pic>
          <p:nvPicPr>
            <p:cNvPr id="39" name="Graphic 38" descr="Network with solid fill">
              <a:extLst>
                <a:ext uri="{FF2B5EF4-FFF2-40B4-BE49-F238E27FC236}">
                  <a16:creationId xmlns:a16="http://schemas.microsoft.com/office/drawing/2014/main" id="{C5AC39CD-5506-CA81-2616-D9D9B03495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64299" y="2676229"/>
              <a:ext cx="812851" cy="812851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1C072D1-FAC6-5151-76E3-DC973BE7F928}"/>
              </a:ext>
            </a:extLst>
          </p:cNvPr>
          <p:cNvSpPr txBox="1"/>
          <p:nvPr/>
        </p:nvSpPr>
        <p:spPr>
          <a:xfrm>
            <a:off x="4444403" y="334314"/>
            <a:ext cx="3750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gradFill flip="none" rotWithShape="1">
                  <a:gsLst>
                    <a:gs pos="0">
                      <a:schemeClr val="accent4">
                        <a:lumMod val="67000"/>
                      </a:schemeClr>
                    </a:gs>
                    <a:gs pos="48000">
                      <a:schemeClr val="accent4">
                        <a:lumMod val="97000"/>
                        <a:lumOff val="3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CONCLUSION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A1213-AA80-001E-D7C2-36C28E44C24C}"/>
              </a:ext>
            </a:extLst>
          </p:cNvPr>
          <p:cNvGrpSpPr/>
          <p:nvPr/>
        </p:nvGrpSpPr>
        <p:grpSpPr>
          <a:xfrm>
            <a:off x="488212" y="1256245"/>
            <a:ext cx="2736622" cy="5087957"/>
            <a:chOff x="488212" y="1256245"/>
            <a:chExt cx="2736622" cy="508795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05A8805-68EA-26A7-DAC3-B75C4B140D69}"/>
                </a:ext>
              </a:extLst>
            </p:cNvPr>
            <p:cNvGrpSpPr/>
            <p:nvPr/>
          </p:nvGrpSpPr>
          <p:grpSpPr>
            <a:xfrm>
              <a:off x="1137849" y="1256245"/>
              <a:ext cx="2086985" cy="5087957"/>
              <a:chOff x="318342" y="892705"/>
              <a:chExt cx="2835876" cy="507259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A4B9925-67CF-4836-9367-EF5FEF5F9B2C}"/>
                  </a:ext>
                </a:extLst>
              </p:cNvPr>
              <p:cNvSpPr/>
              <p:nvPr/>
            </p:nvSpPr>
            <p:spPr>
              <a:xfrm>
                <a:off x="1266572" y="1477078"/>
                <a:ext cx="1591674" cy="3614671"/>
              </a:xfrm>
              <a:prstGeom prst="rect">
                <a:avLst/>
              </a:prstGeom>
              <a:ln>
                <a:noFill/>
              </a:ln>
              <a:effectLst>
                <a:outerShdw blurRad="317500" dist="127000" algn="l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5C237FB-182F-1498-8B11-7474FE078EF5}"/>
                  </a:ext>
                </a:extLst>
              </p:cNvPr>
              <p:cNvSpPr/>
              <p:nvPr/>
            </p:nvSpPr>
            <p:spPr>
              <a:xfrm>
                <a:off x="318342" y="892705"/>
                <a:ext cx="2539904" cy="5072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2F45FFD3-0C33-687F-803E-058DCA67FC50}"/>
                  </a:ext>
                </a:extLst>
              </p:cNvPr>
              <p:cNvSpPr/>
              <p:nvPr/>
            </p:nvSpPr>
            <p:spPr>
              <a:xfrm rot="5400000">
                <a:off x="2283295" y="2052029"/>
                <a:ext cx="1445872" cy="295972"/>
              </a:xfrm>
              <a:prstGeom prst="trapezoid">
                <a:avLst>
                  <a:gd name="adj" fmla="val 57593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BE7C9460-74C7-2EF8-D94E-4B0CA756E72D}"/>
                  </a:ext>
                </a:extLst>
              </p:cNvPr>
              <p:cNvSpPr/>
              <p:nvPr/>
            </p:nvSpPr>
            <p:spPr>
              <a:xfrm rot="16200000">
                <a:off x="2060147" y="1542018"/>
                <a:ext cx="872154" cy="1315988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  <a:effectLst>
                <a:innerShdw blurRad="241300" dist="50800" dir="16200000">
                  <a:prstClr val="black">
                    <a:alpha val="33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5F0E8B-C2C5-B578-8371-9D96063E6DEB}"/>
                </a:ext>
              </a:extLst>
            </p:cNvPr>
            <p:cNvSpPr txBox="1"/>
            <p:nvPr/>
          </p:nvSpPr>
          <p:spPr>
            <a:xfrm>
              <a:off x="488212" y="3476417"/>
              <a:ext cx="24598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>
                <a:buNone/>
                <a:defRPr sz="1600" b="1">
                  <a:solidFill>
                    <a:srgbClr val="F5A623"/>
                  </a:solidFill>
                  <a:latin typeface="Eras Bold ITC" panose="020B0907030504020204" pitchFamily="34" charset="0"/>
                  <a:ea typeface="Trebuchet MS" pitchFamily="34" charset="-122"/>
                  <a:cs typeface="Trebuchet MS" pitchFamily="34" charset="-120"/>
                </a:defRPr>
              </a:lvl1pPr>
            </a:lstStyle>
            <a:p>
              <a:r>
                <a:rPr lang="en-US" dirty="0">
                  <a:solidFill>
                    <a:srgbClr val="FF0000"/>
                  </a:solidFill>
                </a:rPr>
                <a:t>HR Insights Delivered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DB8AA8-C91F-0B91-F405-7E515B9102CA}"/>
                </a:ext>
              </a:extLst>
            </p:cNvPr>
            <p:cNvSpPr txBox="1"/>
            <p:nvPr/>
          </p:nvSpPr>
          <p:spPr>
            <a:xfrm>
              <a:off x="488212" y="3895123"/>
              <a:ext cx="230414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indent="0" algn="just">
                <a:buNone/>
                <a:defRPr sz="1200" b="1">
                  <a:latin typeface="+mj-lt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Identified top-paid departments, ranked employees by salary, traced payroll trends, and surfaced Finance as highest-bonus department</a:t>
              </a:r>
            </a:p>
          </p:txBody>
        </p:sp>
        <p:pic>
          <p:nvPicPr>
            <p:cNvPr id="19" name="Graphic 18" descr="Lightbulb and gear with solid fill">
              <a:extLst>
                <a:ext uri="{FF2B5EF4-FFF2-40B4-BE49-F238E27FC236}">
                  <a16:creationId xmlns:a16="http://schemas.microsoft.com/office/drawing/2014/main" id="{4BD7765E-04A6-2322-0A01-574CC334E3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0920" y="260022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619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7500" fill="hold" nodeType="after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1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2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47500" fill="hold" nodeType="withEffect" p14:presetBounceEnd="275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7500">
                                          <p:cBhvr additive="base">
                                            <p:cTn id="1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7500">
                                          <p:cBhvr additive="base">
                                            <p:cTn id="2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47500" fill="hold" grpId="0" nodeType="withEffect" p14:presetBounceEnd="3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5000">
                                          <p:cBhvr additive="base">
                                            <p:cTn id="23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5000">
                                          <p:cBhvr additive="base">
                                            <p:cTn id="24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75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475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475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/>
        </p:bldLst>
      </p:timing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55B2-D147-D56D-E6D3-3183CE0E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751466-4C5D-2F45-7642-A89BE51A16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CE241D-BF0C-7C22-2E0C-B5AF2EB0111D}"/>
              </a:ext>
            </a:extLst>
          </p:cNvPr>
          <p:cNvSpPr/>
          <p:nvPr/>
        </p:nvSpPr>
        <p:spPr>
          <a:xfrm>
            <a:off x="6026071" y="2955547"/>
            <a:ext cx="3061694" cy="2086956"/>
          </a:xfrm>
          <a:custGeom>
            <a:avLst/>
            <a:gdLst>
              <a:gd name="csX0" fmla="*/ 0 w 2735961"/>
              <a:gd name="csY0" fmla="*/ 0 h 2086956"/>
              <a:gd name="csX1" fmla="*/ 2735961 w 2735961"/>
              <a:gd name="csY1" fmla="*/ 0 h 2086956"/>
              <a:gd name="csX2" fmla="*/ 2735961 w 2735961"/>
              <a:gd name="csY2" fmla="*/ 56613 h 2086956"/>
              <a:gd name="csX3" fmla="*/ 2187756 w 2735961"/>
              <a:gd name="csY3" fmla="*/ 1428108 h 2086956"/>
              <a:gd name="csX4" fmla="*/ 1502534 w 2735961"/>
              <a:gd name="csY4" fmla="*/ 1428108 h 2086956"/>
              <a:gd name="csX5" fmla="*/ 1862166 w 2735961"/>
              <a:gd name="csY5" fmla="*/ 2086956 h 2086956"/>
              <a:gd name="csX6" fmla="*/ 536437 w 2735961"/>
              <a:gd name="csY6" fmla="*/ 1428108 h 2086956"/>
              <a:gd name="csX7" fmla="*/ 0 w 2735961"/>
              <a:gd name="csY7" fmla="*/ 1428108 h 2086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35961" h="2086956">
                <a:moveTo>
                  <a:pt x="0" y="0"/>
                </a:moveTo>
                <a:lnTo>
                  <a:pt x="2735961" y="0"/>
                </a:lnTo>
                <a:lnTo>
                  <a:pt x="2735961" y="56613"/>
                </a:lnTo>
                <a:lnTo>
                  <a:pt x="2187756" y="1428108"/>
                </a:lnTo>
                <a:lnTo>
                  <a:pt x="1502534" y="1428108"/>
                </a:lnTo>
                <a:lnTo>
                  <a:pt x="1862166" y="2086956"/>
                </a:lnTo>
                <a:lnTo>
                  <a:pt x="536437" y="1428108"/>
                </a:lnTo>
                <a:lnTo>
                  <a:pt x="0" y="14281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F6749-75B9-0344-3018-29FBC5DD933D}"/>
              </a:ext>
            </a:extLst>
          </p:cNvPr>
          <p:cNvSpPr txBox="1"/>
          <p:nvPr/>
        </p:nvSpPr>
        <p:spPr>
          <a:xfrm>
            <a:off x="6173725" y="3287626"/>
            <a:ext cx="2275238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YOU!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00DC23-7D34-45DC-95BD-9474CB16B4BB}"/>
              </a:ext>
            </a:extLst>
          </p:cNvPr>
          <p:cNvSpPr/>
          <p:nvPr/>
        </p:nvSpPr>
        <p:spPr>
          <a:xfrm>
            <a:off x="3300432" y="1835666"/>
            <a:ext cx="3968805" cy="2134583"/>
          </a:xfrm>
          <a:custGeom>
            <a:avLst/>
            <a:gdLst>
              <a:gd name="csX0" fmla="*/ 545857 w 3701680"/>
              <a:gd name="csY0" fmla="*/ 0 h 2134583"/>
              <a:gd name="csX1" fmla="*/ 3701680 w 3701680"/>
              <a:gd name="csY1" fmla="*/ 0 h 2134583"/>
              <a:gd name="csX2" fmla="*/ 3701680 w 3701680"/>
              <a:gd name="csY2" fmla="*/ 1438382 h 2134583"/>
              <a:gd name="csX3" fmla="*/ 1904826 w 3701680"/>
              <a:gd name="csY3" fmla="*/ 1438382 h 2134583"/>
              <a:gd name="csX4" fmla="*/ 611368 w 3701680"/>
              <a:gd name="csY4" fmla="*/ 2134583 h 2134583"/>
              <a:gd name="csX5" fmla="*/ 929122 w 3701680"/>
              <a:gd name="csY5" fmla="*/ 1438382 h 2134583"/>
              <a:gd name="csX6" fmla="*/ 0 w 3701680"/>
              <a:gd name="csY6" fmla="*/ 1438382 h 2134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01680" h="2134583">
                <a:moveTo>
                  <a:pt x="545857" y="0"/>
                </a:moveTo>
                <a:lnTo>
                  <a:pt x="3701680" y="0"/>
                </a:lnTo>
                <a:lnTo>
                  <a:pt x="3701680" y="1438382"/>
                </a:lnTo>
                <a:lnTo>
                  <a:pt x="1904826" y="1438382"/>
                </a:lnTo>
                <a:lnTo>
                  <a:pt x="611368" y="2134583"/>
                </a:lnTo>
                <a:lnTo>
                  <a:pt x="929122" y="1438382"/>
                </a:lnTo>
                <a:lnTo>
                  <a:pt x="0" y="1438382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1D179-DA0F-12C2-6420-8A7E91FC3690}"/>
              </a:ext>
            </a:extLst>
          </p:cNvPr>
          <p:cNvSpPr txBox="1"/>
          <p:nvPr/>
        </p:nvSpPr>
        <p:spPr>
          <a:xfrm>
            <a:off x="3643345" y="2116376"/>
            <a:ext cx="3262432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THANK</a:t>
            </a:r>
          </a:p>
        </p:txBody>
      </p:sp>
    </p:spTree>
    <p:extLst>
      <p:ext uri="{BB962C8B-B14F-4D97-AF65-F5344CB8AC3E}">
        <p14:creationId xmlns:p14="http://schemas.microsoft.com/office/powerpoint/2010/main" val="14583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2391</Words>
  <Application>Microsoft Office PowerPoint</Application>
  <PresentationFormat>Widescreen</PresentationFormat>
  <Paragraphs>399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Aparajita</vt:lpstr>
      <vt:lpstr>Arial</vt:lpstr>
      <vt:lpstr>Arial Black</vt:lpstr>
      <vt:lpstr>Arial Unicode MS</vt:lpstr>
      <vt:lpstr>Berlin Sans FB Demi</vt:lpstr>
      <vt:lpstr>Calibri</vt:lpstr>
      <vt:lpstr>Calibri Light</vt:lpstr>
      <vt:lpstr>Copperplate Gothic Bold</vt:lpstr>
      <vt:lpstr>Eras Bold ITC</vt:lpstr>
      <vt:lpstr>Jumble</vt:lpstr>
      <vt:lpstr>Perpetua</vt:lpstr>
      <vt:lpstr>Segoe UI Black</vt:lpstr>
      <vt:lpstr>Segoe UI Semibold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theafrozshams@outlook.com</dc:creator>
  <cp:lastModifiedBy>theafrozshams@outlook.com</cp:lastModifiedBy>
  <cp:revision>10</cp:revision>
  <dcterms:created xsi:type="dcterms:W3CDTF">2026-04-08T08:16:11Z</dcterms:created>
  <dcterms:modified xsi:type="dcterms:W3CDTF">2026-04-13T09:12:28Z</dcterms:modified>
</cp:coreProperties>
</file>